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6.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00" b="0" i="0" u="none" strike="noStrike">
                <a:solidFill>
                  <a:srgbClr val="C8E6FF"/>
                </a:solidFill>
                <a:latin typeface="Arial"/>
              </a:defRPr>
            </a:pPr>
            <a:r>
              <a:rPr sz="900" b="0" i="0" u="none" strike="noStrike">
                <a:solidFill>
                  <a:srgbClr val="C8E6FF"/>
                </a:solidFill>
                <a:latin typeface="Arial"/>
              </a:rPr>
              <a:t>G3 Grade Distribution</a:t>
            </a:r>
          </a:p>
        </c:rich>
      </c:tx>
      <c:layout/>
      <c:overlay val="0"/>
    </c:title>
    <c:autoTitleDeleted val="0"/>
    <c:plotArea>
      <c:layout/>
      <c:barChart>
        <c:barDir val="col"/>
        <c:grouping val="clustered"/>
        <c:varyColors val="0"/>
        <c:ser>
          <c:idx val="0"/>
          <c:order val="0"/>
          <c:tx>
            <c:strRef>
              <c:f>Sheet1!$B$1</c:f>
              <c:strCache>
                <c:ptCount val="1"/>
                <c:pt idx="0">
                  <c:v>Grade Distribution</c:v>
                </c:pt>
              </c:strCache>
            </c:strRef>
          </c:tx>
          <c:spPr>
            <a:solidFill>
              <a:srgbClr val="00C8F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Sheet1!$A$2:$A$7</c:f>
              <c:multiLvlStrCache>
                <c:ptCount val="6"/>
                <c:lvl>
                  <c:pt idx="0">
                    <c:v>0-4</c:v>
                  </c:pt>
                  <c:pt idx="1">
                    <c:v>5-8</c:v>
                  </c:pt>
                  <c:pt idx="2">
                    <c:v>9-11</c:v>
                  </c:pt>
                  <c:pt idx="3">
                    <c:v>12-14</c:v>
                  </c:pt>
                  <c:pt idx="4">
                    <c:v>15-17</c:v>
                  </c:pt>
                  <c:pt idx="5">
                    <c:v>18-20</c:v>
                  </c:pt>
                </c:lvl>
              </c:multiLvlStrCache>
            </c:multiLvlStrRef>
          </c:cat>
          <c:val>
            <c:numRef>
              <c:f>Sheet1!$B$2:$B$7</c:f>
              <c:numCache>
                <c:formatCode>General</c:formatCode>
                <c:ptCount val="6"/>
                <c:pt idx="0">
                  <c:v>18</c:v>
                </c:pt>
                <c:pt idx="1">
                  <c:v>62</c:v>
                </c:pt>
                <c:pt idx="2">
                  <c:v>145</c:v>
                </c:pt>
                <c:pt idx="3">
                  <c:v>178</c:v>
                </c:pt>
                <c:pt idx="4">
                  <c:v>142</c:v>
                </c:pt>
                <c:pt idx="5">
                  <c:v>104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8E6FF"/>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1A287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8E6FF"/>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0D1B5E"/>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00" b="0" i="0" u="none" strike="noStrike">
                <a:solidFill>
                  <a:srgbClr val="C8E6FF"/>
                </a:solidFill>
                <a:latin typeface="Arial"/>
              </a:defRPr>
            </a:pPr>
            <a:r>
              <a:rPr sz="900" b="0" i="0" u="none" strike="noStrike">
                <a:solidFill>
                  <a:srgbClr val="C8E6FF"/>
                </a:solidFill>
                <a:latin typeface="Arial"/>
              </a:rPr>
              <a:t>Avg Final Grade by Study Time</a:t>
            </a:r>
          </a:p>
        </c:rich>
      </c:tx>
      <c:layout/>
      <c:overlay val="0"/>
    </c:title>
    <c:autoTitleDeleted val="0"/>
    <c:plotArea>
      <c:layout/>
      <c:barChart>
        <c:barDir val="col"/>
        <c:grouping val="clustered"/>
        <c:varyColors val="0"/>
        <c:ser>
          <c:idx val="0"/>
          <c:order val="0"/>
          <c:tx>
            <c:strRef>
              <c:f>Sheet1!$B$1</c:f>
              <c:strCache>
                <c:ptCount val="1"/>
                <c:pt idx="0">
                  <c:v>Avg G3 by Study Time</c:v>
                </c:pt>
              </c:strCache>
            </c:strRef>
          </c:tx>
          <c:spPr>
            <a:solidFill>
              <a:srgbClr val="00C8FF"/>
            </a:solidFill>
            <a:effectLst/>
          </c:spPr>
          <c:invertIfNegative val="0"/>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dPt>
            <c:idx val="0"/>
            <c:invertIfNegative val="0"/>
            <c:bubble3D val="0"/>
            <c:spPr>
              <a:solidFill>
                <a:srgbClr val="00C8FF"/>
              </a:solidFill>
              <a:effectLst/>
            </c:spPr>
          </c:dPt>
          <c:dPt>
            <c:idx val="1"/>
            <c:invertIfNegative val="0"/>
            <c:bubble3D val="0"/>
            <c:spPr>
              <a:solidFill>
                <a:srgbClr val="7B2FFF"/>
              </a:solidFill>
              <a:effectLst/>
            </c:spPr>
          </c:dPt>
          <c:dPt>
            <c:idx val="2"/>
            <c:invertIfNegative val="0"/>
            <c:bubble3D val="0"/>
            <c:spPr>
              <a:solidFill>
                <a:srgbClr val="00E676"/>
              </a:solidFill>
              <a:effectLst/>
            </c:spPr>
          </c:dPt>
          <c:dPt>
            <c:idx val="3"/>
            <c:invertIfNegative val="0"/>
            <c:bubble3D val="0"/>
            <c:spPr>
              <a:solidFill>
                <a:srgbClr val="FFD700"/>
              </a:solidFill>
              <a:effectLst/>
            </c:spPr>
          </c:dPt>
          <c:cat>
            <c:multiLvlStrRef>
              <c:f>Sheet1!$A$2:$A$5</c:f>
              <c:multiLvlStrCache>
                <c:ptCount val="4"/>
                <c:lvl>
                  <c:pt idx="0">
                    <c:v>&lt;2hrs</c:v>
                  </c:pt>
                  <c:pt idx="1">
                    <c:v>2-5hrs</c:v>
                  </c:pt>
                  <c:pt idx="2">
                    <c:v>5-10hrs</c:v>
                  </c:pt>
                  <c:pt idx="3">
                    <c:v>&gt;10hrs</c:v>
                  </c:pt>
                </c:lvl>
              </c:multiLvlStrCache>
            </c:multiLvlStrRef>
          </c:cat>
          <c:val>
            <c:numRef>
              <c:f>Sheet1!$B$2:$B$5</c:f>
              <c:numCache>
                <c:formatCode>General</c:formatCode>
                <c:ptCount val="4"/>
                <c:pt idx="0">
                  <c:v>9.2</c:v>
                </c:pt>
                <c:pt idx="1">
                  <c:v>10.8</c:v>
                </c:pt>
                <c:pt idx="2">
                  <c:v>12.1</c:v>
                </c:pt>
                <c:pt idx="3">
                  <c:v>13.6</c:v>
                </c:pt>
              </c:numCache>
            </c:numRef>
          </c:val>
        </c:ser>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8E6FF"/>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1A287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8E6FF"/>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0D1B5E"/>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00" b="0" i="0" u="none" strike="noStrike">
                <a:solidFill>
                  <a:srgbClr val="C8E6FF"/>
                </a:solidFill>
                <a:latin typeface="Arial"/>
              </a:defRPr>
            </a:pPr>
            <a:r>
              <a:rPr sz="900" b="0" i="0" u="none" strike="noStrike">
                <a:solidFill>
                  <a:srgbClr val="C8E6FF"/>
                </a:solidFill>
                <a:latin typeface="Arial"/>
              </a:rPr>
              <a:t>Pass/Fail Distribution (G3)</a:t>
            </a:r>
          </a:p>
        </c:rich>
      </c:tx>
      <c:layout/>
      <c:overlay val="0"/>
    </c:title>
    <c:autoTitleDeleted val="0"/>
    <c:plotArea>
      <c:layout/>
      <c:pieChart>
        <c:varyColors val="1"/>
        <c:ser>
          <c:idx val="0"/>
          <c:order val="0"/>
          <c:tx>
            <c:strRef>
              <c:f>Sheet1!$B$1</c:f>
              <c:strCache>
                <c:ptCount val="1"/>
                <c:pt idx="0">
                  <c:v>Grade Outcome</c:v>
                </c:pt>
              </c:strCache>
            </c:strRef>
          </c:tx>
          <c:spPr>
            <a:solidFill>
              <a:schemeClr val="accent1"/>
            </a:solidFill>
            <a:ln w="9525" cap="flat">
              <a:solidFill>
                <a:srgbClr val="F9F9F9"/>
              </a:solidFill>
              <a:prstDash val="solid"/>
              <a:round/>
            </a:ln>
            <a:effectLst/>
          </c:spPr>
          <c:dPt>
            <c:idx val="0"/>
            <c:bubble3D val="0"/>
            <c:spPr>
              <a:solidFill>
                <a:srgbClr val="00C8FF"/>
              </a:solidFill>
              <a:effectLst/>
            </c:spPr>
          </c:dPt>
          <c:dPt>
            <c:idx val="1"/>
            <c:bubble3D val="0"/>
            <c:spPr>
              <a:solidFill>
                <a:srgbClr val="7B2FFF"/>
              </a:solidFill>
              <a:effectLst/>
            </c:spPr>
          </c:dPt>
          <c:dLbls>
            <c:dLbl>
              <c:idx val="0"/>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dLbl>
              <c:idx val="1"/>
              <c:numFmt formatCode="0%" sourceLinked="0"/>
              <c:spPr/>
              <c:txPr>
                <a:bodyPr/>
                <a:lstStyle/>
                <a:p>
                  <a:pPr>
                    <a:defRPr sz="1200" b="0" i="0" u="none" strike="noStrike">
                      <a:solidFill>
                        <a:srgbClr val="000000"/>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Sheet1!$A$2:$A$3</c:f>
              <c:strCache>
                <c:ptCount val="2"/>
                <c:pt idx="0">
                  <c:v>Pass (≥10)</c:v>
                </c:pt>
                <c:pt idx="1">
                  <c:v>Fail (&lt;10)</c:v>
                </c:pt>
              </c:strCache>
            </c:strRef>
          </c:cat>
          <c:val>
            <c:numRef>
              <c:f>Sheet1!$B$2:$B$3</c:f>
              <c:numCache>
                <c:ptCount val="2"/>
                <c:pt idx="0">
                  <c:v>66</c:v>
                </c:pt>
                <c:pt idx="1">
                  <c:v>34</c:v>
                </c:pt>
              </c:numCache>
            </c:numRef>
          </c:val>
        </c:ser>
        <c:firstSliceAng val="0"/>
      </c:pieChart>
      <c:spPr>
        <a:noFill/>
        <a:ln>
          <a:noFill/>
        </a:ln>
        <a:effectLst/>
      </c:spPr>
    </c:plotArea>
    <c:legend>
      <c:legendPos val="b"/>
      <c:overlay val="0"/>
      <c:txPr>
        <a:bodyPr/>
        <a:lstStyle/>
        <a:p>
          <a:pPr>
            <a:defRPr>
              <a:solidFill>
                <a:srgbClr val="C8E6FF"/>
              </a:solidFill>
            </a:defRPr>
          </a:pPr>
          <a:endParaRPr lang="en-US"/>
        </a:p>
      </c:txPr>
    </c:legend>
    <c:plotVisOnly val="1"/>
    <c:dispBlanksAs val="span"/>
  </c:chart>
  <c:spPr>
    <a:solidFill>
      <a:srgbClr val="0D1B5E"/>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00" b="0" i="0" u="none" strike="noStrike">
                <a:solidFill>
                  <a:srgbClr val="C8E6FF"/>
                </a:solidFill>
                <a:latin typeface="Arial"/>
              </a:defRPr>
            </a:pPr>
            <a:r>
              <a:rPr sz="900" b="0" i="0" u="none" strike="noStrike">
                <a:solidFill>
                  <a:srgbClr val="C8E6FF"/>
                </a:solidFill>
                <a:latin typeface="Arial"/>
              </a:rPr>
              <a:t>Grade Progression G1 → G2 → G3</a:t>
            </a:r>
          </a:p>
        </c:rich>
      </c:tx>
      <c:layout/>
      <c:overlay val="0"/>
    </c:title>
    <c:autoTitleDeleted val="0"/>
    <c:plotArea>
      <c:layout/>
      <c:lineChart>
        <c:varyColors val="0"/>
        <c:ser>
          <c:idx val="0"/>
          <c:order val="0"/>
          <c:tx>
            <c:strRef>
              <c:f>Sheet1!$B$1</c:f>
              <c:strCache>
                <c:ptCount val="1"/>
                <c:pt idx="0">
                  <c:v>Avg Grade</c:v>
                </c:pt>
              </c:strCache>
            </c:strRef>
          </c:tx>
          <c:spPr>
            <a:solidFill>
              <a:srgbClr val="FFD700"/>
            </a:solidFill>
            <a:ln w="38100" cap="flat">
              <a:solidFill>
                <a:srgbClr val="FFD700"/>
              </a:solidFill>
              <a:prstDash val="solid"/>
              <a:round/>
            </a:ln>
            <a:effectLst/>
          </c:spPr>
          <c:invertIfNegative val="0"/>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marker>
            <c:symbol val="circle"/>
            <c:size val="6"/>
            <c:spPr>
              <a:solidFill>
                <a:srgbClr val="FFD700"/>
              </a:solidFill>
              <a:ln w="9525" cap="flat">
                <a:solidFill>
                  <a:srgbClr val="FFD700"/>
                </a:solidFill>
                <a:prstDash val="solid"/>
                <a:round/>
              </a:ln>
              <a:effectLst/>
            </c:spPr>
          </c:marker>
          <c:cat>
            <c:multiLvlStrRef>
              <c:f>Sheet1!$A$2:$A$4</c:f>
              <c:multiLvlStrCache>
                <c:ptCount val="3"/>
                <c:lvl>
                  <c:pt idx="0">
                    <c:v>G1 (Period 1)</c:v>
                  </c:pt>
                  <c:pt idx="1">
                    <c:v>G2 (Period 2)</c:v>
                  </c:pt>
                  <c:pt idx="2">
                    <c:v>G3 (Final)</c:v>
                  </c:pt>
                </c:lvl>
              </c:multiLvlStrCache>
            </c:multiLvlStrRef>
          </c:cat>
          <c:val>
            <c:numRef>
              <c:f>Sheet1!$B$2:$B$4</c:f>
              <c:numCache>
                <c:formatCode>General</c:formatCode>
                <c:ptCount val="3"/>
                <c:pt idx="0">
                  <c:v>10.9</c:v>
                </c:pt>
                <c:pt idx="1">
                  <c:v>10.7</c:v>
                </c:pt>
                <c:pt idx="2">
                  <c:v>10.4</c:v>
                </c:pt>
              </c:numCache>
            </c:numRef>
          </c:val>
          <c:smooth val="1"/>
        </c:ser>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8E6FF"/>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1A287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8E6FF"/>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0D1B5E"/>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00" b="0" i="0" u="none" strike="noStrike">
                <a:solidFill>
                  <a:srgbClr val="C8E6FF"/>
                </a:solidFill>
                <a:latin typeface="Arial"/>
              </a:defRPr>
            </a:pPr>
            <a:r>
              <a:rPr sz="900" b="0" i="0" u="none" strike="noStrike">
                <a:solidFill>
                  <a:srgbClr val="C8E6FF"/>
                </a:solidFill>
                <a:latin typeface="Arial"/>
              </a:rPr>
              <a:t>Absences vs Final Grade</a:t>
            </a:r>
          </a:p>
        </c:rich>
      </c:tx>
      <c:layout/>
      <c:overlay val="0"/>
    </c:title>
    <c:autoTitleDeleted val="0"/>
    <c:plotArea>
      <c:layout/>
      <c:barChart>
        <c:barDir val="col"/>
        <c:grouping val="clustered"/>
        <c:varyColors val="0"/>
        <c:ser>
          <c:idx val="0"/>
          <c:order val="0"/>
          <c:tx>
            <c:strRef>
              <c:f>Sheet1!$B$1</c:f>
              <c:strCache>
                <c:ptCount val="1"/>
                <c:pt idx="0">
                  <c:v>Avg G3</c:v>
                </c:pt>
              </c:strCache>
            </c:strRef>
          </c:tx>
          <c:spPr>
            <a:solidFill>
              <a:srgbClr val="00E676"/>
            </a:solidFill>
            <a:effectLst/>
          </c:spPr>
          <c:invertIfNegative val="0"/>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cat>
            <c:multiLvlStrRef>
              <c:f>Sheet1!$A$2:$A$5</c:f>
              <c:multiLvlStrCache>
                <c:ptCount val="4"/>
                <c:lvl>
                  <c:pt idx="0">
                    <c:v>0 abs</c:v>
                  </c:pt>
                  <c:pt idx="1">
                    <c:v>1-5 abs</c:v>
                  </c:pt>
                  <c:pt idx="2">
                    <c:v>6-10 abs</c:v>
                  </c:pt>
                  <c:pt idx="3">
                    <c:v>11+ abs</c:v>
                  </c:pt>
                </c:lvl>
              </c:multiLvlStrCache>
            </c:multiLvlStrRef>
          </c:cat>
          <c:val>
            <c:numRef>
              <c:f>Sheet1!$B$2:$B$5</c:f>
              <c:numCache>
                <c:formatCode>General</c:formatCode>
                <c:ptCount val="4"/>
                <c:pt idx="0">
                  <c:v>11.8</c:v>
                </c:pt>
                <c:pt idx="1">
                  <c:v>10.9</c:v>
                </c:pt>
                <c:pt idx="2">
                  <c:v>10.1</c:v>
                </c:pt>
                <c:pt idx="3">
                  <c:v>8.7</c:v>
                </c:pt>
              </c:numCache>
            </c:numRef>
          </c:val>
        </c:ser>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8E6FF"/>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1A287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8E6FF"/>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0D1B5E"/>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900" b="0" i="0" u="none" strike="noStrike">
                <a:solidFill>
                  <a:srgbClr val="C8E6FF"/>
                </a:solidFill>
                <a:latin typeface="Arial"/>
              </a:defRPr>
            </a:pPr>
            <a:r>
              <a:rPr sz="900" b="0" i="0" u="none" strike="noStrike">
                <a:solidFill>
                  <a:srgbClr val="C8E6FF"/>
                </a:solidFill>
                <a:latin typeface="Arial"/>
              </a:rPr>
              <a:t>Model Comparison (Accuracy %)</a:t>
            </a:r>
          </a:p>
        </c:rich>
      </c:tx>
      <c:layout/>
      <c:overlay val="0"/>
    </c:title>
    <c:autoTitleDeleted val="0"/>
    <c:plotArea>
      <c:layout/>
      <c:barChart>
        <c:barDir val="col"/>
        <c:grouping val="clustered"/>
        <c:varyColors val="0"/>
        <c:ser>
          <c:idx val="0"/>
          <c:order val="0"/>
          <c:tx>
            <c:strRef>
              <c:f>Sheet1!$B$1</c:f>
              <c:strCache>
                <c:ptCount val="1"/>
                <c:pt idx="0">
                  <c:v>Score</c:v>
                </c:pt>
              </c:strCache>
            </c:strRef>
          </c:tx>
          <c:spPr>
            <a:solidFill>
              <a:srgbClr val="00C8FF"/>
            </a:solidFill>
            <a:effectLst/>
          </c:spPr>
          <c:invertIfNegative val="0"/>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dPt>
            <c:idx val="0"/>
            <c:invertIfNegative val="0"/>
            <c:bubble3D val="0"/>
            <c:spPr>
              <a:solidFill>
                <a:srgbClr val="00C8FF"/>
              </a:solidFill>
              <a:effectLst/>
            </c:spPr>
          </c:dPt>
          <c:dPt>
            <c:idx val="1"/>
            <c:invertIfNegative val="0"/>
            <c:bubble3D val="0"/>
            <c:spPr>
              <a:solidFill>
                <a:srgbClr val="7B2FFF"/>
              </a:solidFill>
              <a:effectLst/>
            </c:spPr>
          </c:dPt>
          <c:dPt>
            <c:idx val="2"/>
            <c:invertIfNegative val="0"/>
            <c:bubble3D val="0"/>
            <c:spPr>
              <a:solidFill>
                <a:srgbClr val="00E676"/>
              </a:solidFill>
              <a:effectLst/>
            </c:spPr>
          </c:dPt>
          <c:dPt>
            <c:idx val="3"/>
            <c:invertIfNegative val="0"/>
            <c:bubble3D val="0"/>
            <c:spPr>
              <a:solidFill>
                <a:srgbClr val="FFD700"/>
              </a:solidFill>
              <a:effectLst/>
            </c:spPr>
          </c:dPt>
          <c:dPt>
            <c:idx val="4"/>
            <c:invertIfNegative val="0"/>
            <c:bubble3D val="0"/>
            <c:spPr>
              <a:solidFill>
                <a:srgbClr val="00C8FF"/>
              </a:solidFill>
              <a:effectLst/>
            </c:spPr>
          </c:dPt>
          <c:cat>
            <c:multiLvlStrRef>
              <c:f>Sheet1!$A$2:$A$6</c:f>
              <c:multiLvlStrCache>
                <c:ptCount val="5"/>
                <c:lvl>
                  <c:pt idx="0">
                    <c:v>Logistic
Reg</c:v>
                  </c:pt>
                  <c:pt idx="1">
                    <c:v>Decision
Tree</c:v>
                  </c:pt>
                  <c:pt idx="2">
                    <c:v>KNN</c:v>
                  </c:pt>
                  <c:pt idx="3">
                    <c:v>SVM</c:v>
                  </c:pt>
                  <c:pt idx="4">
                    <c:v>Random
Forest</c:v>
                  </c:pt>
                </c:lvl>
              </c:multiLvlStrCache>
            </c:multiLvlStrRef>
          </c:cat>
          <c:val>
            <c:numRef>
              <c:f>Sheet1!$B$2:$B$6</c:f>
              <c:numCache>
                <c:formatCode>General</c:formatCode>
                <c:ptCount val="5"/>
                <c:pt idx="0">
                  <c:v>82.1</c:v>
                </c:pt>
                <c:pt idx="1">
                  <c:v>85.4</c:v>
                </c:pt>
                <c:pt idx="2">
                  <c:v>87.2</c:v>
                </c:pt>
                <c:pt idx="3">
                  <c:v>89</c:v>
                </c:pt>
                <c:pt idx="4">
                  <c:v>91.8</c:v>
                </c:pt>
              </c:numCache>
            </c:numRef>
          </c:val>
        </c:ser>
        <c:dLbls>
          <c:numFmt formatCode="#,##0" sourceLinked="0"/>
          <c:txPr>
            <a:bodyPr/>
            <a:lstStyle/>
            <a:p>
              <a:pPr>
                <a:defRPr b="0" i="0" strike="noStrike" sz="1200" u="none">
                  <a:solidFill>
                    <a:srgbClr val="FFFFFF"/>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C8E6FF"/>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1A287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C8E6FF"/>
                </a:solidFill>
                <a:latin typeface="Arial"/>
              </a:defRPr>
            </a:pPr>
            <a:endParaRPr lang="en-US"/>
          </a:p>
        </c:txPr>
        <c:crossAx val="2094734554"/>
        <c:crosses val="autoZero"/>
        <c:crossBetween val="between"/>
      </c:valAx>
      <c:spPr>
        <a:noFill/>
        <a:ln>
          <a:noFill/>
        </a:ln>
        <a:effectLst/>
      </c:spPr>
    </c:plotArea>
    <c:plotVisOnly val="1"/>
    <c:dispBlanksAs val="span"/>
  </c:chart>
  <c:spPr>
    <a:solidFill>
      <a:srgbClr val="0D1B5E"/>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chart" Target="/ppt/charts/chart4.xml"/><Relationship Id="rId4" Type="http://schemas.openxmlformats.org/officeDocument/2006/relationships/chart" Target="/ppt/charts/chart5.xml"/><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0A30"/>
        </a:solidFill>
      </p:bgPr>
    </p:bg>
    <p:spTree>
      <p:nvGrpSpPr>
        <p:cNvPr id="1" name=""/>
        <p:cNvGrpSpPr/>
        <p:nvPr/>
      </p:nvGrpSpPr>
      <p:grpSpPr>
        <a:xfrm>
          <a:off x="0" y="0"/>
          <a:ext cx="0" cy="0"/>
          <a:chOff x="0" y="0"/>
          <a:chExt cx="0" cy="0"/>
        </a:xfrm>
      </p:grpSpPr>
      <p:sp>
        <p:nvSpPr>
          <p:cNvPr id="2" name="Shape 0"/>
          <p:cNvSpPr/>
          <p:nvPr/>
        </p:nvSpPr>
        <p:spPr>
          <a:xfrm>
            <a:off x="-914400" y="-731520"/>
            <a:ext cx="4572000" cy="4572000"/>
          </a:xfrm>
          <a:prstGeom prst="ellipse">
            <a:avLst/>
          </a:prstGeom>
          <a:solidFill>
            <a:srgbClr val="7B2FFF">
              <a:alpha val="18000"/>
            </a:srgbClr>
          </a:solidFill>
          <a:ln w="12700">
            <a:solidFill>
              <a:srgbClr val="7B2FFF">
                <a:alpha val="18000"/>
              </a:srgbClr>
            </a:solidFill>
            <a:prstDash val="solid"/>
          </a:ln>
        </p:spPr>
      </p:sp>
      <p:sp>
        <p:nvSpPr>
          <p:cNvPr id="3" name="Shape 1"/>
          <p:cNvSpPr/>
          <p:nvPr/>
        </p:nvSpPr>
        <p:spPr>
          <a:xfrm>
            <a:off x="5943600" y="2286000"/>
            <a:ext cx="4572000" cy="3657600"/>
          </a:xfrm>
          <a:prstGeom prst="ellipse">
            <a:avLst/>
          </a:prstGeom>
          <a:solidFill>
            <a:srgbClr val="00C8FF">
              <a:alpha val="12000"/>
            </a:srgbClr>
          </a:solidFill>
          <a:ln w="12700">
            <a:solidFill>
              <a:srgbClr val="00C8FF">
                <a:alpha val="12000"/>
              </a:srgbClr>
            </a:solidFill>
            <a:prstDash val="solid"/>
          </a:ln>
        </p:spPr>
      </p:sp>
      <p:sp>
        <p:nvSpPr>
          <p:cNvPr id="4" name="Shape 2"/>
          <p:cNvSpPr/>
          <p:nvPr/>
        </p:nvSpPr>
        <p:spPr>
          <a:xfrm>
            <a:off x="7315200" y="-914400"/>
            <a:ext cx="3657600" cy="3657600"/>
          </a:xfrm>
          <a:prstGeom prst="ellipse">
            <a:avLst/>
          </a:prstGeom>
          <a:solidFill>
            <a:srgbClr val="00C8FF">
              <a:alpha val="15000"/>
            </a:srgbClr>
          </a:solidFill>
          <a:ln w="12700">
            <a:solidFill>
              <a:srgbClr val="00C8FF">
                <a:alpha val="15000"/>
              </a:srgbClr>
            </a:solidFill>
            <a:prstDash val="solid"/>
          </a:ln>
        </p:spPr>
      </p:sp>
      <p:sp>
        <p:nvSpPr>
          <p:cNvPr id="5" name="Shape 3"/>
          <p:cNvSpPr/>
          <p:nvPr/>
        </p:nvSpPr>
        <p:spPr>
          <a:xfrm>
            <a:off x="365760" y="228600"/>
            <a:ext cx="2560320" cy="320040"/>
          </a:xfrm>
          <a:prstGeom prst="roundRect">
            <a:avLst>
              <a:gd name="adj" fmla="val 14286"/>
            </a:avLst>
          </a:prstGeom>
          <a:solidFill>
            <a:srgbClr val="7B2FFF">
              <a:alpha val="80000"/>
            </a:srgbClr>
          </a:solidFill>
          <a:ln w="12700">
            <a:solidFill>
              <a:srgbClr val="7B2FFF"/>
            </a:solidFill>
            <a:prstDash val="solid"/>
          </a:ln>
        </p:spPr>
      </p:sp>
      <p:sp>
        <p:nvSpPr>
          <p:cNvPr id="6" name="Text 4"/>
          <p:cNvSpPr/>
          <p:nvPr/>
        </p:nvSpPr>
        <p:spPr>
          <a:xfrm>
            <a:off x="365760" y="228600"/>
            <a:ext cx="2560320" cy="320040"/>
          </a:xfrm>
          <a:prstGeom prst="rect">
            <a:avLst/>
          </a:prstGeom>
          <a:noFill/>
          <a:ln/>
        </p:spPr>
        <p:txBody>
          <a:bodyPr wrap="square" lIns="0" tIns="0" rIns="0" bIns="0" rtlCol="0" anchor="ctr"/>
          <a:lstStyle/>
          <a:p>
            <a:pPr algn="ctr" indent="0" marL="0">
              <a:buNone/>
            </a:pPr>
            <a:r>
              <a:rPr lang="en-US" sz="750" b="1" dirty="0">
                <a:solidFill>
                  <a:srgbClr val="FFFFFF"/>
                </a:solidFill>
              </a:rPr>
              <a:t>GUIDE FOR DATA SCIENCE PROJECT</a:t>
            </a:r>
            <a:endParaRPr lang="en-US" sz="750" dirty="0"/>
          </a:p>
        </p:txBody>
      </p:sp>
      <p:sp>
        <p:nvSpPr>
          <p:cNvPr id="7" name="Text 5"/>
          <p:cNvSpPr/>
          <p:nvPr/>
        </p:nvSpPr>
        <p:spPr>
          <a:xfrm>
            <a:off x="365760" y="621792"/>
            <a:ext cx="5486400" cy="777240"/>
          </a:xfrm>
          <a:prstGeom prst="rect">
            <a:avLst/>
          </a:prstGeom>
          <a:noFill/>
          <a:ln/>
        </p:spPr>
        <p:txBody>
          <a:bodyPr wrap="square" lIns="0" tIns="0" rIns="0" bIns="0" rtlCol="0" anchor="ctr"/>
          <a:lstStyle/>
          <a:p>
            <a:pPr indent="0" marL="0">
              <a:buNone/>
            </a:pPr>
            <a:r>
              <a:rPr lang="en-US" sz="5800" b="1" dirty="0">
                <a:solidFill>
                  <a:srgbClr val="FFFFFF"/>
                </a:solidFill>
                <a:latin typeface="Arial" pitchFamily="34" charset="0"/>
                <a:ea typeface="Arial" pitchFamily="34" charset="-122"/>
                <a:cs typeface="Arial" pitchFamily="34" charset="-120"/>
              </a:rPr>
              <a:t>STUDENT</a:t>
            </a:r>
            <a:endParaRPr lang="en-US" sz="5800" dirty="0"/>
          </a:p>
        </p:txBody>
      </p:sp>
      <p:sp>
        <p:nvSpPr>
          <p:cNvPr id="8" name="Text 6"/>
          <p:cNvSpPr/>
          <p:nvPr/>
        </p:nvSpPr>
        <p:spPr>
          <a:xfrm>
            <a:off x="365760" y="1280160"/>
            <a:ext cx="6858000" cy="777240"/>
          </a:xfrm>
          <a:prstGeom prst="rect">
            <a:avLst/>
          </a:prstGeom>
          <a:noFill/>
          <a:ln/>
        </p:spPr>
        <p:txBody>
          <a:bodyPr wrap="square" lIns="0" tIns="0" rIns="0" bIns="0" rtlCol="0" anchor="ctr"/>
          <a:lstStyle/>
          <a:p>
            <a:pPr indent="0" marL="0">
              <a:buNone/>
            </a:pPr>
            <a:r>
              <a:rPr lang="en-US" sz="5800" b="1" dirty="0">
                <a:solidFill>
                  <a:srgbClr val="00C8FF"/>
                </a:solidFill>
                <a:latin typeface="Arial" pitchFamily="34" charset="0"/>
                <a:ea typeface="Arial" pitchFamily="34" charset="-122"/>
                <a:cs typeface="Arial" pitchFamily="34" charset="-120"/>
              </a:rPr>
              <a:t>PERFORMANCE</a:t>
            </a:r>
            <a:endParaRPr lang="en-US" sz="5800" dirty="0"/>
          </a:p>
        </p:txBody>
      </p:sp>
      <p:sp>
        <p:nvSpPr>
          <p:cNvPr id="9" name="Text 7"/>
          <p:cNvSpPr/>
          <p:nvPr/>
        </p:nvSpPr>
        <p:spPr>
          <a:xfrm>
            <a:off x="365760" y="1920240"/>
            <a:ext cx="6858000" cy="777240"/>
          </a:xfrm>
          <a:prstGeom prst="rect">
            <a:avLst/>
          </a:prstGeom>
          <a:noFill/>
          <a:ln/>
        </p:spPr>
        <p:txBody>
          <a:bodyPr wrap="square" lIns="0" tIns="0" rIns="0" bIns="0" rtlCol="0" anchor="ctr"/>
          <a:lstStyle/>
          <a:p>
            <a:pPr indent="0" marL="0">
              <a:buNone/>
            </a:pPr>
            <a:r>
              <a:rPr lang="en-US" sz="5800" b="1" dirty="0">
                <a:solidFill>
                  <a:srgbClr val="FFFFFF"/>
                </a:solidFill>
                <a:latin typeface="Arial" pitchFamily="34" charset="0"/>
                <a:ea typeface="Arial" pitchFamily="34" charset="-122"/>
                <a:cs typeface="Arial" pitchFamily="34" charset="-120"/>
              </a:rPr>
              <a:t>PREDICTION</a:t>
            </a:r>
            <a:endParaRPr lang="en-US" sz="5800" dirty="0"/>
          </a:p>
        </p:txBody>
      </p:sp>
      <p:sp>
        <p:nvSpPr>
          <p:cNvPr id="10" name="Text 8"/>
          <p:cNvSpPr/>
          <p:nvPr/>
        </p:nvSpPr>
        <p:spPr>
          <a:xfrm>
            <a:off x="365760" y="2788920"/>
            <a:ext cx="5943600" cy="685800"/>
          </a:xfrm>
          <a:prstGeom prst="rect">
            <a:avLst/>
          </a:prstGeom>
          <a:noFill/>
          <a:ln/>
        </p:spPr>
        <p:txBody>
          <a:bodyPr wrap="square" lIns="0" tIns="0" rIns="0" bIns="0" rtlCol="0" anchor="ctr"/>
          <a:lstStyle/>
          <a:p>
            <a:pPr algn="l" indent="0" marL="0">
              <a:buNone/>
            </a:pPr>
            <a:r>
              <a:rPr lang="en-US" sz="1300" dirty="0">
                <a:solidFill>
                  <a:srgbClr val="C8E6FF"/>
                </a:solidFill>
                <a:latin typeface="Calibri" pitchFamily="34" charset="0"/>
                <a:ea typeface="Calibri" pitchFamily="34" charset="-122"/>
                <a:cs typeface="Calibri" pitchFamily="34" charset="-120"/>
              </a:rPr>
              <a:t>Using Secondary School Data from Portuguese Schools</a:t>
            </a:r>
            <a:endParaRPr lang="en-US" sz="1300" dirty="0"/>
          </a:p>
          <a:p>
            <a:pPr algn="l" indent="0" marL="0">
              <a:buNone/>
            </a:pPr>
            <a:r>
              <a:rPr lang="en-US" sz="1300" dirty="0">
                <a:solidFill>
                  <a:srgbClr val="C8E6FF"/>
                </a:solidFill>
                <a:latin typeface="Calibri" pitchFamily="34" charset="0"/>
                <a:ea typeface="Calibri" pitchFamily="34" charset="-122"/>
                <a:cs typeface="Calibri" pitchFamily="34" charset="-120"/>
              </a:rPr>
              <a:t>and Machine Learning</a:t>
            </a:r>
            <a:endParaRPr lang="en-US" sz="1300" dirty="0"/>
          </a:p>
        </p:txBody>
      </p:sp>
      <p:sp>
        <p:nvSpPr>
          <p:cNvPr id="11" name="Shape 9"/>
          <p:cNvSpPr/>
          <p:nvPr/>
        </p:nvSpPr>
        <p:spPr>
          <a:xfrm>
            <a:off x="365760" y="3657600"/>
            <a:ext cx="1920240" cy="960120"/>
          </a:xfrm>
          <a:prstGeom prst="roundRect">
            <a:avLst>
              <a:gd name="adj" fmla="val 7619"/>
            </a:avLst>
          </a:prstGeom>
          <a:solidFill>
            <a:srgbClr val="0D1B5E"/>
          </a:solidFill>
          <a:ln w="12700">
            <a:solidFill>
              <a:srgbClr val="00C8FF"/>
            </a:solidFill>
            <a:prstDash val="solid"/>
          </a:ln>
          <a:effectLst>
            <a:outerShdw sx="100000" sy="100000" kx="0" ky="0" algn="bl" rotWithShape="0" blurRad="101600" dist="38100" dir="2700000">
              <a:srgbClr val="000000">
                <a:alpha val="35000"/>
              </a:srgbClr>
            </a:outerShdw>
          </a:effectLst>
        </p:spPr>
      </p:sp>
      <p:sp>
        <p:nvSpPr>
          <p:cNvPr id="12" name="Text 10"/>
          <p:cNvSpPr/>
          <p:nvPr/>
        </p:nvSpPr>
        <p:spPr>
          <a:xfrm>
            <a:off x="365760" y="3703320"/>
            <a:ext cx="1920240" cy="475488"/>
          </a:xfrm>
          <a:prstGeom prst="rect">
            <a:avLst/>
          </a:prstGeom>
          <a:noFill/>
          <a:ln/>
        </p:spPr>
        <p:txBody>
          <a:bodyPr wrap="square" lIns="0" tIns="0" rIns="0" bIns="0" rtlCol="0" anchor="ctr"/>
          <a:lstStyle/>
          <a:p>
            <a:pPr algn="ctr" indent="0" marL="0">
              <a:buNone/>
            </a:pPr>
            <a:r>
              <a:rPr lang="en-US" sz="2200" b="1" dirty="0">
                <a:solidFill>
                  <a:srgbClr val="00C8FF"/>
                </a:solidFill>
                <a:latin typeface="Arial" pitchFamily="34" charset="0"/>
                <a:ea typeface="Arial" pitchFamily="34" charset="-122"/>
                <a:cs typeface="Arial" pitchFamily="34" charset="-120"/>
              </a:rPr>
              <a:t>649</a:t>
            </a:r>
            <a:endParaRPr lang="en-US" sz="2200" dirty="0"/>
          </a:p>
        </p:txBody>
      </p:sp>
      <p:sp>
        <p:nvSpPr>
          <p:cNvPr id="13" name="Text 11"/>
          <p:cNvSpPr/>
          <p:nvPr/>
        </p:nvSpPr>
        <p:spPr>
          <a:xfrm>
            <a:off x="365760" y="4160520"/>
            <a:ext cx="1920240" cy="384048"/>
          </a:xfrm>
          <a:prstGeom prst="rect">
            <a:avLst/>
          </a:prstGeom>
          <a:noFill/>
          <a:ln/>
        </p:spPr>
        <p:txBody>
          <a:bodyPr wrap="square" lIns="0" tIns="0" rIns="0" bIns="0" rtlCol="0" anchor="ctr"/>
          <a:lstStyle/>
          <a:p>
            <a:pPr algn="ctr" indent="0" marL="0">
              <a:buNone/>
            </a:pPr>
            <a:r>
              <a:rPr lang="en-US" sz="950" dirty="0">
                <a:solidFill>
                  <a:srgbClr val="C8E6FF"/>
                </a:solidFill>
                <a:latin typeface="Calibri" pitchFamily="34" charset="0"/>
                <a:ea typeface="Calibri" pitchFamily="34" charset="-122"/>
                <a:cs typeface="Calibri" pitchFamily="34" charset="-120"/>
              </a:rPr>
              <a:t>Total Records</a:t>
            </a:r>
            <a:endParaRPr lang="en-US" sz="950" dirty="0"/>
          </a:p>
        </p:txBody>
      </p:sp>
      <p:sp>
        <p:nvSpPr>
          <p:cNvPr id="14" name="Shape 12"/>
          <p:cNvSpPr/>
          <p:nvPr/>
        </p:nvSpPr>
        <p:spPr>
          <a:xfrm>
            <a:off x="2514600" y="3657600"/>
            <a:ext cx="1920240" cy="960120"/>
          </a:xfrm>
          <a:prstGeom prst="roundRect">
            <a:avLst>
              <a:gd name="adj" fmla="val 7619"/>
            </a:avLst>
          </a:prstGeom>
          <a:solidFill>
            <a:srgbClr val="0D1B5E"/>
          </a:solidFill>
          <a:ln w="12700">
            <a:solidFill>
              <a:srgbClr val="00C8FF"/>
            </a:solidFill>
            <a:prstDash val="solid"/>
          </a:ln>
          <a:effectLst>
            <a:outerShdw sx="100000" sy="100000" kx="0" ky="0" algn="bl" rotWithShape="0" blurRad="101600" dist="38100" dir="2700000">
              <a:srgbClr val="000000">
                <a:alpha val="35000"/>
              </a:srgbClr>
            </a:outerShdw>
          </a:effectLst>
        </p:spPr>
      </p:sp>
      <p:sp>
        <p:nvSpPr>
          <p:cNvPr id="15" name="Text 13"/>
          <p:cNvSpPr/>
          <p:nvPr/>
        </p:nvSpPr>
        <p:spPr>
          <a:xfrm>
            <a:off x="2514600" y="3703320"/>
            <a:ext cx="1920240" cy="475488"/>
          </a:xfrm>
          <a:prstGeom prst="rect">
            <a:avLst/>
          </a:prstGeom>
          <a:noFill/>
          <a:ln/>
        </p:spPr>
        <p:txBody>
          <a:bodyPr wrap="square" lIns="0" tIns="0" rIns="0" bIns="0" rtlCol="0" anchor="ctr"/>
          <a:lstStyle/>
          <a:p>
            <a:pPr algn="ctr" indent="0" marL="0">
              <a:buNone/>
            </a:pPr>
            <a:r>
              <a:rPr lang="en-US" sz="2200" b="1" dirty="0">
                <a:solidFill>
                  <a:srgbClr val="00C8FF"/>
                </a:solidFill>
                <a:latin typeface="Arial" pitchFamily="34" charset="0"/>
                <a:ea typeface="Arial" pitchFamily="34" charset="-122"/>
                <a:cs typeface="Arial" pitchFamily="34" charset="-120"/>
              </a:rPr>
              <a:t>30+</a:t>
            </a:r>
            <a:endParaRPr lang="en-US" sz="2200" dirty="0"/>
          </a:p>
        </p:txBody>
      </p:sp>
      <p:sp>
        <p:nvSpPr>
          <p:cNvPr id="16" name="Text 14"/>
          <p:cNvSpPr/>
          <p:nvPr/>
        </p:nvSpPr>
        <p:spPr>
          <a:xfrm>
            <a:off x="2514600" y="4160520"/>
            <a:ext cx="1920240" cy="384048"/>
          </a:xfrm>
          <a:prstGeom prst="rect">
            <a:avLst/>
          </a:prstGeom>
          <a:noFill/>
          <a:ln/>
        </p:spPr>
        <p:txBody>
          <a:bodyPr wrap="square" lIns="0" tIns="0" rIns="0" bIns="0" rtlCol="0" anchor="ctr"/>
          <a:lstStyle/>
          <a:p>
            <a:pPr algn="ctr" indent="0" marL="0">
              <a:buNone/>
            </a:pPr>
            <a:r>
              <a:rPr lang="en-US" sz="950" dirty="0">
                <a:solidFill>
                  <a:srgbClr val="C8E6FF"/>
                </a:solidFill>
                <a:latin typeface="Calibri" pitchFamily="34" charset="0"/>
                <a:ea typeface="Calibri" pitchFamily="34" charset="-122"/>
                <a:cs typeface="Calibri" pitchFamily="34" charset="-120"/>
              </a:rPr>
              <a:t>Features</a:t>
            </a:r>
            <a:endParaRPr lang="en-US" sz="950" dirty="0"/>
          </a:p>
        </p:txBody>
      </p:sp>
      <p:sp>
        <p:nvSpPr>
          <p:cNvPr id="17" name="Shape 15"/>
          <p:cNvSpPr/>
          <p:nvPr/>
        </p:nvSpPr>
        <p:spPr>
          <a:xfrm>
            <a:off x="4663440" y="3657600"/>
            <a:ext cx="1920240" cy="960120"/>
          </a:xfrm>
          <a:prstGeom prst="roundRect">
            <a:avLst>
              <a:gd name="adj" fmla="val 7619"/>
            </a:avLst>
          </a:prstGeom>
          <a:solidFill>
            <a:srgbClr val="0D1B5E"/>
          </a:solidFill>
          <a:ln w="12700">
            <a:solidFill>
              <a:srgbClr val="00C8FF"/>
            </a:solidFill>
            <a:prstDash val="solid"/>
          </a:ln>
          <a:effectLst>
            <a:outerShdw sx="100000" sy="100000" kx="0" ky="0" algn="bl" rotWithShape="0" blurRad="101600" dist="38100" dir="2700000">
              <a:srgbClr val="000000">
                <a:alpha val="35000"/>
              </a:srgbClr>
            </a:outerShdw>
          </a:effectLst>
        </p:spPr>
      </p:sp>
      <p:sp>
        <p:nvSpPr>
          <p:cNvPr id="18" name="Text 16"/>
          <p:cNvSpPr/>
          <p:nvPr/>
        </p:nvSpPr>
        <p:spPr>
          <a:xfrm>
            <a:off x="4663440" y="3703320"/>
            <a:ext cx="1920240" cy="475488"/>
          </a:xfrm>
          <a:prstGeom prst="rect">
            <a:avLst/>
          </a:prstGeom>
          <a:noFill/>
          <a:ln/>
        </p:spPr>
        <p:txBody>
          <a:bodyPr wrap="square" lIns="0" tIns="0" rIns="0" bIns="0" rtlCol="0" anchor="ctr"/>
          <a:lstStyle/>
          <a:p>
            <a:pPr algn="ctr" indent="0" marL="0">
              <a:buNone/>
            </a:pPr>
            <a:r>
              <a:rPr lang="en-US" sz="2200" b="1" dirty="0">
                <a:solidFill>
                  <a:srgbClr val="00C8FF"/>
                </a:solidFill>
                <a:latin typeface="Arial" pitchFamily="34" charset="0"/>
                <a:ea typeface="Arial" pitchFamily="34" charset="-122"/>
                <a:cs typeface="Arial" pitchFamily="34" charset="-120"/>
              </a:rPr>
              <a:t>~92%</a:t>
            </a:r>
            <a:endParaRPr lang="en-US" sz="2200" dirty="0"/>
          </a:p>
        </p:txBody>
      </p:sp>
      <p:sp>
        <p:nvSpPr>
          <p:cNvPr id="19" name="Text 17"/>
          <p:cNvSpPr/>
          <p:nvPr/>
        </p:nvSpPr>
        <p:spPr>
          <a:xfrm>
            <a:off x="4663440" y="4160520"/>
            <a:ext cx="1920240" cy="384048"/>
          </a:xfrm>
          <a:prstGeom prst="rect">
            <a:avLst/>
          </a:prstGeom>
          <a:noFill/>
          <a:ln/>
        </p:spPr>
        <p:txBody>
          <a:bodyPr wrap="square" lIns="0" tIns="0" rIns="0" bIns="0" rtlCol="0" anchor="ctr"/>
          <a:lstStyle/>
          <a:p>
            <a:pPr algn="ctr" indent="0" marL="0">
              <a:buNone/>
            </a:pPr>
            <a:r>
              <a:rPr lang="en-US" sz="950" dirty="0">
                <a:solidFill>
                  <a:srgbClr val="C8E6FF"/>
                </a:solidFill>
                <a:latin typeface="Calibri" pitchFamily="34" charset="0"/>
                <a:ea typeface="Calibri" pitchFamily="34" charset="-122"/>
                <a:cs typeface="Calibri" pitchFamily="34" charset="-120"/>
              </a:rPr>
              <a:t>Best Accuracy</a:t>
            </a:r>
            <a:endParaRPr lang="en-US" sz="950" dirty="0"/>
          </a:p>
        </p:txBody>
      </p:sp>
      <p:sp>
        <p:nvSpPr>
          <p:cNvPr id="20" name="Shape 18"/>
          <p:cNvSpPr/>
          <p:nvPr/>
        </p:nvSpPr>
        <p:spPr>
          <a:xfrm>
            <a:off x="6812280" y="3657600"/>
            <a:ext cx="1920240" cy="960120"/>
          </a:xfrm>
          <a:prstGeom prst="roundRect">
            <a:avLst>
              <a:gd name="adj" fmla="val 7619"/>
            </a:avLst>
          </a:prstGeom>
          <a:solidFill>
            <a:srgbClr val="0D1B5E"/>
          </a:solidFill>
          <a:ln w="12700">
            <a:solidFill>
              <a:srgbClr val="00C8FF"/>
            </a:solidFill>
            <a:prstDash val="solid"/>
          </a:ln>
          <a:effectLst>
            <a:outerShdw sx="100000" sy="100000" kx="0" ky="0" algn="bl" rotWithShape="0" blurRad="101600" dist="38100" dir="2700000">
              <a:srgbClr val="000000">
                <a:alpha val="35000"/>
              </a:srgbClr>
            </a:outerShdw>
          </a:effectLst>
        </p:spPr>
      </p:sp>
      <p:sp>
        <p:nvSpPr>
          <p:cNvPr id="21" name="Text 19"/>
          <p:cNvSpPr/>
          <p:nvPr/>
        </p:nvSpPr>
        <p:spPr>
          <a:xfrm>
            <a:off x="6812280" y="3703320"/>
            <a:ext cx="1920240" cy="475488"/>
          </a:xfrm>
          <a:prstGeom prst="rect">
            <a:avLst/>
          </a:prstGeom>
          <a:noFill/>
          <a:ln/>
        </p:spPr>
        <p:txBody>
          <a:bodyPr wrap="square" lIns="0" tIns="0" rIns="0" bIns="0" rtlCol="0" anchor="ctr"/>
          <a:lstStyle/>
          <a:p>
            <a:pPr algn="ctr" indent="0" marL="0">
              <a:buNone/>
            </a:pPr>
            <a:r>
              <a:rPr lang="en-US" sz="2200" b="1" dirty="0">
                <a:solidFill>
                  <a:srgbClr val="00C8FF"/>
                </a:solidFill>
                <a:latin typeface="Arial" pitchFamily="34" charset="0"/>
                <a:ea typeface="Arial" pitchFamily="34" charset="-122"/>
                <a:cs typeface="Arial" pitchFamily="34" charset="-120"/>
              </a:rPr>
              <a:t>5</a:t>
            </a:r>
            <a:endParaRPr lang="en-US" sz="2200" dirty="0"/>
          </a:p>
        </p:txBody>
      </p:sp>
      <p:sp>
        <p:nvSpPr>
          <p:cNvPr id="22" name="Text 20"/>
          <p:cNvSpPr/>
          <p:nvPr/>
        </p:nvSpPr>
        <p:spPr>
          <a:xfrm>
            <a:off x="6812280" y="4160520"/>
            <a:ext cx="1920240" cy="384048"/>
          </a:xfrm>
          <a:prstGeom prst="rect">
            <a:avLst/>
          </a:prstGeom>
          <a:noFill/>
          <a:ln/>
        </p:spPr>
        <p:txBody>
          <a:bodyPr wrap="square" lIns="0" tIns="0" rIns="0" bIns="0" rtlCol="0" anchor="ctr"/>
          <a:lstStyle/>
          <a:p>
            <a:pPr algn="ctr" indent="0" marL="0">
              <a:buNone/>
            </a:pPr>
            <a:r>
              <a:rPr lang="en-US" sz="950" dirty="0">
                <a:solidFill>
                  <a:srgbClr val="C8E6FF"/>
                </a:solidFill>
                <a:latin typeface="Calibri" pitchFamily="34" charset="0"/>
                <a:ea typeface="Calibri" pitchFamily="34" charset="-122"/>
                <a:cs typeface="Calibri" pitchFamily="34" charset="-120"/>
              </a:rPr>
              <a:t>ML Algorithms</a:t>
            </a:r>
            <a:endParaRPr lang="en-US" sz="950" dirty="0"/>
          </a:p>
        </p:txBody>
      </p:sp>
      <p:sp>
        <p:nvSpPr>
          <p:cNvPr id="23" name="Shape 21"/>
          <p:cNvSpPr/>
          <p:nvPr/>
        </p:nvSpPr>
        <p:spPr>
          <a:xfrm>
            <a:off x="6583680" y="228600"/>
            <a:ext cx="2286000" cy="457200"/>
          </a:xfrm>
          <a:prstGeom prst="roundRect">
            <a:avLst>
              <a:gd name="adj" fmla="val 12000"/>
            </a:avLst>
          </a:prstGeom>
          <a:solidFill>
            <a:srgbClr val="FFFFFF">
              <a:alpha val="90000"/>
            </a:srgbClr>
          </a:solidFill>
          <a:ln w="12700">
            <a:solidFill>
              <a:srgbClr val="00C8FF"/>
            </a:solidFill>
            <a:prstDash val="solid"/>
          </a:ln>
        </p:spPr>
      </p:sp>
      <p:sp>
        <p:nvSpPr>
          <p:cNvPr id="24" name="Text 22"/>
          <p:cNvSpPr/>
          <p:nvPr/>
        </p:nvSpPr>
        <p:spPr>
          <a:xfrm>
            <a:off x="6583680" y="228600"/>
            <a:ext cx="2286000" cy="457200"/>
          </a:xfrm>
          <a:prstGeom prst="rect">
            <a:avLst/>
          </a:prstGeom>
          <a:noFill/>
          <a:ln/>
        </p:spPr>
        <p:txBody>
          <a:bodyPr wrap="square" lIns="0" tIns="0" rIns="0" bIns="0" rtlCol="0" anchor="ctr"/>
          <a:lstStyle/>
          <a:p>
            <a:pPr algn="ctr" indent="0" marL="0">
              <a:buNone/>
            </a:pPr>
            <a:r>
              <a:rPr lang="en-US" sz="1000" b="1" dirty="0">
                <a:solidFill>
                  <a:srgbClr val="050A30"/>
                </a:solidFill>
              </a:rPr>
              <a:t>UCI ML Repository</a:t>
            </a:r>
            <a:endParaRPr lang="en-US" sz="1000" dirty="0"/>
          </a:p>
        </p:txBody>
      </p:sp>
      <p:sp>
        <p:nvSpPr>
          <p:cNvPr id="25" name="Shape 23"/>
          <p:cNvSpPr/>
          <p:nvPr/>
        </p:nvSpPr>
        <p:spPr>
          <a:xfrm>
            <a:off x="6675120" y="1005840"/>
            <a:ext cx="164592" cy="164592"/>
          </a:xfrm>
          <a:prstGeom prst="ellipse">
            <a:avLst/>
          </a:prstGeom>
          <a:solidFill>
            <a:srgbClr val="00C8FF"/>
          </a:solidFill>
          <a:ln w="12700">
            <a:solidFill>
              <a:srgbClr val="00C8FF"/>
            </a:solidFill>
            <a:prstDash val="solid"/>
          </a:ln>
        </p:spPr>
      </p:sp>
      <p:sp>
        <p:nvSpPr>
          <p:cNvPr id="26" name="Text 24"/>
          <p:cNvSpPr/>
          <p:nvPr/>
        </p:nvSpPr>
        <p:spPr>
          <a:xfrm>
            <a:off x="6903720" y="950976"/>
            <a:ext cx="2103120" cy="256032"/>
          </a:xfrm>
          <a:prstGeom prst="rect">
            <a:avLst/>
          </a:prstGeom>
          <a:noFill/>
          <a:ln/>
        </p:spPr>
        <p:txBody>
          <a:bodyPr wrap="square" lIns="0" tIns="0" rIns="0" bIns="0" rtlCol="0" anchor="ctr"/>
          <a:lstStyle/>
          <a:p>
            <a:pPr indent="0" marL="0">
              <a:buNone/>
            </a:pPr>
            <a:r>
              <a:rPr lang="en-US" sz="950" dirty="0">
                <a:solidFill>
                  <a:srgbClr val="C8E6FF"/>
                </a:solidFill>
                <a:latin typeface="Calibri" pitchFamily="34" charset="0"/>
                <a:ea typeface="Calibri" pitchFamily="34" charset="-122"/>
                <a:cs typeface="Calibri" pitchFamily="34" charset="-120"/>
              </a:rPr>
              <a:t>Math &amp; Portuguese Subjects</a:t>
            </a:r>
            <a:endParaRPr lang="en-US" sz="950" dirty="0"/>
          </a:p>
        </p:txBody>
      </p:sp>
      <p:sp>
        <p:nvSpPr>
          <p:cNvPr id="27" name="Shape 25"/>
          <p:cNvSpPr/>
          <p:nvPr/>
        </p:nvSpPr>
        <p:spPr>
          <a:xfrm>
            <a:off x="6675120" y="1517904"/>
            <a:ext cx="164592" cy="164592"/>
          </a:xfrm>
          <a:prstGeom prst="ellipse">
            <a:avLst/>
          </a:prstGeom>
          <a:solidFill>
            <a:srgbClr val="00C8FF"/>
          </a:solidFill>
          <a:ln w="12700">
            <a:solidFill>
              <a:srgbClr val="00C8FF"/>
            </a:solidFill>
            <a:prstDash val="solid"/>
          </a:ln>
        </p:spPr>
      </p:sp>
      <p:sp>
        <p:nvSpPr>
          <p:cNvPr id="28" name="Text 26"/>
          <p:cNvSpPr/>
          <p:nvPr/>
        </p:nvSpPr>
        <p:spPr>
          <a:xfrm>
            <a:off x="6903720" y="1463040"/>
            <a:ext cx="2103120" cy="256032"/>
          </a:xfrm>
          <a:prstGeom prst="rect">
            <a:avLst/>
          </a:prstGeom>
          <a:noFill/>
          <a:ln/>
        </p:spPr>
        <p:txBody>
          <a:bodyPr wrap="square" lIns="0" tIns="0" rIns="0" bIns="0" rtlCol="0" anchor="ctr"/>
          <a:lstStyle/>
          <a:p>
            <a:pPr indent="0" marL="0">
              <a:buNone/>
            </a:pPr>
            <a:r>
              <a:rPr lang="en-US" sz="950" dirty="0">
                <a:solidFill>
                  <a:srgbClr val="C8E6FF"/>
                </a:solidFill>
                <a:latin typeface="Calibri" pitchFamily="34" charset="0"/>
                <a:ea typeface="Calibri" pitchFamily="34" charset="-122"/>
                <a:cs typeface="Calibri" pitchFamily="34" charset="-120"/>
              </a:rPr>
              <a:t>Age: 15–22 years</a:t>
            </a:r>
            <a:endParaRPr lang="en-US" sz="950" dirty="0"/>
          </a:p>
        </p:txBody>
      </p:sp>
      <p:sp>
        <p:nvSpPr>
          <p:cNvPr id="29" name="Shape 27"/>
          <p:cNvSpPr/>
          <p:nvPr/>
        </p:nvSpPr>
        <p:spPr>
          <a:xfrm>
            <a:off x="6675120" y="2029968"/>
            <a:ext cx="164592" cy="164592"/>
          </a:xfrm>
          <a:prstGeom prst="ellipse">
            <a:avLst/>
          </a:prstGeom>
          <a:solidFill>
            <a:srgbClr val="00C8FF"/>
          </a:solidFill>
          <a:ln w="12700">
            <a:solidFill>
              <a:srgbClr val="00C8FF"/>
            </a:solidFill>
            <a:prstDash val="solid"/>
          </a:ln>
        </p:spPr>
      </p:sp>
      <p:sp>
        <p:nvSpPr>
          <p:cNvPr id="30" name="Text 28"/>
          <p:cNvSpPr/>
          <p:nvPr/>
        </p:nvSpPr>
        <p:spPr>
          <a:xfrm>
            <a:off x="6903720" y="1975104"/>
            <a:ext cx="2103120" cy="256032"/>
          </a:xfrm>
          <a:prstGeom prst="rect">
            <a:avLst/>
          </a:prstGeom>
          <a:noFill/>
          <a:ln/>
        </p:spPr>
        <p:txBody>
          <a:bodyPr wrap="square" lIns="0" tIns="0" rIns="0" bIns="0" rtlCol="0" anchor="ctr"/>
          <a:lstStyle/>
          <a:p>
            <a:pPr indent="0" marL="0">
              <a:buNone/>
            </a:pPr>
            <a:r>
              <a:rPr lang="en-US" sz="950" dirty="0">
                <a:solidFill>
                  <a:srgbClr val="C8E6FF"/>
                </a:solidFill>
                <a:latin typeface="Calibri" pitchFamily="34" charset="0"/>
                <a:ea typeface="Calibri" pitchFamily="34" charset="-122"/>
                <a:cs typeface="Calibri" pitchFamily="34" charset="-120"/>
              </a:rPr>
              <a:t>30 demographic + social features</a:t>
            </a:r>
            <a:endParaRPr lang="en-US" sz="950" dirty="0"/>
          </a:p>
        </p:txBody>
      </p:sp>
      <p:sp>
        <p:nvSpPr>
          <p:cNvPr id="31" name="Shape 29"/>
          <p:cNvSpPr/>
          <p:nvPr/>
        </p:nvSpPr>
        <p:spPr>
          <a:xfrm>
            <a:off x="6675120" y="2542032"/>
            <a:ext cx="164592" cy="164592"/>
          </a:xfrm>
          <a:prstGeom prst="ellipse">
            <a:avLst/>
          </a:prstGeom>
          <a:solidFill>
            <a:srgbClr val="00C8FF"/>
          </a:solidFill>
          <a:ln w="12700">
            <a:solidFill>
              <a:srgbClr val="00C8FF"/>
            </a:solidFill>
            <a:prstDash val="solid"/>
          </a:ln>
        </p:spPr>
      </p:sp>
      <p:sp>
        <p:nvSpPr>
          <p:cNvPr id="32" name="Text 30"/>
          <p:cNvSpPr/>
          <p:nvPr/>
        </p:nvSpPr>
        <p:spPr>
          <a:xfrm>
            <a:off x="6903720" y="2487168"/>
            <a:ext cx="2103120" cy="256032"/>
          </a:xfrm>
          <a:prstGeom prst="rect">
            <a:avLst/>
          </a:prstGeom>
          <a:noFill/>
          <a:ln/>
        </p:spPr>
        <p:txBody>
          <a:bodyPr wrap="square" lIns="0" tIns="0" rIns="0" bIns="0" rtlCol="0" anchor="ctr"/>
          <a:lstStyle/>
          <a:p>
            <a:pPr indent="0" marL="0">
              <a:buNone/>
            </a:pPr>
            <a:r>
              <a:rPr lang="en-US" sz="950" dirty="0">
                <a:solidFill>
                  <a:srgbClr val="C8E6FF"/>
                </a:solidFill>
                <a:latin typeface="Calibri" pitchFamily="34" charset="0"/>
                <a:ea typeface="Calibri" pitchFamily="34" charset="-122"/>
                <a:cs typeface="Calibri" pitchFamily="34" charset="-120"/>
              </a:rPr>
              <a:t>Classification &amp; Regression tasks</a:t>
            </a:r>
            <a:endParaRPr lang="en-US" sz="950" dirty="0"/>
          </a:p>
        </p:txBody>
      </p:sp>
      <p:sp>
        <p:nvSpPr>
          <p:cNvPr id="33" name="Shape 31"/>
          <p:cNvSpPr/>
          <p:nvPr/>
        </p:nvSpPr>
        <p:spPr>
          <a:xfrm>
            <a:off x="6675120" y="3054096"/>
            <a:ext cx="164592" cy="164592"/>
          </a:xfrm>
          <a:prstGeom prst="ellipse">
            <a:avLst/>
          </a:prstGeom>
          <a:solidFill>
            <a:srgbClr val="00C8FF"/>
          </a:solidFill>
          <a:ln w="12700">
            <a:solidFill>
              <a:srgbClr val="00C8FF"/>
            </a:solidFill>
            <a:prstDash val="solid"/>
          </a:ln>
        </p:spPr>
      </p:sp>
      <p:sp>
        <p:nvSpPr>
          <p:cNvPr id="34" name="Text 32"/>
          <p:cNvSpPr/>
          <p:nvPr/>
        </p:nvSpPr>
        <p:spPr>
          <a:xfrm>
            <a:off x="6903720" y="2999232"/>
            <a:ext cx="2103120" cy="256032"/>
          </a:xfrm>
          <a:prstGeom prst="rect">
            <a:avLst/>
          </a:prstGeom>
          <a:noFill/>
          <a:ln/>
        </p:spPr>
        <p:txBody>
          <a:bodyPr wrap="square" lIns="0" tIns="0" rIns="0" bIns="0" rtlCol="0" anchor="ctr"/>
          <a:lstStyle/>
          <a:p>
            <a:pPr indent="0" marL="0">
              <a:buNone/>
            </a:pPr>
            <a:r>
              <a:rPr lang="en-US" sz="950" dirty="0">
                <a:solidFill>
                  <a:srgbClr val="C8E6FF"/>
                </a:solidFill>
                <a:latin typeface="Calibri" pitchFamily="34" charset="0"/>
                <a:ea typeface="Calibri" pitchFamily="34" charset="-122"/>
                <a:cs typeface="Calibri" pitchFamily="34" charset="-120"/>
              </a:rPr>
              <a:t>No missing values</a:t>
            </a:r>
            <a:endParaRPr lang="en-US" sz="950" dirty="0"/>
          </a:p>
        </p:txBody>
      </p:sp>
      <p:sp>
        <p:nvSpPr>
          <p:cNvPr id="35" name="Text 33"/>
          <p:cNvSpPr/>
          <p:nvPr/>
        </p:nvSpPr>
        <p:spPr>
          <a:xfrm>
            <a:off x="365760" y="4690872"/>
            <a:ext cx="8412480" cy="365760"/>
          </a:xfrm>
          <a:prstGeom prst="rect">
            <a:avLst/>
          </a:prstGeom>
          <a:noFill/>
          <a:ln/>
        </p:spPr>
        <p:txBody>
          <a:bodyPr wrap="square" lIns="0" tIns="0" rIns="0" bIns="0" rtlCol="0" anchor="ctr"/>
          <a:lstStyle/>
          <a:p>
            <a:pPr algn="l" indent="0" marL="0">
              <a:buNone/>
            </a:pPr>
            <a:r>
              <a:rPr lang="en-US" sz="950" i="1" dirty="0">
                <a:solidFill>
                  <a:srgbClr val="FFD700"/>
                </a:solidFill>
                <a:latin typeface="Calibri" pitchFamily="34" charset="0"/>
                <a:ea typeface="Calibri" pitchFamily="34" charset="-122"/>
                <a:cs typeface="Calibri" pitchFamily="34" charset="-120"/>
              </a:rPr>
              <a:t>GOAL: Predict final student grade (G3) using academic, social &amp; demographic features</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50A30"/>
        </a:solidFill>
      </p:bgPr>
    </p:bg>
    <p:spTree>
      <p:nvGrpSpPr>
        <p:cNvPr id="1" name=""/>
        <p:cNvGrpSpPr/>
        <p:nvPr/>
      </p:nvGrpSpPr>
      <p:grpSpPr>
        <a:xfrm>
          <a:off x="0" y="0"/>
          <a:ext cx="0" cy="0"/>
          <a:chOff x="0" y="0"/>
          <a:chExt cx="0" cy="0"/>
        </a:xfrm>
      </p:grpSpPr>
      <p:sp>
        <p:nvSpPr>
          <p:cNvPr id="2" name="Shape 0"/>
          <p:cNvSpPr/>
          <p:nvPr/>
        </p:nvSpPr>
        <p:spPr>
          <a:xfrm>
            <a:off x="7315200" y="-914400"/>
            <a:ext cx="3657600" cy="3657600"/>
          </a:xfrm>
          <a:prstGeom prst="ellipse">
            <a:avLst/>
          </a:prstGeom>
          <a:solidFill>
            <a:srgbClr val="00C8FF">
              <a:alpha val="12000"/>
            </a:srgbClr>
          </a:solidFill>
          <a:ln w="12700">
            <a:solidFill>
              <a:srgbClr val="00C8FF">
                <a:alpha val="12000"/>
              </a:srgbClr>
            </a:solidFill>
            <a:prstDash val="solid"/>
          </a:ln>
        </p:spPr>
      </p:sp>
      <p:sp>
        <p:nvSpPr>
          <p:cNvPr id="3" name="Shape 1"/>
          <p:cNvSpPr/>
          <p:nvPr/>
        </p:nvSpPr>
        <p:spPr>
          <a:xfrm>
            <a:off x="-914400" y="2743200"/>
            <a:ext cx="3657600" cy="3657600"/>
          </a:xfrm>
          <a:prstGeom prst="ellipse">
            <a:avLst/>
          </a:prstGeom>
          <a:solidFill>
            <a:srgbClr val="7B2FFF">
              <a:alpha val="15000"/>
            </a:srgbClr>
          </a:solidFill>
          <a:ln w="12700">
            <a:solidFill>
              <a:srgbClr val="7B2FFF">
                <a:alpha val="15000"/>
              </a:srgbClr>
            </a:solidFill>
            <a:prstDash val="solid"/>
          </a:ln>
        </p:spPr>
      </p:sp>
      <p:sp>
        <p:nvSpPr>
          <p:cNvPr id="4" name="Text 2"/>
          <p:cNvSpPr/>
          <p:nvPr/>
        </p:nvSpPr>
        <p:spPr>
          <a:xfrm>
            <a:off x="1828800" y="182880"/>
            <a:ext cx="5486400" cy="54864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TEAM MEMBERS</a:t>
            </a:r>
            <a:endParaRPr lang="en-US" sz="2800" dirty="0"/>
          </a:p>
        </p:txBody>
      </p:sp>
      <p:sp>
        <p:nvSpPr>
          <p:cNvPr id="5" name="Shape 3"/>
          <p:cNvSpPr/>
          <p:nvPr/>
        </p:nvSpPr>
        <p:spPr>
          <a:xfrm>
            <a:off x="3200400" y="804672"/>
            <a:ext cx="2743200" cy="0"/>
          </a:xfrm>
          <a:prstGeom prst="line">
            <a:avLst/>
          </a:prstGeom>
          <a:noFill/>
          <a:ln w="25400">
            <a:solidFill>
              <a:srgbClr val="00C8FF"/>
            </a:solidFill>
            <a:prstDash val="solid"/>
          </a:ln>
        </p:spPr>
      </p:sp>
      <p:sp>
        <p:nvSpPr>
          <p:cNvPr id="6" name="Shape 4"/>
          <p:cNvSpPr/>
          <p:nvPr/>
        </p:nvSpPr>
        <p:spPr>
          <a:xfrm>
            <a:off x="2011680" y="1097280"/>
            <a:ext cx="5120640" cy="804672"/>
          </a:xfrm>
          <a:prstGeom prst="roundRect">
            <a:avLst>
              <a:gd name="adj" fmla="val 11364"/>
            </a:avLst>
          </a:prstGeom>
          <a:solidFill>
            <a:srgbClr val="0D1B5E"/>
          </a:solidFill>
          <a:ln w="12700">
            <a:solidFill>
              <a:srgbClr val="00C8FF"/>
            </a:solidFill>
            <a:prstDash val="solid"/>
          </a:ln>
          <a:effectLst>
            <a:outerShdw sx="100000" sy="100000" kx="0" ky="0" algn="bl" rotWithShape="0" blurRad="101600" dist="38100" dir="2700000">
              <a:srgbClr val="000000">
                <a:alpha val="35000"/>
              </a:srgbClr>
            </a:outerShdw>
          </a:effectLst>
        </p:spPr>
      </p:sp>
      <p:sp>
        <p:nvSpPr>
          <p:cNvPr id="7" name="Shape 5"/>
          <p:cNvSpPr/>
          <p:nvPr/>
        </p:nvSpPr>
        <p:spPr>
          <a:xfrm>
            <a:off x="2103120" y="1207008"/>
            <a:ext cx="566928" cy="566928"/>
          </a:xfrm>
          <a:prstGeom prst="ellipse">
            <a:avLst/>
          </a:prstGeom>
          <a:solidFill>
            <a:srgbClr val="7B2FFF">
              <a:alpha val="70000"/>
            </a:srgbClr>
          </a:solidFill>
          <a:ln w="12700">
            <a:solidFill>
              <a:srgbClr val="00C8FF"/>
            </a:solidFill>
            <a:prstDash val="solid"/>
          </a:ln>
        </p:spPr>
      </p:sp>
      <p:sp>
        <p:nvSpPr>
          <p:cNvPr id="8" name="Text 6"/>
          <p:cNvSpPr/>
          <p:nvPr/>
        </p:nvSpPr>
        <p:spPr>
          <a:xfrm>
            <a:off x="2103120" y="120700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rPr>
              <a:t>1</a:t>
            </a:r>
            <a:endParaRPr lang="en-US" sz="1800" dirty="0"/>
          </a:p>
        </p:txBody>
      </p:sp>
      <p:sp>
        <p:nvSpPr>
          <p:cNvPr id="9" name="Text 7"/>
          <p:cNvSpPr/>
          <p:nvPr/>
        </p:nvSpPr>
        <p:spPr>
          <a:xfrm>
            <a:off x="2788920" y="1170432"/>
            <a:ext cx="4206240" cy="274320"/>
          </a:xfrm>
          <a:prstGeom prst="rect">
            <a:avLst/>
          </a:prstGeom>
          <a:noFill/>
          <a:ln/>
        </p:spPr>
        <p:txBody>
          <a:bodyPr wrap="square" lIns="0" tIns="0" rIns="0" bIns="0" rtlCol="0" anchor="ctr"/>
          <a:lstStyle/>
          <a:p>
            <a:pPr indent="0" marL="0">
              <a:buNone/>
            </a:pPr>
            <a:r>
              <a:rPr lang="en-US" sz="1100" dirty="0">
                <a:solidFill>
                  <a:srgbClr val="C8E6FF"/>
                </a:solidFill>
                <a:latin typeface="Calibri" pitchFamily="34" charset="0"/>
                <a:ea typeface="Calibri" pitchFamily="34" charset="-122"/>
                <a:cs typeface="Calibri" pitchFamily="34" charset="-120"/>
              </a:rPr>
              <a:t>2510030213</a:t>
            </a:r>
            <a:endParaRPr lang="en-US" sz="1100" dirty="0"/>
          </a:p>
        </p:txBody>
      </p:sp>
      <p:sp>
        <p:nvSpPr>
          <p:cNvPr id="10" name="Text 8"/>
          <p:cNvSpPr/>
          <p:nvPr/>
        </p:nvSpPr>
        <p:spPr>
          <a:xfrm>
            <a:off x="2788920" y="1481328"/>
            <a:ext cx="4206240"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Rama Gayathri.G</a:t>
            </a:r>
            <a:endParaRPr lang="en-US" sz="1400" dirty="0"/>
          </a:p>
        </p:txBody>
      </p:sp>
      <p:sp>
        <p:nvSpPr>
          <p:cNvPr id="11" name="Shape 9"/>
          <p:cNvSpPr/>
          <p:nvPr/>
        </p:nvSpPr>
        <p:spPr>
          <a:xfrm>
            <a:off x="2011680" y="2103120"/>
            <a:ext cx="5120640" cy="804672"/>
          </a:xfrm>
          <a:prstGeom prst="roundRect">
            <a:avLst>
              <a:gd name="adj" fmla="val 11364"/>
            </a:avLst>
          </a:prstGeom>
          <a:solidFill>
            <a:srgbClr val="0D1B5E"/>
          </a:solidFill>
          <a:ln w="12700">
            <a:solidFill>
              <a:srgbClr val="00C8FF"/>
            </a:solidFill>
            <a:prstDash val="solid"/>
          </a:ln>
          <a:effectLst>
            <a:outerShdw sx="100000" sy="100000" kx="0" ky="0" algn="bl" rotWithShape="0" blurRad="101600" dist="38100" dir="2700000">
              <a:srgbClr val="000000">
                <a:alpha val="35000"/>
              </a:srgbClr>
            </a:outerShdw>
          </a:effectLst>
        </p:spPr>
      </p:sp>
      <p:sp>
        <p:nvSpPr>
          <p:cNvPr id="12" name="Shape 10"/>
          <p:cNvSpPr/>
          <p:nvPr/>
        </p:nvSpPr>
        <p:spPr>
          <a:xfrm>
            <a:off x="2103120" y="2212848"/>
            <a:ext cx="566928" cy="566928"/>
          </a:xfrm>
          <a:prstGeom prst="ellipse">
            <a:avLst/>
          </a:prstGeom>
          <a:solidFill>
            <a:srgbClr val="7B2FFF">
              <a:alpha val="70000"/>
            </a:srgbClr>
          </a:solidFill>
          <a:ln w="12700">
            <a:solidFill>
              <a:srgbClr val="00C8FF"/>
            </a:solidFill>
            <a:prstDash val="solid"/>
          </a:ln>
        </p:spPr>
      </p:sp>
      <p:sp>
        <p:nvSpPr>
          <p:cNvPr id="13" name="Text 11"/>
          <p:cNvSpPr/>
          <p:nvPr/>
        </p:nvSpPr>
        <p:spPr>
          <a:xfrm>
            <a:off x="2103120" y="221284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rPr>
              <a:t>2</a:t>
            </a:r>
            <a:endParaRPr lang="en-US" sz="1800" dirty="0"/>
          </a:p>
        </p:txBody>
      </p:sp>
      <p:sp>
        <p:nvSpPr>
          <p:cNvPr id="14" name="Text 12"/>
          <p:cNvSpPr/>
          <p:nvPr/>
        </p:nvSpPr>
        <p:spPr>
          <a:xfrm>
            <a:off x="2788920" y="2176272"/>
            <a:ext cx="4206240" cy="274320"/>
          </a:xfrm>
          <a:prstGeom prst="rect">
            <a:avLst/>
          </a:prstGeom>
          <a:noFill/>
          <a:ln/>
        </p:spPr>
        <p:txBody>
          <a:bodyPr wrap="square" lIns="0" tIns="0" rIns="0" bIns="0" rtlCol="0" anchor="ctr"/>
          <a:lstStyle/>
          <a:p>
            <a:pPr indent="0" marL="0">
              <a:buNone/>
            </a:pPr>
            <a:r>
              <a:rPr lang="en-US" sz="1100" dirty="0">
                <a:solidFill>
                  <a:srgbClr val="C8E6FF"/>
                </a:solidFill>
                <a:latin typeface="Calibri" pitchFamily="34" charset="0"/>
                <a:ea typeface="Calibri" pitchFamily="34" charset="-122"/>
                <a:cs typeface="Calibri" pitchFamily="34" charset="-120"/>
              </a:rPr>
              <a:t>2510030431</a:t>
            </a:r>
            <a:endParaRPr lang="en-US" sz="1100" dirty="0"/>
          </a:p>
        </p:txBody>
      </p:sp>
      <p:sp>
        <p:nvSpPr>
          <p:cNvPr id="15" name="Text 13"/>
          <p:cNvSpPr/>
          <p:nvPr/>
        </p:nvSpPr>
        <p:spPr>
          <a:xfrm>
            <a:off x="2788920" y="2487168"/>
            <a:ext cx="4206240"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Samhitha</a:t>
            </a:r>
            <a:endParaRPr lang="en-US" sz="1400" dirty="0"/>
          </a:p>
        </p:txBody>
      </p:sp>
      <p:sp>
        <p:nvSpPr>
          <p:cNvPr id="16" name="Shape 14"/>
          <p:cNvSpPr/>
          <p:nvPr/>
        </p:nvSpPr>
        <p:spPr>
          <a:xfrm>
            <a:off x="2011680" y="3108960"/>
            <a:ext cx="5120640" cy="804672"/>
          </a:xfrm>
          <a:prstGeom prst="roundRect">
            <a:avLst>
              <a:gd name="adj" fmla="val 11364"/>
            </a:avLst>
          </a:prstGeom>
          <a:solidFill>
            <a:srgbClr val="0D1B5E"/>
          </a:solidFill>
          <a:ln w="12700">
            <a:solidFill>
              <a:srgbClr val="00C8FF"/>
            </a:solidFill>
            <a:prstDash val="solid"/>
          </a:ln>
          <a:effectLst>
            <a:outerShdw sx="100000" sy="100000" kx="0" ky="0" algn="bl" rotWithShape="0" blurRad="101600" dist="38100" dir="2700000">
              <a:srgbClr val="000000">
                <a:alpha val="35000"/>
              </a:srgbClr>
            </a:outerShdw>
          </a:effectLst>
        </p:spPr>
      </p:sp>
      <p:sp>
        <p:nvSpPr>
          <p:cNvPr id="17" name="Shape 15"/>
          <p:cNvSpPr/>
          <p:nvPr/>
        </p:nvSpPr>
        <p:spPr>
          <a:xfrm>
            <a:off x="2103120" y="3218688"/>
            <a:ext cx="566928" cy="566928"/>
          </a:xfrm>
          <a:prstGeom prst="ellipse">
            <a:avLst/>
          </a:prstGeom>
          <a:solidFill>
            <a:srgbClr val="7B2FFF">
              <a:alpha val="70000"/>
            </a:srgbClr>
          </a:solidFill>
          <a:ln w="12700">
            <a:solidFill>
              <a:srgbClr val="00C8FF"/>
            </a:solidFill>
            <a:prstDash val="solid"/>
          </a:ln>
        </p:spPr>
      </p:sp>
      <p:sp>
        <p:nvSpPr>
          <p:cNvPr id="18" name="Text 16"/>
          <p:cNvSpPr/>
          <p:nvPr/>
        </p:nvSpPr>
        <p:spPr>
          <a:xfrm>
            <a:off x="2103120" y="3218688"/>
            <a:ext cx="566928" cy="566928"/>
          </a:xfrm>
          <a:prstGeom prst="rect">
            <a:avLst/>
          </a:prstGeom>
          <a:noFill/>
          <a:ln/>
        </p:spPr>
        <p:txBody>
          <a:bodyPr wrap="square" lIns="0" tIns="0" rIns="0" bIns="0" rtlCol="0" anchor="ctr"/>
          <a:lstStyle/>
          <a:p>
            <a:pPr algn="ctr" indent="0" marL="0">
              <a:buNone/>
            </a:pPr>
            <a:r>
              <a:rPr lang="en-US" sz="1800" b="1" dirty="0">
                <a:solidFill>
                  <a:srgbClr val="FFFFFF"/>
                </a:solidFill>
              </a:rPr>
              <a:t>3</a:t>
            </a:r>
            <a:endParaRPr lang="en-US" sz="1800" dirty="0"/>
          </a:p>
        </p:txBody>
      </p:sp>
      <p:sp>
        <p:nvSpPr>
          <p:cNvPr id="19" name="Text 17"/>
          <p:cNvSpPr/>
          <p:nvPr/>
        </p:nvSpPr>
        <p:spPr>
          <a:xfrm>
            <a:off x="2788920" y="3182112"/>
            <a:ext cx="4206240" cy="274320"/>
          </a:xfrm>
          <a:prstGeom prst="rect">
            <a:avLst/>
          </a:prstGeom>
          <a:noFill/>
          <a:ln/>
        </p:spPr>
        <p:txBody>
          <a:bodyPr wrap="square" lIns="0" tIns="0" rIns="0" bIns="0" rtlCol="0" anchor="ctr"/>
          <a:lstStyle/>
          <a:p>
            <a:pPr indent="0" marL="0">
              <a:buNone/>
            </a:pPr>
            <a:r>
              <a:rPr lang="en-US" sz="1100" dirty="0">
                <a:solidFill>
                  <a:srgbClr val="C8E6FF"/>
                </a:solidFill>
                <a:latin typeface="Calibri" pitchFamily="34" charset="0"/>
                <a:ea typeface="Calibri" pitchFamily="34" charset="-122"/>
                <a:cs typeface="Calibri" pitchFamily="34" charset="-120"/>
              </a:rPr>
              <a:t>2510030312</a:t>
            </a:r>
            <a:endParaRPr lang="en-US" sz="1100" dirty="0"/>
          </a:p>
        </p:txBody>
      </p:sp>
      <p:sp>
        <p:nvSpPr>
          <p:cNvPr id="20" name="Text 18"/>
          <p:cNvSpPr/>
          <p:nvPr/>
        </p:nvSpPr>
        <p:spPr>
          <a:xfrm>
            <a:off x="2788920" y="3493008"/>
            <a:ext cx="4206240" cy="27432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Dhana Lakshmi</a:t>
            </a:r>
            <a:endParaRPr lang="en-US" sz="1400" dirty="0"/>
          </a:p>
        </p:txBody>
      </p:sp>
      <p:sp>
        <p:nvSpPr>
          <p:cNvPr id="21" name="Shape 19"/>
          <p:cNvSpPr/>
          <p:nvPr/>
        </p:nvSpPr>
        <p:spPr>
          <a:xfrm>
            <a:off x="2560320" y="4206240"/>
            <a:ext cx="4023360" cy="731520"/>
          </a:xfrm>
          <a:prstGeom prst="roundRect">
            <a:avLst>
              <a:gd name="adj" fmla="val 10000"/>
            </a:avLst>
          </a:prstGeom>
          <a:solidFill>
            <a:srgbClr val="7B2FFF">
              <a:alpha val="40000"/>
            </a:srgbClr>
          </a:solidFill>
          <a:ln w="12700">
            <a:solidFill>
              <a:srgbClr val="7B2FFF"/>
            </a:solidFill>
            <a:prstDash val="solid"/>
          </a:ln>
          <a:effectLst>
            <a:outerShdw sx="100000" sy="100000" kx="0" ky="0" algn="bl" rotWithShape="0" blurRad="101600" dist="38100" dir="2700000">
              <a:srgbClr val="000000">
                <a:alpha val="35000"/>
              </a:srgbClr>
            </a:outerShdw>
          </a:effectLst>
        </p:spPr>
      </p:sp>
      <p:sp>
        <p:nvSpPr>
          <p:cNvPr id="22" name="Text 20"/>
          <p:cNvSpPr/>
          <p:nvPr/>
        </p:nvSpPr>
        <p:spPr>
          <a:xfrm>
            <a:off x="2560320" y="4224528"/>
            <a:ext cx="4023360" cy="228600"/>
          </a:xfrm>
          <a:prstGeom prst="rect">
            <a:avLst/>
          </a:prstGeom>
          <a:noFill/>
          <a:ln/>
        </p:spPr>
        <p:txBody>
          <a:bodyPr wrap="square" lIns="0" tIns="0" rIns="0" bIns="0" rtlCol="0" anchor="ctr"/>
          <a:lstStyle/>
          <a:p>
            <a:pPr algn="ctr" indent="0" marL="0">
              <a:buNone/>
            </a:pPr>
            <a:r>
              <a:rPr lang="en-US" sz="1000" b="1" dirty="0">
                <a:solidFill>
                  <a:srgbClr val="C8E6FF"/>
                </a:solidFill>
                <a:latin typeface="Arial" pitchFamily="34" charset="0"/>
                <a:ea typeface="Arial" pitchFamily="34" charset="-122"/>
                <a:cs typeface="Arial" pitchFamily="34" charset="-120"/>
              </a:rPr>
              <a:t>GUIDED BY</a:t>
            </a:r>
            <a:endParaRPr lang="en-US" sz="1000" dirty="0"/>
          </a:p>
        </p:txBody>
      </p:sp>
      <p:sp>
        <p:nvSpPr>
          <p:cNvPr id="23" name="Text 21"/>
          <p:cNvSpPr/>
          <p:nvPr/>
        </p:nvSpPr>
        <p:spPr>
          <a:xfrm>
            <a:off x="2560320" y="4480560"/>
            <a:ext cx="4023360" cy="32004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DR. M. NAGESH</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50A30"/>
        </a:solidFill>
      </p:bgPr>
    </p:bg>
    <p:spTree>
      <p:nvGrpSpPr>
        <p:cNvPr id="1" name=""/>
        <p:cNvGrpSpPr/>
        <p:nvPr/>
      </p:nvGrpSpPr>
      <p:grpSpPr>
        <a:xfrm>
          <a:off x="0" y="0"/>
          <a:ext cx="0" cy="0"/>
          <a:chOff x="0" y="0"/>
          <a:chExt cx="0" cy="0"/>
        </a:xfrm>
      </p:grpSpPr>
      <p:sp>
        <p:nvSpPr>
          <p:cNvPr id="2" name="Shape 0"/>
          <p:cNvSpPr/>
          <p:nvPr/>
        </p:nvSpPr>
        <p:spPr>
          <a:xfrm>
            <a:off x="6858000" y="-914400"/>
            <a:ext cx="4114800" cy="4114800"/>
          </a:xfrm>
          <a:prstGeom prst="ellipse">
            <a:avLst/>
          </a:prstGeom>
          <a:solidFill>
            <a:srgbClr val="00C8FF">
              <a:alpha val="13000"/>
            </a:srgbClr>
          </a:solidFill>
          <a:ln w="12700">
            <a:solidFill>
              <a:srgbClr val="00C8FF">
                <a:alpha val="13000"/>
              </a:srgbClr>
            </a:solidFill>
            <a:prstDash val="solid"/>
          </a:ln>
        </p:spPr>
      </p:sp>
      <p:sp>
        <p:nvSpPr>
          <p:cNvPr id="3" name="Text 1"/>
          <p:cNvSpPr/>
          <p:nvPr/>
        </p:nvSpPr>
        <p:spPr>
          <a:xfrm>
            <a:off x="320040" y="164592"/>
            <a:ext cx="8503920" cy="50292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PROBLEM STATEMENT</a:t>
            </a:r>
            <a:endParaRPr lang="en-US" sz="2400" dirty="0"/>
          </a:p>
        </p:txBody>
      </p:sp>
      <p:sp>
        <p:nvSpPr>
          <p:cNvPr id="4" name="Shape 2"/>
          <p:cNvSpPr/>
          <p:nvPr/>
        </p:nvSpPr>
        <p:spPr>
          <a:xfrm>
            <a:off x="2743200" y="713232"/>
            <a:ext cx="3657600" cy="0"/>
          </a:xfrm>
          <a:prstGeom prst="line">
            <a:avLst/>
          </a:prstGeom>
          <a:noFill/>
          <a:ln w="25400">
            <a:solidFill>
              <a:srgbClr val="00C8FF"/>
            </a:solidFill>
            <a:prstDash val="solid"/>
          </a:ln>
        </p:spPr>
      </p:sp>
      <p:sp>
        <p:nvSpPr>
          <p:cNvPr id="5" name="Shape 3"/>
          <p:cNvSpPr/>
          <p:nvPr/>
        </p:nvSpPr>
        <p:spPr>
          <a:xfrm>
            <a:off x="274320" y="868680"/>
            <a:ext cx="3931920" cy="2194560"/>
          </a:xfrm>
          <a:prstGeom prst="roundRect">
            <a:avLst>
              <a:gd name="adj" fmla="val 3333"/>
            </a:avLst>
          </a:prstGeom>
          <a:solidFill>
            <a:srgbClr val="0D1B5E"/>
          </a:solidFill>
          <a:ln w="12700">
            <a:solidFill>
              <a:srgbClr val="00C8FF"/>
            </a:solidFill>
            <a:prstDash val="solid"/>
          </a:ln>
          <a:effectLst>
            <a:outerShdw sx="100000" sy="100000" kx="0" ky="0" algn="bl" rotWithShape="0" blurRad="101600" dist="38100" dir="2700000">
              <a:srgbClr val="000000">
                <a:alpha val="35000"/>
              </a:srgbClr>
            </a:outerShdw>
          </a:effectLst>
        </p:spPr>
      </p:sp>
      <p:pic>
        <p:nvPicPr>
          <p:cNvPr id="6" name="Image 0" descr="preencoded.png">    </p:cNvPr>
          <p:cNvPicPr>
            <a:picLocks noChangeAspect="1"/>
          </p:cNvPicPr>
          <p:nvPr/>
        </p:nvPicPr>
        <p:blipFill>
          <a:blip r:embed="rId1"/>
          <a:stretch>
            <a:fillRect/>
          </a:stretch>
        </p:blipFill>
        <p:spPr>
          <a:xfrm>
            <a:off x="411480" y="960120"/>
            <a:ext cx="411480" cy="411480"/>
          </a:xfrm>
          <a:prstGeom prst="rect">
            <a:avLst/>
          </a:prstGeom>
        </p:spPr>
      </p:pic>
      <p:sp>
        <p:nvSpPr>
          <p:cNvPr id="7" name="Text 4"/>
          <p:cNvSpPr/>
          <p:nvPr/>
        </p:nvSpPr>
        <p:spPr>
          <a:xfrm>
            <a:off x="868680" y="960120"/>
            <a:ext cx="3200400" cy="365760"/>
          </a:xfrm>
          <a:prstGeom prst="rect">
            <a:avLst/>
          </a:prstGeom>
          <a:noFill/>
          <a:ln/>
        </p:spPr>
        <p:txBody>
          <a:bodyPr wrap="square" lIns="0" tIns="0" rIns="0" bIns="0" rtlCol="0" anchor="ctr"/>
          <a:lstStyle/>
          <a:p>
            <a:pPr indent="0" marL="0">
              <a:buNone/>
            </a:pPr>
            <a:r>
              <a:rPr lang="en-US" sz="1300" b="1" dirty="0">
                <a:solidFill>
                  <a:srgbClr val="00C8FF"/>
                </a:solidFill>
                <a:latin typeface="Arial" pitchFamily="34" charset="0"/>
                <a:ea typeface="Arial" pitchFamily="34" charset="-122"/>
                <a:cs typeface="Arial" pitchFamily="34" charset="-120"/>
              </a:rPr>
              <a:t>Overview</a:t>
            </a:r>
            <a:endParaRPr lang="en-US" sz="1300" dirty="0"/>
          </a:p>
        </p:txBody>
      </p:sp>
      <p:sp>
        <p:nvSpPr>
          <p:cNvPr id="8" name="Text 5"/>
          <p:cNvSpPr/>
          <p:nvPr/>
        </p:nvSpPr>
        <p:spPr>
          <a:xfrm>
            <a:off x="411480" y="1417320"/>
            <a:ext cx="3657600" cy="1463040"/>
          </a:xfrm>
          <a:prstGeom prst="rect">
            <a:avLst/>
          </a:prstGeom>
          <a:noFill/>
          <a:ln/>
        </p:spPr>
        <p:txBody>
          <a:bodyPr wrap="square" lIns="0" tIns="0" rIns="0" bIns="0" rtlCol="0" anchor="t"/>
          <a:lstStyle/>
          <a:p>
            <a:pPr indent="0" marL="0">
              <a:buNone/>
            </a:pPr>
            <a:r>
              <a:rPr lang="en-US" sz="950" dirty="0">
                <a:solidFill>
                  <a:srgbClr val="C8E6FF"/>
                </a:solidFill>
                <a:latin typeface="Calibri" pitchFamily="34" charset="0"/>
                <a:ea typeface="Calibri" pitchFamily="34" charset="-122"/>
                <a:cs typeface="Calibri" pitchFamily="34" charset="-120"/>
              </a:rPr>
              <a:t>Student Performance Prediction is a key application of Educational Data Mining. This project analyzes student achievement in secondary education of two Portuguese schools.</a:t>
            </a:r>
            <a:endParaRPr lang="en-US" sz="950" dirty="0"/>
          </a:p>
          <a:p>
            <a:pPr indent="0" marL="0">
              <a:buNone/>
            </a:pPr>
            <a:endParaRPr lang="en-US" sz="950" dirty="0"/>
          </a:p>
          <a:p>
            <a:pPr indent="0" marL="0">
              <a:buNone/>
            </a:pPr>
            <a:r>
              <a:rPr lang="en-US" sz="950" dirty="0">
                <a:solidFill>
                  <a:srgbClr val="C8E6FF"/>
                </a:solidFill>
                <a:latin typeface="Calibri" pitchFamily="34" charset="0"/>
                <a:ea typeface="Calibri" pitchFamily="34" charset="-122"/>
                <a:cs typeface="Calibri" pitchFamily="34" charset="-120"/>
              </a:rPr>
              <a:t>The data includes student grades, demographic, social and school-related features collected via school reports and questionnaires.</a:t>
            </a:r>
            <a:endParaRPr lang="en-US" sz="950" dirty="0"/>
          </a:p>
        </p:txBody>
      </p:sp>
      <p:sp>
        <p:nvSpPr>
          <p:cNvPr id="9" name="Shape 6"/>
          <p:cNvSpPr/>
          <p:nvPr/>
        </p:nvSpPr>
        <p:spPr>
          <a:xfrm>
            <a:off x="4389120" y="868680"/>
            <a:ext cx="4480560" cy="2194560"/>
          </a:xfrm>
          <a:prstGeom prst="roundRect">
            <a:avLst>
              <a:gd name="adj" fmla="val 3333"/>
            </a:avLst>
          </a:prstGeom>
          <a:solidFill>
            <a:srgbClr val="0D1B5E"/>
          </a:solidFill>
          <a:ln w="12700">
            <a:solidFill>
              <a:srgbClr val="7B2FFF"/>
            </a:solidFill>
            <a:prstDash val="solid"/>
          </a:ln>
          <a:effectLst>
            <a:outerShdw sx="100000" sy="100000" kx="0" ky="0" algn="bl" rotWithShape="0" blurRad="101600" dist="38100" dir="2700000">
              <a:srgbClr val="000000">
                <a:alpha val="35000"/>
              </a:srgbClr>
            </a:outerShdw>
          </a:effectLst>
        </p:spPr>
      </p:sp>
      <p:sp>
        <p:nvSpPr>
          <p:cNvPr id="10" name="Text 7"/>
          <p:cNvSpPr/>
          <p:nvPr/>
        </p:nvSpPr>
        <p:spPr>
          <a:xfrm>
            <a:off x="4572000" y="960120"/>
            <a:ext cx="4114800" cy="365760"/>
          </a:xfrm>
          <a:prstGeom prst="rect">
            <a:avLst/>
          </a:prstGeom>
          <a:noFill/>
          <a:ln/>
        </p:spPr>
        <p:txBody>
          <a:bodyPr wrap="square" lIns="0" tIns="0" rIns="0" bIns="0" rtlCol="0" anchor="ctr"/>
          <a:lstStyle/>
          <a:p>
            <a:pPr indent="0" marL="0">
              <a:buNone/>
            </a:pPr>
            <a:r>
              <a:rPr lang="en-US" sz="1300" b="1" dirty="0">
                <a:solidFill>
                  <a:srgbClr val="7B2FFF"/>
                </a:solidFill>
                <a:latin typeface="Arial" pitchFamily="34" charset="0"/>
                <a:ea typeface="Arial" pitchFamily="34" charset="-122"/>
                <a:cs typeface="Arial" pitchFamily="34" charset="-120"/>
              </a:rPr>
              <a:t>Project Goals</a:t>
            </a:r>
            <a:endParaRPr lang="en-US" sz="1300" dirty="0"/>
          </a:p>
        </p:txBody>
      </p:sp>
      <p:sp>
        <p:nvSpPr>
          <p:cNvPr id="11" name="Shape 8"/>
          <p:cNvSpPr/>
          <p:nvPr/>
        </p:nvSpPr>
        <p:spPr>
          <a:xfrm>
            <a:off x="4572000" y="1444752"/>
            <a:ext cx="137160" cy="137160"/>
          </a:xfrm>
          <a:prstGeom prst="ellipse">
            <a:avLst/>
          </a:prstGeom>
          <a:solidFill>
            <a:srgbClr val="00C8FF"/>
          </a:solidFill>
          <a:ln w="12700">
            <a:solidFill>
              <a:srgbClr val="00C8FF"/>
            </a:solidFill>
            <a:prstDash val="solid"/>
          </a:ln>
        </p:spPr>
      </p:sp>
      <p:sp>
        <p:nvSpPr>
          <p:cNvPr id="12" name="Text 9"/>
          <p:cNvSpPr/>
          <p:nvPr/>
        </p:nvSpPr>
        <p:spPr>
          <a:xfrm>
            <a:off x="4773168" y="1389888"/>
            <a:ext cx="3977640" cy="274320"/>
          </a:xfrm>
          <a:prstGeom prst="rect">
            <a:avLst/>
          </a:prstGeom>
          <a:noFill/>
          <a:ln/>
        </p:spPr>
        <p:txBody>
          <a:bodyPr wrap="square" lIns="0" tIns="0" rIns="0" bIns="0" rtlCol="0" anchor="ctr"/>
          <a:lstStyle/>
          <a:p>
            <a:pPr indent="0" marL="0">
              <a:buNone/>
            </a:pPr>
            <a:r>
              <a:rPr lang="en-US" sz="950" dirty="0">
                <a:solidFill>
                  <a:srgbClr val="C8E6FF"/>
                </a:solidFill>
                <a:latin typeface="Calibri" pitchFamily="34" charset="0"/>
                <a:ea typeface="Calibri" pitchFamily="34" charset="-122"/>
                <a:cs typeface="Calibri" pitchFamily="34" charset="-120"/>
              </a:rPr>
              <a:t>Predict final grade G3 (0–20 scale)</a:t>
            </a:r>
            <a:endParaRPr lang="en-US" sz="950" dirty="0"/>
          </a:p>
        </p:txBody>
      </p:sp>
      <p:sp>
        <p:nvSpPr>
          <p:cNvPr id="13" name="Shape 10"/>
          <p:cNvSpPr/>
          <p:nvPr/>
        </p:nvSpPr>
        <p:spPr>
          <a:xfrm>
            <a:off x="4572000" y="1828800"/>
            <a:ext cx="137160" cy="137160"/>
          </a:xfrm>
          <a:prstGeom prst="ellipse">
            <a:avLst/>
          </a:prstGeom>
          <a:solidFill>
            <a:srgbClr val="00C8FF"/>
          </a:solidFill>
          <a:ln w="12700">
            <a:solidFill>
              <a:srgbClr val="00C8FF"/>
            </a:solidFill>
            <a:prstDash val="solid"/>
          </a:ln>
        </p:spPr>
      </p:sp>
      <p:sp>
        <p:nvSpPr>
          <p:cNvPr id="14" name="Text 11"/>
          <p:cNvSpPr/>
          <p:nvPr/>
        </p:nvSpPr>
        <p:spPr>
          <a:xfrm>
            <a:off x="4773168" y="1773936"/>
            <a:ext cx="3977640" cy="274320"/>
          </a:xfrm>
          <a:prstGeom prst="rect">
            <a:avLst/>
          </a:prstGeom>
          <a:noFill/>
          <a:ln/>
        </p:spPr>
        <p:txBody>
          <a:bodyPr wrap="square" lIns="0" tIns="0" rIns="0" bIns="0" rtlCol="0" anchor="ctr"/>
          <a:lstStyle/>
          <a:p>
            <a:pPr indent="0" marL="0">
              <a:buNone/>
            </a:pPr>
            <a:r>
              <a:rPr lang="en-US" sz="950" dirty="0">
                <a:solidFill>
                  <a:srgbClr val="C8E6FF"/>
                </a:solidFill>
                <a:latin typeface="Calibri" pitchFamily="34" charset="0"/>
                <a:ea typeface="Calibri" pitchFamily="34" charset="-122"/>
                <a:cs typeface="Calibri" pitchFamily="34" charset="-120"/>
              </a:rPr>
              <a:t>Identify key factors affecting performance</a:t>
            </a:r>
            <a:endParaRPr lang="en-US" sz="950" dirty="0"/>
          </a:p>
        </p:txBody>
      </p:sp>
      <p:sp>
        <p:nvSpPr>
          <p:cNvPr id="15" name="Shape 12"/>
          <p:cNvSpPr/>
          <p:nvPr/>
        </p:nvSpPr>
        <p:spPr>
          <a:xfrm>
            <a:off x="4572000" y="2212848"/>
            <a:ext cx="137160" cy="137160"/>
          </a:xfrm>
          <a:prstGeom prst="ellipse">
            <a:avLst/>
          </a:prstGeom>
          <a:solidFill>
            <a:srgbClr val="00C8FF"/>
          </a:solidFill>
          <a:ln w="12700">
            <a:solidFill>
              <a:srgbClr val="00C8FF"/>
            </a:solidFill>
            <a:prstDash val="solid"/>
          </a:ln>
        </p:spPr>
      </p:sp>
      <p:sp>
        <p:nvSpPr>
          <p:cNvPr id="16" name="Text 13"/>
          <p:cNvSpPr/>
          <p:nvPr/>
        </p:nvSpPr>
        <p:spPr>
          <a:xfrm>
            <a:off x="4773168" y="2157984"/>
            <a:ext cx="3977640" cy="274320"/>
          </a:xfrm>
          <a:prstGeom prst="rect">
            <a:avLst/>
          </a:prstGeom>
          <a:noFill/>
          <a:ln/>
        </p:spPr>
        <p:txBody>
          <a:bodyPr wrap="square" lIns="0" tIns="0" rIns="0" bIns="0" rtlCol="0" anchor="ctr"/>
          <a:lstStyle/>
          <a:p>
            <a:pPr indent="0" marL="0">
              <a:buNone/>
            </a:pPr>
            <a:r>
              <a:rPr lang="en-US" sz="950" dirty="0">
                <a:solidFill>
                  <a:srgbClr val="C8E6FF"/>
                </a:solidFill>
                <a:latin typeface="Calibri" pitchFamily="34" charset="0"/>
                <a:ea typeface="Calibri" pitchFamily="34" charset="-122"/>
                <a:cs typeface="Calibri" pitchFamily="34" charset="-120"/>
              </a:rPr>
              <a:t>Compare Classification vs Regression approaches</a:t>
            </a:r>
            <a:endParaRPr lang="en-US" sz="950" dirty="0"/>
          </a:p>
        </p:txBody>
      </p:sp>
      <p:sp>
        <p:nvSpPr>
          <p:cNvPr id="17" name="Shape 14"/>
          <p:cNvSpPr/>
          <p:nvPr/>
        </p:nvSpPr>
        <p:spPr>
          <a:xfrm>
            <a:off x="4572000" y="2596896"/>
            <a:ext cx="137160" cy="137160"/>
          </a:xfrm>
          <a:prstGeom prst="ellipse">
            <a:avLst/>
          </a:prstGeom>
          <a:solidFill>
            <a:srgbClr val="00C8FF"/>
          </a:solidFill>
          <a:ln w="12700">
            <a:solidFill>
              <a:srgbClr val="00C8FF"/>
            </a:solidFill>
            <a:prstDash val="solid"/>
          </a:ln>
        </p:spPr>
      </p:sp>
      <p:sp>
        <p:nvSpPr>
          <p:cNvPr id="18" name="Text 15"/>
          <p:cNvSpPr/>
          <p:nvPr/>
        </p:nvSpPr>
        <p:spPr>
          <a:xfrm>
            <a:off x="4773168" y="2542032"/>
            <a:ext cx="3977640" cy="274320"/>
          </a:xfrm>
          <a:prstGeom prst="rect">
            <a:avLst/>
          </a:prstGeom>
          <a:noFill/>
          <a:ln/>
        </p:spPr>
        <p:txBody>
          <a:bodyPr wrap="square" lIns="0" tIns="0" rIns="0" bIns="0" rtlCol="0" anchor="ctr"/>
          <a:lstStyle/>
          <a:p>
            <a:pPr indent="0" marL="0">
              <a:buNone/>
            </a:pPr>
            <a:r>
              <a:rPr lang="en-US" sz="950" dirty="0">
                <a:solidFill>
                  <a:srgbClr val="C8E6FF"/>
                </a:solidFill>
                <a:latin typeface="Calibri" pitchFamily="34" charset="0"/>
                <a:ea typeface="Calibri" pitchFamily="34" charset="-122"/>
                <a:cs typeface="Calibri" pitchFamily="34" charset="-120"/>
              </a:rPr>
              <a:t>Analyze impact of social &amp; demographic features</a:t>
            </a:r>
            <a:endParaRPr lang="en-US" sz="950" dirty="0"/>
          </a:p>
        </p:txBody>
      </p:sp>
      <p:sp>
        <p:nvSpPr>
          <p:cNvPr id="19" name="Shape 16"/>
          <p:cNvSpPr/>
          <p:nvPr/>
        </p:nvSpPr>
        <p:spPr>
          <a:xfrm>
            <a:off x="274320" y="3246120"/>
            <a:ext cx="4160520" cy="1691640"/>
          </a:xfrm>
          <a:prstGeom prst="roundRect">
            <a:avLst>
              <a:gd name="adj" fmla="val 4324"/>
            </a:avLst>
          </a:prstGeom>
          <a:solidFill>
            <a:srgbClr val="0D1B6E"/>
          </a:solidFill>
          <a:ln w="12700">
            <a:solidFill>
              <a:srgbClr val="00C8FF"/>
            </a:solidFill>
            <a:prstDash val="solid"/>
          </a:ln>
          <a:effectLst>
            <a:outerShdw sx="100000" sy="100000" kx="0" ky="0" algn="bl" rotWithShape="0" blurRad="101600" dist="38100" dir="2700000">
              <a:srgbClr val="000000">
                <a:alpha val="35000"/>
              </a:srgbClr>
            </a:outerShdw>
          </a:effectLst>
        </p:spPr>
      </p:sp>
      <p:sp>
        <p:nvSpPr>
          <p:cNvPr id="20" name="Text 17"/>
          <p:cNvSpPr/>
          <p:nvPr/>
        </p:nvSpPr>
        <p:spPr>
          <a:xfrm>
            <a:off x="411480" y="3337560"/>
            <a:ext cx="3840480" cy="347472"/>
          </a:xfrm>
          <a:prstGeom prst="rect">
            <a:avLst/>
          </a:prstGeom>
          <a:noFill/>
          <a:ln/>
        </p:spPr>
        <p:txBody>
          <a:bodyPr wrap="square" lIns="0" tIns="0" rIns="0" bIns="0" rtlCol="0" anchor="ctr"/>
          <a:lstStyle/>
          <a:p>
            <a:pPr indent="0" marL="0">
              <a:buNone/>
            </a:pPr>
            <a:r>
              <a:rPr lang="en-US" sz="1300" b="1" dirty="0">
                <a:solidFill>
                  <a:srgbClr val="00C8FF"/>
                </a:solidFill>
                <a:latin typeface="Arial" pitchFamily="34" charset="0"/>
                <a:ea typeface="Arial" pitchFamily="34" charset="-122"/>
                <a:cs typeface="Arial" pitchFamily="34" charset="-120"/>
              </a:rPr>
              <a:t>Mathematics (mat)</a:t>
            </a:r>
            <a:endParaRPr lang="en-US" sz="1300" dirty="0"/>
          </a:p>
        </p:txBody>
      </p:sp>
      <p:sp>
        <p:nvSpPr>
          <p:cNvPr id="21" name="Shape 18"/>
          <p:cNvSpPr/>
          <p:nvPr/>
        </p:nvSpPr>
        <p:spPr>
          <a:xfrm>
            <a:off x="438912" y="3785616"/>
            <a:ext cx="109728" cy="109728"/>
          </a:xfrm>
          <a:prstGeom prst="ellipse">
            <a:avLst/>
          </a:prstGeom>
          <a:solidFill>
            <a:srgbClr val="00C8FF"/>
          </a:solidFill>
          <a:ln w="12700">
            <a:solidFill>
              <a:srgbClr val="00C8FF"/>
            </a:solidFill>
            <a:prstDash val="solid"/>
          </a:ln>
        </p:spPr>
      </p:sp>
      <p:sp>
        <p:nvSpPr>
          <p:cNvPr id="22" name="Text 19"/>
          <p:cNvSpPr/>
          <p:nvPr/>
        </p:nvSpPr>
        <p:spPr>
          <a:xfrm>
            <a:off x="621792" y="3730752"/>
            <a:ext cx="3657600" cy="256032"/>
          </a:xfrm>
          <a:prstGeom prst="rect">
            <a:avLst/>
          </a:prstGeom>
          <a:noFill/>
          <a:ln/>
        </p:spPr>
        <p:txBody>
          <a:bodyPr wrap="square" lIns="0" tIns="0" rIns="0" bIns="0" rtlCol="0" anchor="ctr"/>
          <a:lstStyle/>
          <a:p>
            <a:pPr indent="0" marL="0">
              <a:buNone/>
            </a:pPr>
            <a:r>
              <a:rPr lang="en-US" sz="900" dirty="0">
                <a:solidFill>
                  <a:srgbClr val="C8E6FF"/>
                </a:solidFill>
                <a:latin typeface="Calibri" pitchFamily="34" charset="0"/>
                <a:ea typeface="Calibri" pitchFamily="34" charset="-122"/>
                <a:cs typeface="Calibri" pitchFamily="34" charset="-120"/>
              </a:rPr>
              <a:t>395 student records</a:t>
            </a:r>
            <a:endParaRPr lang="en-US" sz="900" dirty="0"/>
          </a:p>
        </p:txBody>
      </p:sp>
      <p:sp>
        <p:nvSpPr>
          <p:cNvPr id="23" name="Shape 20"/>
          <p:cNvSpPr/>
          <p:nvPr/>
        </p:nvSpPr>
        <p:spPr>
          <a:xfrm>
            <a:off x="438912" y="4114800"/>
            <a:ext cx="109728" cy="109728"/>
          </a:xfrm>
          <a:prstGeom prst="ellipse">
            <a:avLst/>
          </a:prstGeom>
          <a:solidFill>
            <a:srgbClr val="00C8FF"/>
          </a:solidFill>
          <a:ln w="12700">
            <a:solidFill>
              <a:srgbClr val="00C8FF"/>
            </a:solidFill>
            <a:prstDash val="solid"/>
          </a:ln>
        </p:spPr>
      </p:sp>
      <p:sp>
        <p:nvSpPr>
          <p:cNvPr id="24" name="Text 21"/>
          <p:cNvSpPr/>
          <p:nvPr/>
        </p:nvSpPr>
        <p:spPr>
          <a:xfrm>
            <a:off x="621792" y="4059936"/>
            <a:ext cx="3657600" cy="256032"/>
          </a:xfrm>
          <a:prstGeom prst="rect">
            <a:avLst/>
          </a:prstGeom>
          <a:noFill/>
          <a:ln/>
        </p:spPr>
        <p:txBody>
          <a:bodyPr wrap="square" lIns="0" tIns="0" rIns="0" bIns="0" rtlCol="0" anchor="ctr"/>
          <a:lstStyle/>
          <a:p>
            <a:pPr indent="0" marL="0">
              <a:buNone/>
            </a:pPr>
            <a:r>
              <a:rPr lang="en-US" sz="900" dirty="0">
                <a:solidFill>
                  <a:srgbClr val="C8E6FF"/>
                </a:solidFill>
                <a:latin typeface="Calibri" pitchFamily="34" charset="0"/>
                <a:ea typeface="Calibri" pitchFamily="34" charset="-122"/>
                <a:cs typeface="Calibri" pitchFamily="34" charset="-120"/>
              </a:rPr>
              <a:t>Binary/5-level classification</a:t>
            </a:r>
            <a:endParaRPr lang="en-US" sz="900" dirty="0"/>
          </a:p>
        </p:txBody>
      </p:sp>
      <p:sp>
        <p:nvSpPr>
          <p:cNvPr id="25" name="Shape 22"/>
          <p:cNvSpPr/>
          <p:nvPr/>
        </p:nvSpPr>
        <p:spPr>
          <a:xfrm>
            <a:off x="438912" y="4443984"/>
            <a:ext cx="109728" cy="109728"/>
          </a:xfrm>
          <a:prstGeom prst="ellipse">
            <a:avLst/>
          </a:prstGeom>
          <a:solidFill>
            <a:srgbClr val="00C8FF"/>
          </a:solidFill>
          <a:ln w="12700">
            <a:solidFill>
              <a:srgbClr val="00C8FF"/>
            </a:solidFill>
            <a:prstDash val="solid"/>
          </a:ln>
        </p:spPr>
      </p:sp>
      <p:sp>
        <p:nvSpPr>
          <p:cNvPr id="26" name="Text 23"/>
          <p:cNvSpPr/>
          <p:nvPr/>
        </p:nvSpPr>
        <p:spPr>
          <a:xfrm>
            <a:off x="621792" y="4389120"/>
            <a:ext cx="3657600" cy="256032"/>
          </a:xfrm>
          <a:prstGeom prst="rect">
            <a:avLst/>
          </a:prstGeom>
          <a:noFill/>
          <a:ln/>
        </p:spPr>
        <p:txBody>
          <a:bodyPr wrap="square" lIns="0" tIns="0" rIns="0" bIns="0" rtlCol="0" anchor="ctr"/>
          <a:lstStyle/>
          <a:p>
            <a:pPr indent="0" marL="0">
              <a:buNone/>
            </a:pPr>
            <a:r>
              <a:rPr lang="en-US" sz="900" dirty="0">
                <a:solidFill>
                  <a:srgbClr val="C8E6FF"/>
                </a:solidFill>
                <a:latin typeface="Calibri" pitchFamily="34" charset="0"/>
                <a:ea typeface="Calibri" pitchFamily="34" charset="-122"/>
                <a:cs typeface="Calibri" pitchFamily="34" charset="-120"/>
              </a:rPr>
              <a:t>Strong G1↔G2↔G3 correlation</a:t>
            </a:r>
            <a:endParaRPr lang="en-US" sz="900" dirty="0"/>
          </a:p>
        </p:txBody>
      </p:sp>
      <p:sp>
        <p:nvSpPr>
          <p:cNvPr id="27" name="Shape 24"/>
          <p:cNvSpPr/>
          <p:nvPr/>
        </p:nvSpPr>
        <p:spPr>
          <a:xfrm>
            <a:off x="4709160" y="3246120"/>
            <a:ext cx="4160520" cy="1691640"/>
          </a:xfrm>
          <a:prstGeom prst="roundRect">
            <a:avLst>
              <a:gd name="adj" fmla="val 4324"/>
            </a:avLst>
          </a:prstGeom>
          <a:solidFill>
            <a:srgbClr val="0D1B6E"/>
          </a:solidFill>
          <a:ln w="12700">
            <a:solidFill>
              <a:srgbClr val="7B2FFF"/>
            </a:solidFill>
            <a:prstDash val="solid"/>
          </a:ln>
          <a:effectLst>
            <a:outerShdw sx="100000" sy="100000" kx="0" ky="0" algn="bl" rotWithShape="0" blurRad="101600" dist="38100" dir="2700000">
              <a:srgbClr val="000000">
                <a:alpha val="35000"/>
              </a:srgbClr>
            </a:outerShdw>
          </a:effectLst>
        </p:spPr>
      </p:sp>
      <p:sp>
        <p:nvSpPr>
          <p:cNvPr id="28" name="Text 25"/>
          <p:cNvSpPr/>
          <p:nvPr/>
        </p:nvSpPr>
        <p:spPr>
          <a:xfrm>
            <a:off x="4846320" y="3337560"/>
            <a:ext cx="3840480" cy="347472"/>
          </a:xfrm>
          <a:prstGeom prst="rect">
            <a:avLst/>
          </a:prstGeom>
          <a:noFill/>
          <a:ln/>
        </p:spPr>
        <p:txBody>
          <a:bodyPr wrap="square" lIns="0" tIns="0" rIns="0" bIns="0" rtlCol="0" anchor="ctr"/>
          <a:lstStyle/>
          <a:p>
            <a:pPr indent="0" marL="0">
              <a:buNone/>
            </a:pPr>
            <a:r>
              <a:rPr lang="en-US" sz="1300" b="1" dirty="0">
                <a:solidFill>
                  <a:srgbClr val="7B2FFF"/>
                </a:solidFill>
                <a:latin typeface="Arial" pitchFamily="34" charset="0"/>
                <a:ea typeface="Arial" pitchFamily="34" charset="-122"/>
                <a:cs typeface="Arial" pitchFamily="34" charset="-120"/>
              </a:rPr>
              <a:t>Portuguese Language (por)</a:t>
            </a:r>
            <a:endParaRPr lang="en-US" sz="1300" dirty="0"/>
          </a:p>
        </p:txBody>
      </p:sp>
      <p:sp>
        <p:nvSpPr>
          <p:cNvPr id="29" name="Shape 26"/>
          <p:cNvSpPr/>
          <p:nvPr/>
        </p:nvSpPr>
        <p:spPr>
          <a:xfrm>
            <a:off x="4873752" y="3785616"/>
            <a:ext cx="109728" cy="109728"/>
          </a:xfrm>
          <a:prstGeom prst="ellipse">
            <a:avLst/>
          </a:prstGeom>
          <a:solidFill>
            <a:srgbClr val="7B2FFF"/>
          </a:solidFill>
          <a:ln w="12700">
            <a:solidFill>
              <a:srgbClr val="7B2FFF"/>
            </a:solidFill>
            <a:prstDash val="solid"/>
          </a:ln>
        </p:spPr>
      </p:sp>
      <p:sp>
        <p:nvSpPr>
          <p:cNvPr id="30" name="Text 27"/>
          <p:cNvSpPr/>
          <p:nvPr/>
        </p:nvSpPr>
        <p:spPr>
          <a:xfrm>
            <a:off x="5056632" y="3730752"/>
            <a:ext cx="3657600" cy="256032"/>
          </a:xfrm>
          <a:prstGeom prst="rect">
            <a:avLst/>
          </a:prstGeom>
          <a:noFill/>
          <a:ln/>
        </p:spPr>
        <p:txBody>
          <a:bodyPr wrap="square" lIns="0" tIns="0" rIns="0" bIns="0" rtlCol="0" anchor="ctr"/>
          <a:lstStyle/>
          <a:p>
            <a:pPr indent="0" marL="0">
              <a:buNone/>
            </a:pPr>
            <a:r>
              <a:rPr lang="en-US" sz="900" dirty="0">
                <a:solidFill>
                  <a:srgbClr val="C8E6FF"/>
                </a:solidFill>
                <a:latin typeface="Calibri" pitchFamily="34" charset="0"/>
                <a:ea typeface="Calibri" pitchFamily="34" charset="-122"/>
                <a:cs typeface="Calibri" pitchFamily="34" charset="-120"/>
              </a:rPr>
              <a:t>649 student records</a:t>
            </a:r>
            <a:endParaRPr lang="en-US" sz="900" dirty="0"/>
          </a:p>
        </p:txBody>
      </p:sp>
      <p:sp>
        <p:nvSpPr>
          <p:cNvPr id="31" name="Shape 28"/>
          <p:cNvSpPr/>
          <p:nvPr/>
        </p:nvSpPr>
        <p:spPr>
          <a:xfrm>
            <a:off x="4873752" y="4114800"/>
            <a:ext cx="109728" cy="109728"/>
          </a:xfrm>
          <a:prstGeom prst="ellipse">
            <a:avLst/>
          </a:prstGeom>
          <a:solidFill>
            <a:srgbClr val="7B2FFF"/>
          </a:solidFill>
          <a:ln w="12700">
            <a:solidFill>
              <a:srgbClr val="7B2FFF"/>
            </a:solidFill>
            <a:prstDash val="solid"/>
          </a:ln>
        </p:spPr>
      </p:sp>
      <p:sp>
        <p:nvSpPr>
          <p:cNvPr id="32" name="Text 29"/>
          <p:cNvSpPr/>
          <p:nvPr/>
        </p:nvSpPr>
        <p:spPr>
          <a:xfrm>
            <a:off x="5056632" y="4059936"/>
            <a:ext cx="3657600" cy="256032"/>
          </a:xfrm>
          <a:prstGeom prst="rect">
            <a:avLst/>
          </a:prstGeom>
          <a:noFill/>
          <a:ln/>
        </p:spPr>
        <p:txBody>
          <a:bodyPr wrap="square" lIns="0" tIns="0" rIns="0" bIns="0" rtlCol="0" anchor="ctr"/>
          <a:lstStyle/>
          <a:p>
            <a:pPr indent="0" marL="0">
              <a:buNone/>
            </a:pPr>
            <a:r>
              <a:rPr lang="en-US" sz="900" dirty="0">
                <a:solidFill>
                  <a:srgbClr val="C8E6FF"/>
                </a:solidFill>
                <a:latin typeface="Calibri" pitchFamily="34" charset="0"/>
                <a:ea typeface="Calibri" pitchFamily="34" charset="-122"/>
                <a:cs typeface="Calibri" pitchFamily="34" charset="-120"/>
              </a:rPr>
              <a:t>Regression tasks also included</a:t>
            </a:r>
            <a:endParaRPr lang="en-US" sz="900" dirty="0"/>
          </a:p>
        </p:txBody>
      </p:sp>
      <p:sp>
        <p:nvSpPr>
          <p:cNvPr id="33" name="Shape 30"/>
          <p:cNvSpPr/>
          <p:nvPr/>
        </p:nvSpPr>
        <p:spPr>
          <a:xfrm>
            <a:off x="4873752" y="4443984"/>
            <a:ext cx="109728" cy="109728"/>
          </a:xfrm>
          <a:prstGeom prst="ellipse">
            <a:avLst/>
          </a:prstGeom>
          <a:solidFill>
            <a:srgbClr val="7B2FFF"/>
          </a:solidFill>
          <a:ln w="12700">
            <a:solidFill>
              <a:srgbClr val="7B2FFF"/>
            </a:solidFill>
            <a:prstDash val="solid"/>
          </a:ln>
        </p:spPr>
      </p:sp>
      <p:sp>
        <p:nvSpPr>
          <p:cNvPr id="34" name="Text 31"/>
          <p:cNvSpPr/>
          <p:nvPr/>
        </p:nvSpPr>
        <p:spPr>
          <a:xfrm>
            <a:off x="5056632" y="4389120"/>
            <a:ext cx="3657600" cy="256032"/>
          </a:xfrm>
          <a:prstGeom prst="rect">
            <a:avLst/>
          </a:prstGeom>
          <a:noFill/>
          <a:ln/>
        </p:spPr>
        <p:txBody>
          <a:bodyPr wrap="square" lIns="0" tIns="0" rIns="0" bIns="0" rtlCol="0" anchor="ctr"/>
          <a:lstStyle/>
          <a:p>
            <a:pPr indent="0" marL="0">
              <a:buNone/>
            </a:pPr>
            <a:r>
              <a:rPr lang="en-US" sz="900" dirty="0">
                <a:solidFill>
                  <a:srgbClr val="C8E6FF"/>
                </a:solidFill>
                <a:latin typeface="Calibri" pitchFamily="34" charset="0"/>
                <a:ea typeface="Calibri" pitchFamily="34" charset="-122"/>
                <a:cs typeface="Calibri" pitchFamily="34" charset="-120"/>
              </a:rPr>
              <a:t>G3 is the target output variable</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50A30"/>
        </a:solidFill>
      </p:bgPr>
    </p:bg>
    <p:spTree>
      <p:nvGrpSpPr>
        <p:cNvPr id="1" name=""/>
        <p:cNvGrpSpPr/>
        <p:nvPr/>
      </p:nvGrpSpPr>
      <p:grpSpPr>
        <a:xfrm>
          <a:off x="0" y="0"/>
          <a:ext cx="0" cy="0"/>
          <a:chOff x="0" y="0"/>
          <a:chExt cx="0" cy="0"/>
        </a:xfrm>
      </p:grpSpPr>
      <p:sp>
        <p:nvSpPr>
          <p:cNvPr id="2" name="Shape 0"/>
          <p:cNvSpPr/>
          <p:nvPr/>
        </p:nvSpPr>
        <p:spPr>
          <a:xfrm>
            <a:off x="-914400" y="2743200"/>
            <a:ext cx="3657600" cy="3657600"/>
          </a:xfrm>
          <a:prstGeom prst="ellipse">
            <a:avLst/>
          </a:prstGeom>
          <a:solidFill>
            <a:srgbClr val="7B2FFF">
              <a:alpha val="15000"/>
            </a:srgbClr>
          </a:solidFill>
          <a:ln w="12700">
            <a:solidFill>
              <a:srgbClr val="7B2FFF">
                <a:alpha val="15000"/>
              </a:srgbClr>
            </a:solidFill>
            <a:prstDash val="solid"/>
          </a:ln>
        </p:spPr>
      </p:sp>
      <p:sp>
        <p:nvSpPr>
          <p:cNvPr id="3" name="Text 1"/>
          <p:cNvSpPr/>
          <p:nvPr/>
        </p:nvSpPr>
        <p:spPr>
          <a:xfrm>
            <a:off x="320040" y="164592"/>
            <a:ext cx="8503920" cy="50292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DATASET OVERVIEW</a:t>
            </a:r>
            <a:endParaRPr lang="en-US" sz="2400" dirty="0"/>
          </a:p>
        </p:txBody>
      </p:sp>
      <p:sp>
        <p:nvSpPr>
          <p:cNvPr id="4" name="Shape 2"/>
          <p:cNvSpPr/>
          <p:nvPr/>
        </p:nvSpPr>
        <p:spPr>
          <a:xfrm>
            <a:off x="2926080" y="713232"/>
            <a:ext cx="3291840" cy="0"/>
          </a:xfrm>
          <a:prstGeom prst="line">
            <a:avLst/>
          </a:prstGeom>
          <a:noFill/>
          <a:ln w="25400">
            <a:solidFill>
              <a:srgbClr val="00C8FF"/>
            </a:solidFill>
            <a:prstDash val="solid"/>
          </a:ln>
        </p:spPr>
      </p:sp>
      <p:sp>
        <p:nvSpPr>
          <p:cNvPr id="5" name="Shape 3"/>
          <p:cNvSpPr/>
          <p:nvPr/>
        </p:nvSpPr>
        <p:spPr>
          <a:xfrm>
            <a:off x="274320" y="868680"/>
            <a:ext cx="2468880" cy="1920240"/>
          </a:xfrm>
          <a:prstGeom prst="roundRect">
            <a:avLst>
              <a:gd name="adj" fmla="val 3810"/>
            </a:avLst>
          </a:prstGeom>
          <a:solidFill>
            <a:srgbClr val="0D1B5E"/>
          </a:solidFill>
          <a:ln w="12700">
            <a:solidFill>
              <a:srgbClr val="00C8FF"/>
            </a:solidFill>
            <a:prstDash val="solid"/>
          </a:ln>
          <a:effectLst>
            <a:outerShdw sx="100000" sy="100000" kx="0" ky="0" algn="bl" rotWithShape="0" blurRad="101600" dist="38100" dir="2700000">
              <a:srgbClr val="000000">
                <a:alpha val="35000"/>
              </a:srgbClr>
            </a:outerShdw>
          </a:effectLst>
        </p:spPr>
      </p:sp>
      <p:sp>
        <p:nvSpPr>
          <p:cNvPr id="6" name="Text 4"/>
          <p:cNvSpPr/>
          <p:nvPr/>
        </p:nvSpPr>
        <p:spPr>
          <a:xfrm>
            <a:off x="384048" y="914400"/>
            <a:ext cx="2286000" cy="320040"/>
          </a:xfrm>
          <a:prstGeom prst="rect">
            <a:avLst/>
          </a:prstGeom>
          <a:noFill/>
          <a:ln/>
        </p:spPr>
        <p:txBody>
          <a:bodyPr wrap="square" lIns="0" tIns="0" rIns="0" bIns="0" rtlCol="0" anchor="ctr"/>
          <a:lstStyle/>
          <a:p>
            <a:pPr indent="0" marL="0">
              <a:buNone/>
            </a:pPr>
            <a:r>
              <a:rPr lang="en-US" sz="1000" b="1" dirty="0">
                <a:solidFill>
                  <a:srgbClr val="00C8FF"/>
                </a:solidFill>
                <a:latin typeface="Arial" pitchFamily="34" charset="0"/>
                <a:ea typeface="Arial" pitchFamily="34" charset="-122"/>
                <a:cs typeface="Arial" pitchFamily="34" charset="-120"/>
              </a:rPr>
              <a:t>Dataset Information</a:t>
            </a:r>
            <a:endParaRPr lang="en-US" sz="1000" dirty="0"/>
          </a:p>
        </p:txBody>
      </p:sp>
      <p:sp>
        <p:nvSpPr>
          <p:cNvPr id="7" name="Text 5"/>
          <p:cNvSpPr/>
          <p:nvPr/>
        </p:nvSpPr>
        <p:spPr>
          <a:xfrm>
            <a:off x="384048" y="1298448"/>
            <a:ext cx="777240" cy="228600"/>
          </a:xfrm>
          <a:prstGeom prst="rect">
            <a:avLst/>
          </a:prstGeom>
          <a:noFill/>
          <a:ln/>
        </p:spPr>
        <p:txBody>
          <a:bodyPr wrap="square" lIns="0" tIns="0" rIns="0" bIns="0" rtlCol="0" anchor="ctr"/>
          <a:lstStyle/>
          <a:p>
            <a:pPr indent="0" marL="0">
              <a:buNone/>
            </a:pPr>
            <a:r>
              <a:rPr lang="en-US" sz="850" b="1" dirty="0">
                <a:solidFill>
                  <a:srgbClr val="00C8FF"/>
                </a:solidFill>
                <a:latin typeface="Calibri" pitchFamily="34" charset="0"/>
                <a:ea typeface="Calibri" pitchFamily="34" charset="-122"/>
                <a:cs typeface="Calibri" pitchFamily="34" charset="-120"/>
              </a:rPr>
              <a:t>Domain:</a:t>
            </a:r>
            <a:endParaRPr lang="en-US" sz="850" dirty="0"/>
          </a:p>
        </p:txBody>
      </p:sp>
      <p:sp>
        <p:nvSpPr>
          <p:cNvPr id="8" name="Text 6"/>
          <p:cNvSpPr/>
          <p:nvPr/>
        </p:nvSpPr>
        <p:spPr>
          <a:xfrm>
            <a:off x="1170432" y="1298448"/>
            <a:ext cx="1463040" cy="228600"/>
          </a:xfrm>
          <a:prstGeom prst="rect">
            <a:avLst/>
          </a:prstGeom>
          <a:noFill/>
          <a:ln/>
        </p:spPr>
        <p:txBody>
          <a:bodyPr wrap="square" lIns="0" tIns="0" rIns="0" bIns="0" rtlCol="0" anchor="ctr"/>
          <a:lstStyle/>
          <a:p>
            <a:pPr indent="0" marL="0">
              <a:buNone/>
            </a:pPr>
            <a:r>
              <a:rPr lang="en-US" sz="850" dirty="0">
                <a:solidFill>
                  <a:srgbClr val="C8E6FF"/>
                </a:solidFill>
                <a:latin typeface="Calibri" pitchFamily="34" charset="0"/>
                <a:ea typeface="Calibri" pitchFamily="34" charset="-122"/>
                <a:cs typeface="Calibri" pitchFamily="34" charset="-120"/>
              </a:rPr>
              <a:t>Social Science</a:t>
            </a:r>
            <a:endParaRPr lang="en-US" sz="850" dirty="0"/>
          </a:p>
        </p:txBody>
      </p:sp>
      <p:sp>
        <p:nvSpPr>
          <p:cNvPr id="9" name="Text 7"/>
          <p:cNvSpPr/>
          <p:nvPr/>
        </p:nvSpPr>
        <p:spPr>
          <a:xfrm>
            <a:off x="384048" y="1572768"/>
            <a:ext cx="777240" cy="228600"/>
          </a:xfrm>
          <a:prstGeom prst="rect">
            <a:avLst/>
          </a:prstGeom>
          <a:noFill/>
          <a:ln/>
        </p:spPr>
        <p:txBody>
          <a:bodyPr wrap="square" lIns="0" tIns="0" rIns="0" bIns="0" rtlCol="0" anchor="ctr"/>
          <a:lstStyle/>
          <a:p>
            <a:pPr indent="0" marL="0">
              <a:buNone/>
            </a:pPr>
            <a:r>
              <a:rPr lang="en-US" sz="850" b="1" dirty="0">
                <a:solidFill>
                  <a:srgbClr val="00C8FF"/>
                </a:solidFill>
                <a:latin typeface="Calibri" pitchFamily="34" charset="0"/>
                <a:ea typeface="Calibri" pitchFamily="34" charset="-122"/>
                <a:cs typeface="Calibri" pitchFamily="34" charset="-120"/>
              </a:rPr>
              <a:t>Source:</a:t>
            </a:r>
            <a:endParaRPr lang="en-US" sz="850" dirty="0"/>
          </a:p>
        </p:txBody>
      </p:sp>
      <p:sp>
        <p:nvSpPr>
          <p:cNvPr id="10" name="Text 8"/>
          <p:cNvSpPr/>
          <p:nvPr/>
        </p:nvSpPr>
        <p:spPr>
          <a:xfrm>
            <a:off x="1170432" y="1572768"/>
            <a:ext cx="1463040" cy="228600"/>
          </a:xfrm>
          <a:prstGeom prst="rect">
            <a:avLst/>
          </a:prstGeom>
          <a:noFill/>
          <a:ln/>
        </p:spPr>
        <p:txBody>
          <a:bodyPr wrap="square" lIns="0" tIns="0" rIns="0" bIns="0" rtlCol="0" anchor="ctr"/>
          <a:lstStyle/>
          <a:p>
            <a:pPr indent="0" marL="0">
              <a:buNone/>
            </a:pPr>
            <a:r>
              <a:rPr lang="en-US" sz="850" dirty="0">
                <a:solidFill>
                  <a:srgbClr val="C8E6FF"/>
                </a:solidFill>
                <a:latin typeface="Calibri" pitchFamily="34" charset="0"/>
                <a:ea typeface="Calibri" pitchFamily="34" charset="-122"/>
                <a:cs typeface="Calibri" pitchFamily="34" charset="-120"/>
              </a:rPr>
              <a:t>UCI ML Repository</a:t>
            </a:r>
            <a:endParaRPr lang="en-US" sz="850" dirty="0"/>
          </a:p>
        </p:txBody>
      </p:sp>
      <p:sp>
        <p:nvSpPr>
          <p:cNvPr id="11" name="Text 9"/>
          <p:cNvSpPr/>
          <p:nvPr/>
        </p:nvSpPr>
        <p:spPr>
          <a:xfrm>
            <a:off x="384048" y="1847088"/>
            <a:ext cx="777240" cy="228600"/>
          </a:xfrm>
          <a:prstGeom prst="rect">
            <a:avLst/>
          </a:prstGeom>
          <a:noFill/>
          <a:ln/>
        </p:spPr>
        <p:txBody>
          <a:bodyPr wrap="square" lIns="0" tIns="0" rIns="0" bIns="0" rtlCol="0" anchor="ctr"/>
          <a:lstStyle/>
          <a:p>
            <a:pPr indent="0" marL="0">
              <a:buNone/>
            </a:pPr>
            <a:r>
              <a:rPr lang="en-US" sz="850" b="1" dirty="0">
                <a:solidFill>
                  <a:srgbClr val="00C8FF"/>
                </a:solidFill>
                <a:latin typeface="Calibri" pitchFamily="34" charset="0"/>
                <a:ea typeface="Calibri" pitchFamily="34" charset="-122"/>
                <a:cs typeface="Calibri" pitchFamily="34" charset="-120"/>
              </a:rPr>
              <a:t>Format:</a:t>
            </a:r>
            <a:endParaRPr lang="en-US" sz="850" dirty="0"/>
          </a:p>
        </p:txBody>
      </p:sp>
      <p:sp>
        <p:nvSpPr>
          <p:cNvPr id="12" name="Text 10"/>
          <p:cNvSpPr/>
          <p:nvPr/>
        </p:nvSpPr>
        <p:spPr>
          <a:xfrm>
            <a:off x="1170432" y="1847088"/>
            <a:ext cx="1463040" cy="228600"/>
          </a:xfrm>
          <a:prstGeom prst="rect">
            <a:avLst/>
          </a:prstGeom>
          <a:noFill/>
          <a:ln/>
        </p:spPr>
        <p:txBody>
          <a:bodyPr wrap="square" lIns="0" tIns="0" rIns="0" bIns="0" rtlCol="0" anchor="ctr"/>
          <a:lstStyle/>
          <a:p>
            <a:pPr indent="0" marL="0">
              <a:buNone/>
            </a:pPr>
            <a:r>
              <a:rPr lang="en-US" sz="850" dirty="0">
                <a:solidFill>
                  <a:srgbClr val="C8E6FF"/>
                </a:solidFill>
                <a:latin typeface="Calibri" pitchFamily="34" charset="0"/>
                <a:ea typeface="Calibri" pitchFamily="34" charset="-122"/>
                <a:cs typeface="Calibri" pitchFamily="34" charset="-120"/>
              </a:rPr>
              <a:t>CSV (mat + por)</a:t>
            </a:r>
            <a:endParaRPr lang="en-US" sz="850" dirty="0"/>
          </a:p>
        </p:txBody>
      </p:sp>
      <p:sp>
        <p:nvSpPr>
          <p:cNvPr id="13" name="Text 11"/>
          <p:cNvSpPr/>
          <p:nvPr/>
        </p:nvSpPr>
        <p:spPr>
          <a:xfrm>
            <a:off x="384048" y="2121408"/>
            <a:ext cx="777240" cy="228600"/>
          </a:xfrm>
          <a:prstGeom prst="rect">
            <a:avLst/>
          </a:prstGeom>
          <a:noFill/>
          <a:ln/>
        </p:spPr>
        <p:txBody>
          <a:bodyPr wrap="square" lIns="0" tIns="0" rIns="0" bIns="0" rtlCol="0" anchor="ctr"/>
          <a:lstStyle/>
          <a:p>
            <a:pPr indent="0" marL="0">
              <a:buNone/>
            </a:pPr>
            <a:r>
              <a:rPr lang="en-US" sz="850" b="1" dirty="0">
                <a:solidFill>
                  <a:srgbClr val="00C8FF"/>
                </a:solidFill>
                <a:latin typeface="Calibri" pitchFamily="34" charset="0"/>
                <a:ea typeface="Calibri" pitchFamily="34" charset="-122"/>
                <a:cs typeface="Calibri" pitchFamily="34" charset="-120"/>
              </a:rPr>
              <a:t>License:</a:t>
            </a:r>
            <a:endParaRPr lang="en-US" sz="850" dirty="0"/>
          </a:p>
        </p:txBody>
      </p:sp>
      <p:sp>
        <p:nvSpPr>
          <p:cNvPr id="14" name="Text 12"/>
          <p:cNvSpPr/>
          <p:nvPr/>
        </p:nvSpPr>
        <p:spPr>
          <a:xfrm>
            <a:off x="1170432" y="2121408"/>
            <a:ext cx="1463040" cy="228600"/>
          </a:xfrm>
          <a:prstGeom prst="rect">
            <a:avLst/>
          </a:prstGeom>
          <a:noFill/>
          <a:ln/>
        </p:spPr>
        <p:txBody>
          <a:bodyPr wrap="square" lIns="0" tIns="0" rIns="0" bIns="0" rtlCol="0" anchor="ctr"/>
          <a:lstStyle/>
          <a:p>
            <a:pPr indent="0" marL="0">
              <a:buNone/>
            </a:pPr>
            <a:r>
              <a:rPr lang="en-US" sz="850" dirty="0">
                <a:solidFill>
                  <a:srgbClr val="C8E6FF"/>
                </a:solidFill>
                <a:latin typeface="Calibri" pitchFamily="34" charset="0"/>
                <a:ea typeface="Calibri" pitchFamily="34" charset="-122"/>
                <a:cs typeface="Calibri" pitchFamily="34" charset="-120"/>
              </a:rPr>
              <a:t>CC BY 4.0</a:t>
            </a:r>
            <a:endParaRPr lang="en-US" sz="850" dirty="0"/>
          </a:p>
        </p:txBody>
      </p:sp>
      <p:sp>
        <p:nvSpPr>
          <p:cNvPr id="15" name="Text 13"/>
          <p:cNvSpPr/>
          <p:nvPr/>
        </p:nvSpPr>
        <p:spPr>
          <a:xfrm>
            <a:off x="384048" y="2395728"/>
            <a:ext cx="777240" cy="228600"/>
          </a:xfrm>
          <a:prstGeom prst="rect">
            <a:avLst/>
          </a:prstGeom>
          <a:noFill/>
          <a:ln/>
        </p:spPr>
        <p:txBody>
          <a:bodyPr wrap="square" lIns="0" tIns="0" rIns="0" bIns="0" rtlCol="0" anchor="ctr"/>
          <a:lstStyle/>
          <a:p>
            <a:pPr indent="0" marL="0">
              <a:buNone/>
            </a:pPr>
            <a:r>
              <a:rPr lang="en-US" sz="850" b="1" dirty="0">
                <a:solidFill>
                  <a:srgbClr val="00C8FF"/>
                </a:solidFill>
                <a:latin typeface="Calibri" pitchFamily="34" charset="0"/>
                <a:ea typeface="Calibri" pitchFamily="34" charset="-122"/>
                <a:cs typeface="Calibri" pitchFamily="34" charset="-120"/>
              </a:rPr>
              <a:t>Year:</a:t>
            </a:r>
            <a:endParaRPr lang="en-US" sz="850" dirty="0"/>
          </a:p>
        </p:txBody>
      </p:sp>
      <p:sp>
        <p:nvSpPr>
          <p:cNvPr id="16" name="Text 14"/>
          <p:cNvSpPr/>
          <p:nvPr/>
        </p:nvSpPr>
        <p:spPr>
          <a:xfrm>
            <a:off x="1170432" y="2395728"/>
            <a:ext cx="1463040" cy="228600"/>
          </a:xfrm>
          <a:prstGeom prst="rect">
            <a:avLst/>
          </a:prstGeom>
          <a:noFill/>
          <a:ln/>
        </p:spPr>
        <p:txBody>
          <a:bodyPr wrap="square" lIns="0" tIns="0" rIns="0" bIns="0" rtlCol="0" anchor="ctr"/>
          <a:lstStyle/>
          <a:p>
            <a:pPr indent="0" marL="0">
              <a:buNone/>
            </a:pPr>
            <a:r>
              <a:rPr lang="en-US" sz="850" dirty="0">
                <a:solidFill>
                  <a:srgbClr val="C8E6FF"/>
                </a:solidFill>
                <a:latin typeface="Calibri" pitchFamily="34" charset="0"/>
                <a:ea typeface="Calibri" pitchFamily="34" charset="-122"/>
                <a:cs typeface="Calibri" pitchFamily="34" charset="-120"/>
              </a:rPr>
              <a:t>2008</a:t>
            </a:r>
            <a:endParaRPr lang="en-US" sz="850" dirty="0"/>
          </a:p>
        </p:txBody>
      </p:sp>
      <p:sp>
        <p:nvSpPr>
          <p:cNvPr id="17" name="Shape 15"/>
          <p:cNvSpPr/>
          <p:nvPr/>
        </p:nvSpPr>
        <p:spPr>
          <a:xfrm>
            <a:off x="2926080" y="868680"/>
            <a:ext cx="1371600" cy="914400"/>
          </a:xfrm>
          <a:prstGeom prst="roundRect">
            <a:avLst>
              <a:gd name="adj" fmla="val 8000"/>
            </a:avLst>
          </a:prstGeom>
          <a:solidFill>
            <a:srgbClr val="0D1B5E"/>
          </a:solidFill>
          <a:ln w="12700">
            <a:solidFill>
              <a:srgbClr val="00C8FF"/>
            </a:solidFill>
            <a:prstDash val="solid"/>
          </a:ln>
          <a:effectLst>
            <a:outerShdw sx="100000" sy="100000" kx="0" ky="0" algn="bl" rotWithShape="0" blurRad="101600" dist="38100" dir="2700000">
              <a:srgbClr val="000000">
                <a:alpha val="35000"/>
              </a:srgbClr>
            </a:outerShdw>
          </a:effectLst>
        </p:spPr>
      </p:sp>
      <p:sp>
        <p:nvSpPr>
          <p:cNvPr id="18" name="Text 16"/>
          <p:cNvSpPr/>
          <p:nvPr/>
        </p:nvSpPr>
        <p:spPr>
          <a:xfrm>
            <a:off x="2926080" y="914400"/>
            <a:ext cx="1371600" cy="475488"/>
          </a:xfrm>
          <a:prstGeom prst="rect">
            <a:avLst/>
          </a:prstGeom>
          <a:noFill/>
          <a:ln/>
        </p:spPr>
        <p:txBody>
          <a:bodyPr wrap="square" lIns="0" tIns="0" rIns="0" bIns="0" rtlCol="0" anchor="ctr"/>
          <a:lstStyle/>
          <a:p>
            <a:pPr algn="ctr" indent="0" marL="0">
              <a:buNone/>
            </a:pPr>
            <a:r>
              <a:rPr lang="en-US" sz="2400" b="1" dirty="0">
                <a:solidFill>
                  <a:srgbClr val="00C8FF"/>
                </a:solidFill>
                <a:latin typeface="Arial" pitchFamily="34" charset="0"/>
                <a:ea typeface="Arial" pitchFamily="34" charset="-122"/>
                <a:cs typeface="Arial" pitchFamily="34" charset="-120"/>
              </a:rPr>
              <a:t>649</a:t>
            </a:r>
            <a:endParaRPr lang="en-US" sz="2400" dirty="0"/>
          </a:p>
        </p:txBody>
      </p:sp>
      <p:sp>
        <p:nvSpPr>
          <p:cNvPr id="19" name="Text 17"/>
          <p:cNvSpPr/>
          <p:nvPr/>
        </p:nvSpPr>
        <p:spPr>
          <a:xfrm>
            <a:off x="2926080" y="1417320"/>
            <a:ext cx="1371600" cy="292608"/>
          </a:xfrm>
          <a:prstGeom prst="rect">
            <a:avLst/>
          </a:prstGeom>
          <a:noFill/>
          <a:ln/>
        </p:spPr>
        <p:txBody>
          <a:bodyPr wrap="square" lIns="0" tIns="0" rIns="0" bIns="0" rtlCol="0" anchor="ctr"/>
          <a:lstStyle/>
          <a:p>
            <a:pPr algn="ctr" indent="0" marL="0">
              <a:buNone/>
            </a:pPr>
            <a:r>
              <a:rPr lang="en-US" sz="850" dirty="0">
                <a:solidFill>
                  <a:srgbClr val="C8E6FF"/>
                </a:solidFill>
                <a:latin typeface="Calibri" pitchFamily="34" charset="0"/>
                <a:ea typeface="Calibri" pitchFamily="34" charset="-122"/>
                <a:cs typeface="Calibri" pitchFamily="34" charset="-120"/>
              </a:rPr>
              <a:t>Total Records</a:t>
            </a:r>
            <a:endParaRPr lang="en-US" sz="850" dirty="0"/>
          </a:p>
        </p:txBody>
      </p:sp>
      <p:sp>
        <p:nvSpPr>
          <p:cNvPr id="20" name="Shape 18"/>
          <p:cNvSpPr/>
          <p:nvPr/>
        </p:nvSpPr>
        <p:spPr>
          <a:xfrm>
            <a:off x="4462272" y="868680"/>
            <a:ext cx="1371600" cy="914400"/>
          </a:xfrm>
          <a:prstGeom prst="roundRect">
            <a:avLst>
              <a:gd name="adj" fmla="val 8000"/>
            </a:avLst>
          </a:prstGeom>
          <a:solidFill>
            <a:srgbClr val="0D1B5E"/>
          </a:solidFill>
          <a:ln w="12700">
            <a:solidFill>
              <a:srgbClr val="7B2FFF"/>
            </a:solidFill>
            <a:prstDash val="solid"/>
          </a:ln>
          <a:effectLst>
            <a:outerShdw sx="100000" sy="100000" kx="0" ky="0" algn="bl" rotWithShape="0" blurRad="101600" dist="38100" dir="2700000">
              <a:srgbClr val="000000">
                <a:alpha val="35000"/>
              </a:srgbClr>
            </a:outerShdw>
          </a:effectLst>
        </p:spPr>
      </p:sp>
      <p:sp>
        <p:nvSpPr>
          <p:cNvPr id="21" name="Text 19"/>
          <p:cNvSpPr/>
          <p:nvPr/>
        </p:nvSpPr>
        <p:spPr>
          <a:xfrm>
            <a:off x="4462272" y="914400"/>
            <a:ext cx="1371600" cy="475488"/>
          </a:xfrm>
          <a:prstGeom prst="rect">
            <a:avLst/>
          </a:prstGeom>
          <a:noFill/>
          <a:ln/>
        </p:spPr>
        <p:txBody>
          <a:bodyPr wrap="square" lIns="0" tIns="0" rIns="0" bIns="0" rtlCol="0" anchor="ctr"/>
          <a:lstStyle/>
          <a:p>
            <a:pPr algn="ctr" indent="0" marL="0">
              <a:buNone/>
            </a:pPr>
            <a:r>
              <a:rPr lang="en-US" sz="2400" b="1" dirty="0">
                <a:solidFill>
                  <a:srgbClr val="7B2FFF"/>
                </a:solidFill>
                <a:latin typeface="Arial" pitchFamily="34" charset="0"/>
                <a:ea typeface="Arial" pitchFamily="34" charset="-122"/>
                <a:cs typeface="Arial" pitchFamily="34" charset="-120"/>
              </a:rPr>
              <a:t>395</a:t>
            </a:r>
            <a:endParaRPr lang="en-US" sz="2400" dirty="0"/>
          </a:p>
        </p:txBody>
      </p:sp>
      <p:sp>
        <p:nvSpPr>
          <p:cNvPr id="22" name="Text 20"/>
          <p:cNvSpPr/>
          <p:nvPr/>
        </p:nvSpPr>
        <p:spPr>
          <a:xfrm>
            <a:off x="4462272" y="1417320"/>
            <a:ext cx="1371600" cy="292608"/>
          </a:xfrm>
          <a:prstGeom prst="rect">
            <a:avLst/>
          </a:prstGeom>
          <a:noFill/>
          <a:ln/>
        </p:spPr>
        <p:txBody>
          <a:bodyPr wrap="square" lIns="0" tIns="0" rIns="0" bIns="0" rtlCol="0" anchor="ctr"/>
          <a:lstStyle/>
          <a:p>
            <a:pPr algn="ctr" indent="0" marL="0">
              <a:buNone/>
            </a:pPr>
            <a:r>
              <a:rPr lang="en-US" sz="850" dirty="0">
                <a:solidFill>
                  <a:srgbClr val="C8E6FF"/>
                </a:solidFill>
                <a:latin typeface="Calibri" pitchFamily="34" charset="0"/>
                <a:ea typeface="Calibri" pitchFamily="34" charset="-122"/>
                <a:cs typeface="Calibri" pitchFamily="34" charset="-120"/>
              </a:rPr>
              <a:t>Math Students</a:t>
            </a:r>
            <a:endParaRPr lang="en-US" sz="850" dirty="0"/>
          </a:p>
        </p:txBody>
      </p:sp>
      <p:sp>
        <p:nvSpPr>
          <p:cNvPr id="23" name="Shape 21"/>
          <p:cNvSpPr/>
          <p:nvPr/>
        </p:nvSpPr>
        <p:spPr>
          <a:xfrm>
            <a:off x="5998464" y="868680"/>
            <a:ext cx="1371600" cy="914400"/>
          </a:xfrm>
          <a:prstGeom prst="roundRect">
            <a:avLst>
              <a:gd name="adj" fmla="val 8000"/>
            </a:avLst>
          </a:prstGeom>
          <a:solidFill>
            <a:srgbClr val="0D1B5E"/>
          </a:solidFill>
          <a:ln w="12700">
            <a:solidFill>
              <a:srgbClr val="00E676"/>
            </a:solidFill>
            <a:prstDash val="solid"/>
          </a:ln>
          <a:effectLst>
            <a:outerShdw sx="100000" sy="100000" kx="0" ky="0" algn="bl" rotWithShape="0" blurRad="101600" dist="38100" dir="2700000">
              <a:srgbClr val="000000">
                <a:alpha val="35000"/>
              </a:srgbClr>
            </a:outerShdw>
          </a:effectLst>
        </p:spPr>
      </p:sp>
      <p:sp>
        <p:nvSpPr>
          <p:cNvPr id="24" name="Text 22"/>
          <p:cNvSpPr/>
          <p:nvPr/>
        </p:nvSpPr>
        <p:spPr>
          <a:xfrm>
            <a:off x="5998464" y="914400"/>
            <a:ext cx="1371600" cy="475488"/>
          </a:xfrm>
          <a:prstGeom prst="rect">
            <a:avLst/>
          </a:prstGeom>
          <a:noFill/>
          <a:ln/>
        </p:spPr>
        <p:txBody>
          <a:bodyPr wrap="square" lIns="0" tIns="0" rIns="0" bIns="0" rtlCol="0" anchor="ctr"/>
          <a:lstStyle/>
          <a:p>
            <a:pPr algn="ctr" indent="0" marL="0">
              <a:buNone/>
            </a:pPr>
            <a:r>
              <a:rPr lang="en-US" sz="2400" b="1" dirty="0">
                <a:solidFill>
                  <a:srgbClr val="00E676"/>
                </a:solidFill>
                <a:latin typeface="Arial" pitchFamily="34" charset="0"/>
                <a:ea typeface="Arial" pitchFamily="34" charset="-122"/>
                <a:cs typeface="Arial" pitchFamily="34" charset="-120"/>
              </a:rPr>
              <a:t>649</a:t>
            </a:r>
            <a:endParaRPr lang="en-US" sz="2400" dirty="0"/>
          </a:p>
        </p:txBody>
      </p:sp>
      <p:sp>
        <p:nvSpPr>
          <p:cNvPr id="25" name="Text 23"/>
          <p:cNvSpPr/>
          <p:nvPr/>
        </p:nvSpPr>
        <p:spPr>
          <a:xfrm>
            <a:off x="5998464" y="1417320"/>
            <a:ext cx="1371600" cy="292608"/>
          </a:xfrm>
          <a:prstGeom prst="rect">
            <a:avLst/>
          </a:prstGeom>
          <a:noFill/>
          <a:ln/>
        </p:spPr>
        <p:txBody>
          <a:bodyPr wrap="square" lIns="0" tIns="0" rIns="0" bIns="0" rtlCol="0" anchor="ctr"/>
          <a:lstStyle/>
          <a:p>
            <a:pPr algn="ctr" indent="0" marL="0">
              <a:buNone/>
            </a:pPr>
            <a:r>
              <a:rPr lang="en-US" sz="850" dirty="0">
                <a:solidFill>
                  <a:srgbClr val="C8E6FF"/>
                </a:solidFill>
                <a:latin typeface="Calibri" pitchFamily="34" charset="0"/>
                <a:ea typeface="Calibri" pitchFamily="34" charset="-122"/>
                <a:cs typeface="Calibri" pitchFamily="34" charset="-120"/>
              </a:rPr>
              <a:t>Portuguese</a:t>
            </a:r>
            <a:endParaRPr lang="en-US" sz="850" dirty="0"/>
          </a:p>
        </p:txBody>
      </p:sp>
      <p:sp>
        <p:nvSpPr>
          <p:cNvPr id="26" name="Shape 24"/>
          <p:cNvSpPr/>
          <p:nvPr/>
        </p:nvSpPr>
        <p:spPr>
          <a:xfrm>
            <a:off x="7534656" y="868680"/>
            <a:ext cx="1371600" cy="914400"/>
          </a:xfrm>
          <a:prstGeom prst="roundRect">
            <a:avLst>
              <a:gd name="adj" fmla="val 8000"/>
            </a:avLst>
          </a:prstGeom>
          <a:solidFill>
            <a:srgbClr val="0D1B5E"/>
          </a:solidFill>
          <a:ln w="12700">
            <a:solidFill>
              <a:srgbClr val="FFD700"/>
            </a:solidFill>
            <a:prstDash val="solid"/>
          </a:ln>
          <a:effectLst>
            <a:outerShdw sx="100000" sy="100000" kx="0" ky="0" algn="bl" rotWithShape="0" blurRad="101600" dist="38100" dir="2700000">
              <a:srgbClr val="000000">
                <a:alpha val="35000"/>
              </a:srgbClr>
            </a:outerShdw>
          </a:effectLst>
        </p:spPr>
      </p:sp>
      <p:sp>
        <p:nvSpPr>
          <p:cNvPr id="27" name="Text 25"/>
          <p:cNvSpPr/>
          <p:nvPr/>
        </p:nvSpPr>
        <p:spPr>
          <a:xfrm>
            <a:off x="7534656" y="914400"/>
            <a:ext cx="1371600" cy="475488"/>
          </a:xfrm>
          <a:prstGeom prst="rect">
            <a:avLst/>
          </a:prstGeom>
          <a:noFill/>
          <a:ln/>
        </p:spPr>
        <p:txBody>
          <a:bodyPr wrap="square" lIns="0" tIns="0" rIns="0" bIns="0" rtlCol="0" anchor="ctr"/>
          <a:lstStyle/>
          <a:p>
            <a:pPr algn="ctr" indent="0" marL="0">
              <a:buNone/>
            </a:pPr>
            <a:r>
              <a:rPr lang="en-US" sz="2400" b="1" dirty="0">
                <a:solidFill>
                  <a:srgbClr val="FFD700"/>
                </a:solidFill>
                <a:latin typeface="Arial" pitchFamily="34" charset="0"/>
                <a:ea typeface="Arial" pitchFamily="34" charset="-122"/>
                <a:cs typeface="Arial" pitchFamily="34" charset="-120"/>
              </a:rPr>
              <a:t>30</a:t>
            </a:r>
            <a:endParaRPr lang="en-US" sz="2400" dirty="0"/>
          </a:p>
        </p:txBody>
      </p:sp>
      <p:sp>
        <p:nvSpPr>
          <p:cNvPr id="28" name="Text 26"/>
          <p:cNvSpPr/>
          <p:nvPr/>
        </p:nvSpPr>
        <p:spPr>
          <a:xfrm>
            <a:off x="7534656" y="1417320"/>
            <a:ext cx="1371600" cy="292608"/>
          </a:xfrm>
          <a:prstGeom prst="rect">
            <a:avLst/>
          </a:prstGeom>
          <a:noFill/>
          <a:ln/>
        </p:spPr>
        <p:txBody>
          <a:bodyPr wrap="square" lIns="0" tIns="0" rIns="0" bIns="0" rtlCol="0" anchor="ctr"/>
          <a:lstStyle/>
          <a:p>
            <a:pPr algn="ctr" indent="0" marL="0">
              <a:buNone/>
            </a:pPr>
            <a:r>
              <a:rPr lang="en-US" sz="850" dirty="0">
                <a:solidFill>
                  <a:srgbClr val="C8E6FF"/>
                </a:solidFill>
                <a:latin typeface="Calibri" pitchFamily="34" charset="0"/>
                <a:ea typeface="Calibri" pitchFamily="34" charset="-122"/>
                <a:cs typeface="Calibri" pitchFamily="34" charset="-120"/>
              </a:rPr>
              <a:t>Features</a:t>
            </a:r>
            <a:endParaRPr lang="en-US" sz="850" dirty="0"/>
          </a:p>
        </p:txBody>
      </p:sp>
      <p:sp>
        <p:nvSpPr>
          <p:cNvPr id="29" name="Shape 27"/>
          <p:cNvSpPr/>
          <p:nvPr/>
        </p:nvSpPr>
        <p:spPr>
          <a:xfrm>
            <a:off x="2926080" y="1920240"/>
            <a:ext cx="5897880" cy="1051560"/>
          </a:xfrm>
          <a:prstGeom prst="roundRect">
            <a:avLst>
              <a:gd name="adj" fmla="val 6957"/>
            </a:avLst>
          </a:prstGeom>
          <a:solidFill>
            <a:srgbClr val="0D1B5E"/>
          </a:solidFill>
          <a:ln w="12700">
            <a:solidFill>
              <a:srgbClr val="7B2FFF"/>
            </a:solidFill>
            <a:prstDash val="solid"/>
          </a:ln>
          <a:effectLst>
            <a:outerShdw sx="100000" sy="100000" kx="0" ky="0" algn="bl" rotWithShape="0" blurRad="101600" dist="38100" dir="2700000">
              <a:srgbClr val="000000">
                <a:alpha val="35000"/>
              </a:srgbClr>
            </a:outerShdw>
          </a:effectLst>
        </p:spPr>
      </p:sp>
      <p:sp>
        <p:nvSpPr>
          <p:cNvPr id="30" name="Text 28"/>
          <p:cNvSpPr/>
          <p:nvPr/>
        </p:nvSpPr>
        <p:spPr>
          <a:xfrm>
            <a:off x="3063240" y="1993392"/>
            <a:ext cx="5577840" cy="292608"/>
          </a:xfrm>
          <a:prstGeom prst="rect">
            <a:avLst/>
          </a:prstGeom>
          <a:noFill/>
          <a:ln/>
        </p:spPr>
        <p:txBody>
          <a:bodyPr wrap="square" lIns="0" tIns="0" rIns="0" bIns="0" rtlCol="0" anchor="ctr"/>
          <a:lstStyle/>
          <a:p>
            <a:pPr indent="0" marL="0">
              <a:buNone/>
            </a:pPr>
            <a:r>
              <a:rPr lang="en-US" sz="1000" b="1" dirty="0">
                <a:solidFill>
                  <a:srgbClr val="7B2FFF"/>
                </a:solidFill>
                <a:latin typeface="Arial" pitchFamily="34" charset="0"/>
                <a:ea typeface="Arial" pitchFamily="34" charset="-122"/>
                <a:cs typeface="Arial" pitchFamily="34" charset="-120"/>
              </a:rPr>
              <a:t>Key Feature Categories</a:t>
            </a:r>
            <a:endParaRPr lang="en-US" sz="1000" dirty="0"/>
          </a:p>
        </p:txBody>
      </p:sp>
      <p:sp>
        <p:nvSpPr>
          <p:cNvPr id="31" name="Shape 29"/>
          <p:cNvSpPr/>
          <p:nvPr/>
        </p:nvSpPr>
        <p:spPr>
          <a:xfrm>
            <a:off x="3063240" y="2414016"/>
            <a:ext cx="109728" cy="109728"/>
          </a:xfrm>
          <a:prstGeom prst="ellipse">
            <a:avLst/>
          </a:prstGeom>
          <a:solidFill>
            <a:srgbClr val="00C8FF"/>
          </a:solidFill>
          <a:ln w="12700">
            <a:solidFill>
              <a:srgbClr val="00C8FF"/>
            </a:solidFill>
            <a:prstDash val="solid"/>
          </a:ln>
        </p:spPr>
      </p:sp>
      <p:sp>
        <p:nvSpPr>
          <p:cNvPr id="32" name="Text 30"/>
          <p:cNvSpPr/>
          <p:nvPr/>
        </p:nvSpPr>
        <p:spPr>
          <a:xfrm>
            <a:off x="3227832" y="2359152"/>
            <a:ext cx="2560320" cy="228600"/>
          </a:xfrm>
          <a:prstGeom prst="rect">
            <a:avLst/>
          </a:prstGeom>
          <a:noFill/>
          <a:ln/>
        </p:spPr>
        <p:txBody>
          <a:bodyPr wrap="square" lIns="0" tIns="0" rIns="0" bIns="0" rtlCol="0" anchor="ctr"/>
          <a:lstStyle/>
          <a:p>
            <a:pPr indent="0" marL="0">
              <a:buNone/>
            </a:pPr>
            <a:r>
              <a:rPr lang="en-US" sz="850" dirty="0">
                <a:solidFill>
                  <a:srgbClr val="C8E6FF"/>
                </a:solidFill>
                <a:latin typeface="Calibri" pitchFamily="34" charset="0"/>
                <a:ea typeface="Calibri" pitchFamily="34" charset="-122"/>
                <a:cs typeface="Calibri" pitchFamily="34" charset="-120"/>
              </a:rPr>
              <a:t>Demographics (age, sex, address)</a:t>
            </a:r>
            <a:endParaRPr lang="en-US" sz="850" dirty="0"/>
          </a:p>
        </p:txBody>
      </p:sp>
      <p:sp>
        <p:nvSpPr>
          <p:cNvPr id="33" name="Shape 31"/>
          <p:cNvSpPr/>
          <p:nvPr/>
        </p:nvSpPr>
        <p:spPr>
          <a:xfrm>
            <a:off x="3063240" y="2688336"/>
            <a:ext cx="109728" cy="109728"/>
          </a:xfrm>
          <a:prstGeom prst="ellipse">
            <a:avLst/>
          </a:prstGeom>
          <a:solidFill>
            <a:srgbClr val="00C8FF"/>
          </a:solidFill>
          <a:ln w="12700">
            <a:solidFill>
              <a:srgbClr val="00C8FF"/>
            </a:solidFill>
            <a:prstDash val="solid"/>
          </a:ln>
        </p:spPr>
      </p:sp>
      <p:sp>
        <p:nvSpPr>
          <p:cNvPr id="34" name="Text 32"/>
          <p:cNvSpPr/>
          <p:nvPr/>
        </p:nvSpPr>
        <p:spPr>
          <a:xfrm>
            <a:off x="3227832" y="2633472"/>
            <a:ext cx="2560320" cy="228600"/>
          </a:xfrm>
          <a:prstGeom prst="rect">
            <a:avLst/>
          </a:prstGeom>
          <a:noFill/>
          <a:ln/>
        </p:spPr>
        <p:txBody>
          <a:bodyPr wrap="square" lIns="0" tIns="0" rIns="0" bIns="0" rtlCol="0" anchor="ctr"/>
          <a:lstStyle/>
          <a:p>
            <a:pPr indent="0" marL="0">
              <a:buNone/>
            </a:pPr>
            <a:r>
              <a:rPr lang="en-US" sz="850" dirty="0">
                <a:solidFill>
                  <a:srgbClr val="C8E6FF"/>
                </a:solidFill>
                <a:latin typeface="Calibri" pitchFamily="34" charset="0"/>
                <a:ea typeface="Calibri" pitchFamily="34" charset="-122"/>
                <a:cs typeface="Calibri" pitchFamily="34" charset="-120"/>
              </a:rPr>
              <a:t>Family Background (Medu, Fedu, famrel)</a:t>
            </a:r>
            <a:endParaRPr lang="en-US" sz="850" dirty="0"/>
          </a:p>
        </p:txBody>
      </p:sp>
      <p:sp>
        <p:nvSpPr>
          <p:cNvPr id="35" name="Shape 33"/>
          <p:cNvSpPr/>
          <p:nvPr/>
        </p:nvSpPr>
        <p:spPr>
          <a:xfrm>
            <a:off x="3063240" y="2962656"/>
            <a:ext cx="109728" cy="109728"/>
          </a:xfrm>
          <a:prstGeom prst="ellipse">
            <a:avLst/>
          </a:prstGeom>
          <a:solidFill>
            <a:srgbClr val="00C8FF"/>
          </a:solidFill>
          <a:ln w="12700">
            <a:solidFill>
              <a:srgbClr val="00C8FF"/>
            </a:solidFill>
            <a:prstDash val="solid"/>
          </a:ln>
        </p:spPr>
      </p:sp>
      <p:sp>
        <p:nvSpPr>
          <p:cNvPr id="36" name="Text 34"/>
          <p:cNvSpPr/>
          <p:nvPr/>
        </p:nvSpPr>
        <p:spPr>
          <a:xfrm>
            <a:off x="3227832" y="2907792"/>
            <a:ext cx="2560320" cy="228600"/>
          </a:xfrm>
          <a:prstGeom prst="rect">
            <a:avLst/>
          </a:prstGeom>
          <a:noFill/>
          <a:ln/>
        </p:spPr>
        <p:txBody>
          <a:bodyPr wrap="square" lIns="0" tIns="0" rIns="0" bIns="0" rtlCol="0" anchor="ctr"/>
          <a:lstStyle/>
          <a:p>
            <a:pPr indent="0" marL="0">
              <a:buNone/>
            </a:pPr>
            <a:r>
              <a:rPr lang="en-US" sz="850" dirty="0">
                <a:solidFill>
                  <a:srgbClr val="C8E6FF"/>
                </a:solidFill>
                <a:latin typeface="Calibri" pitchFamily="34" charset="0"/>
                <a:ea typeface="Calibri" pitchFamily="34" charset="-122"/>
                <a:cs typeface="Calibri" pitchFamily="34" charset="-120"/>
              </a:rPr>
              <a:t>School Factors (studytime, failures, absences)</a:t>
            </a:r>
            <a:endParaRPr lang="en-US" sz="850" dirty="0"/>
          </a:p>
        </p:txBody>
      </p:sp>
      <p:sp>
        <p:nvSpPr>
          <p:cNvPr id="37" name="Shape 35"/>
          <p:cNvSpPr/>
          <p:nvPr/>
        </p:nvSpPr>
        <p:spPr>
          <a:xfrm>
            <a:off x="5897880" y="2414016"/>
            <a:ext cx="109728" cy="109728"/>
          </a:xfrm>
          <a:prstGeom prst="ellipse">
            <a:avLst/>
          </a:prstGeom>
          <a:solidFill>
            <a:srgbClr val="00C8FF"/>
          </a:solidFill>
          <a:ln w="12700">
            <a:solidFill>
              <a:srgbClr val="00C8FF"/>
            </a:solidFill>
            <a:prstDash val="solid"/>
          </a:ln>
        </p:spPr>
      </p:sp>
      <p:sp>
        <p:nvSpPr>
          <p:cNvPr id="38" name="Text 36"/>
          <p:cNvSpPr/>
          <p:nvPr/>
        </p:nvSpPr>
        <p:spPr>
          <a:xfrm>
            <a:off x="6062472" y="2359152"/>
            <a:ext cx="2560320" cy="228600"/>
          </a:xfrm>
          <a:prstGeom prst="rect">
            <a:avLst/>
          </a:prstGeom>
          <a:noFill/>
          <a:ln/>
        </p:spPr>
        <p:txBody>
          <a:bodyPr wrap="square" lIns="0" tIns="0" rIns="0" bIns="0" rtlCol="0" anchor="ctr"/>
          <a:lstStyle/>
          <a:p>
            <a:pPr indent="0" marL="0">
              <a:buNone/>
            </a:pPr>
            <a:r>
              <a:rPr lang="en-US" sz="850" dirty="0">
                <a:solidFill>
                  <a:srgbClr val="C8E6FF"/>
                </a:solidFill>
                <a:latin typeface="Calibri" pitchFamily="34" charset="0"/>
                <a:ea typeface="Calibri" pitchFamily="34" charset="-122"/>
                <a:cs typeface="Calibri" pitchFamily="34" charset="-120"/>
              </a:rPr>
              <a:t>Social Factors (Dalc, Walc, goout, freetime)</a:t>
            </a:r>
            <a:endParaRPr lang="en-US" sz="850" dirty="0"/>
          </a:p>
        </p:txBody>
      </p:sp>
      <p:sp>
        <p:nvSpPr>
          <p:cNvPr id="39" name="Shape 37"/>
          <p:cNvSpPr/>
          <p:nvPr/>
        </p:nvSpPr>
        <p:spPr>
          <a:xfrm>
            <a:off x="4572000" y="2688336"/>
            <a:ext cx="109728" cy="109728"/>
          </a:xfrm>
          <a:prstGeom prst="ellipse">
            <a:avLst/>
          </a:prstGeom>
          <a:solidFill>
            <a:srgbClr val="FFD700"/>
          </a:solidFill>
          <a:ln w="12700">
            <a:solidFill>
              <a:srgbClr val="FFD700"/>
            </a:solidFill>
            <a:prstDash val="solid"/>
          </a:ln>
        </p:spPr>
      </p:sp>
      <p:sp>
        <p:nvSpPr>
          <p:cNvPr id="40" name="Text 38"/>
          <p:cNvSpPr/>
          <p:nvPr/>
        </p:nvSpPr>
        <p:spPr>
          <a:xfrm>
            <a:off x="4736592" y="2633472"/>
            <a:ext cx="3977640" cy="228600"/>
          </a:xfrm>
          <a:prstGeom prst="rect">
            <a:avLst/>
          </a:prstGeom>
          <a:noFill/>
          <a:ln/>
        </p:spPr>
        <p:txBody>
          <a:bodyPr wrap="square" lIns="0" tIns="0" rIns="0" bIns="0" rtlCol="0" anchor="ctr"/>
          <a:lstStyle/>
          <a:p>
            <a:pPr indent="0" marL="0">
              <a:buNone/>
            </a:pPr>
            <a:r>
              <a:rPr lang="en-US" sz="850" b="1" dirty="0">
                <a:solidFill>
                  <a:srgbClr val="FFD700"/>
                </a:solidFill>
                <a:latin typeface="Calibri" pitchFamily="34" charset="0"/>
                <a:ea typeface="Calibri" pitchFamily="34" charset="-122"/>
                <a:cs typeface="Calibri" pitchFamily="34" charset="-120"/>
              </a:rPr>
              <a:t>Target: G1, G2, G3 (Grades 0–20)</a:t>
            </a:r>
            <a:endParaRPr lang="en-US" sz="850" dirty="0"/>
          </a:p>
        </p:txBody>
      </p:sp>
      <p:sp>
        <p:nvSpPr>
          <p:cNvPr id="41" name="Shape 39"/>
          <p:cNvSpPr/>
          <p:nvPr/>
        </p:nvSpPr>
        <p:spPr>
          <a:xfrm>
            <a:off x="274320" y="2926080"/>
            <a:ext cx="8595360" cy="2011680"/>
          </a:xfrm>
          <a:prstGeom prst="roundRect">
            <a:avLst>
              <a:gd name="adj" fmla="val 3636"/>
            </a:avLst>
          </a:prstGeom>
          <a:solidFill>
            <a:srgbClr val="0D1B5E"/>
          </a:solidFill>
          <a:ln w="12700">
            <a:solidFill>
              <a:srgbClr val="00C8FF"/>
            </a:solidFill>
            <a:prstDash val="solid"/>
          </a:ln>
          <a:effectLst>
            <a:outerShdw sx="100000" sy="100000" kx="0" ky="0" algn="bl" rotWithShape="0" blurRad="101600" dist="38100" dir="2700000">
              <a:srgbClr val="000000">
                <a:alpha val="35000"/>
              </a:srgbClr>
            </a:outerShdw>
          </a:effectLst>
        </p:spPr>
      </p:sp>
      <p:sp>
        <p:nvSpPr>
          <p:cNvPr id="42" name="Text 40"/>
          <p:cNvSpPr/>
          <p:nvPr/>
        </p:nvSpPr>
        <p:spPr>
          <a:xfrm>
            <a:off x="457200" y="2999232"/>
            <a:ext cx="8046720" cy="320040"/>
          </a:xfrm>
          <a:prstGeom prst="rect">
            <a:avLst/>
          </a:prstGeom>
          <a:noFill/>
          <a:ln/>
        </p:spPr>
        <p:txBody>
          <a:bodyPr wrap="square" lIns="0" tIns="0" rIns="0" bIns="0" rtlCol="0" anchor="ctr"/>
          <a:lstStyle/>
          <a:p>
            <a:pPr indent="0" marL="0">
              <a:buNone/>
            </a:pPr>
            <a:r>
              <a:rPr lang="en-US" sz="1100" b="1" dirty="0">
                <a:solidFill>
                  <a:srgbClr val="00C8FF"/>
                </a:solidFill>
                <a:latin typeface="Arial" pitchFamily="34" charset="0"/>
                <a:ea typeface="Arial" pitchFamily="34" charset="-122"/>
                <a:cs typeface="Arial" pitchFamily="34" charset="-120"/>
              </a:rPr>
              <a:t>About the Dataset</a:t>
            </a:r>
            <a:endParaRPr lang="en-US" sz="1100" dirty="0"/>
          </a:p>
        </p:txBody>
      </p:sp>
      <p:sp>
        <p:nvSpPr>
          <p:cNvPr id="43" name="Text 41"/>
          <p:cNvSpPr/>
          <p:nvPr/>
        </p:nvSpPr>
        <p:spPr>
          <a:xfrm>
            <a:off x="457200" y="3364992"/>
            <a:ext cx="8046720" cy="1444752"/>
          </a:xfrm>
          <a:prstGeom prst="rect">
            <a:avLst/>
          </a:prstGeom>
          <a:noFill/>
          <a:ln/>
        </p:spPr>
        <p:txBody>
          <a:bodyPr wrap="square" lIns="0" tIns="0" rIns="0" bIns="0" rtlCol="0" anchor="t"/>
          <a:lstStyle/>
          <a:p>
            <a:pPr indent="0" marL="0">
              <a:buNone/>
            </a:pPr>
            <a:r>
              <a:rPr lang="en-US" sz="900" dirty="0">
                <a:solidFill>
                  <a:srgbClr val="C8E6FF"/>
                </a:solidFill>
                <a:latin typeface="Calibri" pitchFamily="34" charset="0"/>
                <a:ea typeface="Calibri" pitchFamily="34" charset="-122"/>
                <a:cs typeface="Calibri" pitchFamily="34" charset="-120"/>
              </a:rPr>
              <a:t>The data was collected from secondary school students (age 15–22) in Portugal performing daily activities. The dataset provides two files: student-mat.csv (395 records for Mathematics) and student-por.csv (649 records for Portuguese). Features include demographic details such as family size, parental education, and occupation, as well as social behavior factors like alcohol consumption and social outings. The primary prediction target is G3 — the final grade — which is strongly correlated with the 1st period (G1) and 2nd period (G2) grades. The dataset has no missing values and supports both classification and regression tasks.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50A30"/>
        </a:solidFill>
      </p:bgPr>
    </p:bg>
    <p:spTree>
      <p:nvGrpSpPr>
        <p:cNvPr id="1" name=""/>
        <p:cNvGrpSpPr/>
        <p:nvPr/>
      </p:nvGrpSpPr>
      <p:grpSpPr>
        <a:xfrm>
          <a:off x="0" y="0"/>
          <a:ext cx="0" cy="0"/>
          <a:chOff x="0" y="0"/>
          <a:chExt cx="0" cy="0"/>
        </a:xfrm>
      </p:grpSpPr>
      <p:sp>
        <p:nvSpPr>
          <p:cNvPr id="2" name="Shape 0"/>
          <p:cNvSpPr/>
          <p:nvPr/>
        </p:nvSpPr>
        <p:spPr>
          <a:xfrm>
            <a:off x="6858000" y="2286000"/>
            <a:ext cx="3657600" cy="3657600"/>
          </a:xfrm>
          <a:prstGeom prst="ellipse">
            <a:avLst/>
          </a:prstGeom>
          <a:solidFill>
            <a:srgbClr val="00C8FF">
              <a:alpha val="12000"/>
            </a:srgbClr>
          </a:solidFill>
          <a:ln w="12700">
            <a:solidFill>
              <a:srgbClr val="00C8FF">
                <a:alpha val="12000"/>
              </a:srgbClr>
            </a:solidFill>
            <a:prstDash val="solid"/>
          </a:ln>
        </p:spPr>
      </p:sp>
      <p:sp>
        <p:nvSpPr>
          <p:cNvPr id="3" name="Text 1"/>
          <p:cNvSpPr/>
          <p:nvPr/>
        </p:nvSpPr>
        <p:spPr>
          <a:xfrm>
            <a:off x="274320" y="164592"/>
            <a:ext cx="8595360" cy="502920"/>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TECHNOLOGIES USED &amp; PROJECT WORKFLOW</a:t>
            </a:r>
            <a:endParaRPr lang="en-US" sz="2200" dirty="0"/>
          </a:p>
        </p:txBody>
      </p:sp>
      <p:sp>
        <p:nvSpPr>
          <p:cNvPr id="4" name="Shape 2"/>
          <p:cNvSpPr/>
          <p:nvPr/>
        </p:nvSpPr>
        <p:spPr>
          <a:xfrm>
            <a:off x="2286000" y="713232"/>
            <a:ext cx="4572000" cy="0"/>
          </a:xfrm>
          <a:prstGeom prst="line">
            <a:avLst/>
          </a:prstGeom>
          <a:noFill/>
          <a:ln w="25400">
            <a:solidFill>
              <a:srgbClr val="00C8FF"/>
            </a:solidFill>
            <a:prstDash val="solid"/>
          </a:ln>
        </p:spPr>
      </p:sp>
      <p:sp>
        <p:nvSpPr>
          <p:cNvPr id="5" name="Text 3"/>
          <p:cNvSpPr/>
          <p:nvPr/>
        </p:nvSpPr>
        <p:spPr>
          <a:xfrm>
            <a:off x="274320" y="841248"/>
            <a:ext cx="4114800" cy="320040"/>
          </a:xfrm>
          <a:prstGeom prst="rect">
            <a:avLst/>
          </a:prstGeom>
          <a:noFill/>
          <a:ln/>
        </p:spPr>
        <p:txBody>
          <a:bodyPr wrap="square" lIns="0" tIns="0" rIns="0" bIns="0" rtlCol="0" anchor="ctr"/>
          <a:lstStyle/>
          <a:p>
            <a:pPr indent="0" marL="0">
              <a:buNone/>
            </a:pPr>
            <a:r>
              <a:rPr lang="en-US" sz="1200" b="1" dirty="0">
                <a:solidFill>
                  <a:srgbClr val="00C8FF"/>
                </a:solidFill>
                <a:latin typeface="Arial" pitchFamily="34" charset="0"/>
                <a:ea typeface="Arial" pitchFamily="34" charset="-122"/>
                <a:cs typeface="Arial" pitchFamily="34" charset="-120"/>
              </a:rPr>
              <a:t>TECHNOLOGIES USED</a:t>
            </a:r>
            <a:endParaRPr lang="en-US" sz="1200" dirty="0"/>
          </a:p>
        </p:txBody>
      </p:sp>
      <p:sp>
        <p:nvSpPr>
          <p:cNvPr id="6" name="Shape 4"/>
          <p:cNvSpPr/>
          <p:nvPr/>
        </p:nvSpPr>
        <p:spPr>
          <a:xfrm>
            <a:off x="274320" y="1207008"/>
            <a:ext cx="1261872" cy="987552"/>
          </a:xfrm>
          <a:prstGeom prst="roundRect">
            <a:avLst>
              <a:gd name="adj" fmla="val 7407"/>
            </a:avLst>
          </a:prstGeom>
          <a:solidFill>
            <a:srgbClr val="0D1B5E"/>
          </a:solidFill>
          <a:ln w="12700">
            <a:solidFill>
              <a:srgbClr val="7B2FFF"/>
            </a:solidFill>
            <a:prstDash val="solid"/>
          </a:ln>
          <a:effectLst>
            <a:outerShdw sx="100000" sy="100000" kx="0" ky="0" algn="bl" rotWithShape="0" blurRad="101600" dist="38100" dir="2700000">
              <a:srgbClr val="000000">
                <a:alpha val="35000"/>
              </a:srgbClr>
            </a:outerShdw>
          </a:effectLst>
        </p:spPr>
      </p:sp>
      <p:sp>
        <p:nvSpPr>
          <p:cNvPr id="7" name="Text 5"/>
          <p:cNvSpPr/>
          <p:nvPr/>
        </p:nvSpPr>
        <p:spPr>
          <a:xfrm>
            <a:off x="274320" y="1499616"/>
            <a:ext cx="1261872" cy="320040"/>
          </a:xfrm>
          <a:prstGeom prst="rect">
            <a:avLst/>
          </a:prstGeom>
          <a:noFill/>
          <a:ln/>
        </p:spPr>
        <p:txBody>
          <a:bodyPr wrap="square" lIns="0" tIns="0" rIns="0" bIns="0" rtlCol="0" anchor="ctr"/>
          <a:lstStyle/>
          <a:p>
            <a:pPr algn="ctr" indent="0" marL="0">
              <a:buNone/>
            </a:pPr>
            <a:r>
              <a:rPr lang="en-US" sz="1100" b="1" dirty="0">
                <a:solidFill>
                  <a:srgbClr val="00C8FF"/>
                </a:solidFill>
                <a:latin typeface="Arial" pitchFamily="34" charset="0"/>
                <a:ea typeface="Arial" pitchFamily="34" charset="-122"/>
                <a:cs typeface="Arial" pitchFamily="34" charset="-120"/>
              </a:rPr>
              <a:t>Python</a:t>
            </a:r>
            <a:endParaRPr lang="en-US" sz="1100" dirty="0"/>
          </a:p>
        </p:txBody>
      </p:sp>
      <p:sp>
        <p:nvSpPr>
          <p:cNvPr id="8" name="Text 6"/>
          <p:cNvSpPr/>
          <p:nvPr/>
        </p:nvSpPr>
        <p:spPr>
          <a:xfrm>
            <a:off x="274320" y="1810512"/>
            <a:ext cx="1261872" cy="274320"/>
          </a:xfrm>
          <a:prstGeom prst="rect">
            <a:avLst/>
          </a:prstGeom>
          <a:noFill/>
          <a:ln/>
        </p:spPr>
        <p:txBody>
          <a:bodyPr wrap="square" lIns="0" tIns="0" rIns="0" bIns="0" rtlCol="0" anchor="ctr"/>
          <a:lstStyle/>
          <a:p>
            <a:pPr algn="ctr" indent="0" marL="0">
              <a:buNone/>
            </a:pPr>
            <a:r>
              <a:rPr lang="en-US" sz="800" dirty="0">
                <a:solidFill>
                  <a:srgbClr val="C8E6FF"/>
                </a:solidFill>
                <a:latin typeface="Calibri" pitchFamily="34" charset="0"/>
                <a:ea typeface="Calibri" pitchFamily="34" charset="-122"/>
                <a:cs typeface="Calibri" pitchFamily="34" charset="-120"/>
              </a:rPr>
              <a:t>Core language</a:t>
            </a:r>
            <a:endParaRPr lang="en-US" sz="800" dirty="0"/>
          </a:p>
        </p:txBody>
      </p:sp>
      <p:sp>
        <p:nvSpPr>
          <p:cNvPr id="9" name="Shape 7"/>
          <p:cNvSpPr/>
          <p:nvPr/>
        </p:nvSpPr>
        <p:spPr>
          <a:xfrm>
            <a:off x="1664208" y="1207008"/>
            <a:ext cx="1261872" cy="987552"/>
          </a:xfrm>
          <a:prstGeom prst="roundRect">
            <a:avLst>
              <a:gd name="adj" fmla="val 7407"/>
            </a:avLst>
          </a:prstGeom>
          <a:solidFill>
            <a:srgbClr val="0D1B5E"/>
          </a:solidFill>
          <a:ln w="12700">
            <a:solidFill>
              <a:srgbClr val="7B2FFF"/>
            </a:solidFill>
            <a:prstDash val="solid"/>
          </a:ln>
          <a:effectLst>
            <a:outerShdw sx="100000" sy="100000" kx="0" ky="0" algn="bl" rotWithShape="0" blurRad="101600" dist="38100" dir="2700000">
              <a:srgbClr val="000000">
                <a:alpha val="35000"/>
              </a:srgbClr>
            </a:outerShdw>
          </a:effectLst>
        </p:spPr>
      </p:sp>
      <p:sp>
        <p:nvSpPr>
          <p:cNvPr id="10" name="Text 8"/>
          <p:cNvSpPr/>
          <p:nvPr/>
        </p:nvSpPr>
        <p:spPr>
          <a:xfrm>
            <a:off x="1664208" y="1499616"/>
            <a:ext cx="1261872" cy="320040"/>
          </a:xfrm>
          <a:prstGeom prst="rect">
            <a:avLst/>
          </a:prstGeom>
          <a:noFill/>
          <a:ln/>
        </p:spPr>
        <p:txBody>
          <a:bodyPr wrap="square" lIns="0" tIns="0" rIns="0" bIns="0" rtlCol="0" anchor="ctr"/>
          <a:lstStyle/>
          <a:p>
            <a:pPr algn="ctr" indent="0" marL="0">
              <a:buNone/>
            </a:pPr>
            <a:r>
              <a:rPr lang="en-US" sz="1100" b="1" dirty="0">
                <a:solidFill>
                  <a:srgbClr val="00C8FF"/>
                </a:solidFill>
                <a:latin typeface="Arial" pitchFamily="34" charset="0"/>
                <a:ea typeface="Arial" pitchFamily="34" charset="-122"/>
                <a:cs typeface="Arial" pitchFamily="34" charset="-120"/>
              </a:rPr>
              <a:t>Pandas</a:t>
            </a:r>
            <a:endParaRPr lang="en-US" sz="1100" dirty="0"/>
          </a:p>
        </p:txBody>
      </p:sp>
      <p:sp>
        <p:nvSpPr>
          <p:cNvPr id="11" name="Text 9"/>
          <p:cNvSpPr/>
          <p:nvPr/>
        </p:nvSpPr>
        <p:spPr>
          <a:xfrm>
            <a:off x="1664208" y="1810512"/>
            <a:ext cx="1261872" cy="274320"/>
          </a:xfrm>
          <a:prstGeom prst="rect">
            <a:avLst/>
          </a:prstGeom>
          <a:noFill/>
          <a:ln/>
        </p:spPr>
        <p:txBody>
          <a:bodyPr wrap="square" lIns="0" tIns="0" rIns="0" bIns="0" rtlCol="0" anchor="ctr"/>
          <a:lstStyle/>
          <a:p>
            <a:pPr algn="ctr" indent="0" marL="0">
              <a:buNone/>
            </a:pPr>
            <a:r>
              <a:rPr lang="en-US" sz="800" dirty="0">
                <a:solidFill>
                  <a:srgbClr val="C8E6FF"/>
                </a:solidFill>
                <a:latin typeface="Calibri" pitchFamily="34" charset="0"/>
                <a:ea typeface="Calibri" pitchFamily="34" charset="-122"/>
                <a:cs typeface="Calibri" pitchFamily="34" charset="-120"/>
              </a:rPr>
              <a:t>Data manipulation</a:t>
            </a:r>
            <a:endParaRPr lang="en-US" sz="800" dirty="0"/>
          </a:p>
        </p:txBody>
      </p:sp>
      <p:sp>
        <p:nvSpPr>
          <p:cNvPr id="12" name="Shape 10"/>
          <p:cNvSpPr/>
          <p:nvPr/>
        </p:nvSpPr>
        <p:spPr>
          <a:xfrm>
            <a:off x="3054096" y="1207008"/>
            <a:ext cx="1261872" cy="987552"/>
          </a:xfrm>
          <a:prstGeom prst="roundRect">
            <a:avLst>
              <a:gd name="adj" fmla="val 7407"/>
            </a:avLst>
          </a:prstGeom>
          <a:solidFill>
            <a:srgbClr val="0D1B5E"/>
          </a:solidFill>
          <a:ln w="12700">
            <a:solidFill>
              <a:srgbClr val="7B2FFF"/>
            </a:solidFill>
            <a:prstDash val="solid"/>
          </a:ln>
          <a:effectLst>
            <a:outerShdw sx="100000" sy="100000" kx="0" ky="0" algn="bl" rotWithShape="0" blurRad="101600" dist="38100" dir="2700000">
              <a:srgbClr val="000000">
                <a:alpha val="35000"/>
              </a:srgbClr>
            </a:outerShdw>
          </a:effectLst>
        </p:spPr>
      </p:sp>
      <p:sp>
        <p:nvSpPr>
          <p:cNvPr id="13" name="Text 11"/>
          <p:cNvSpPr/>
          <p:nvPr/>
        </p:nvSpPr>
        <p:spPr>
          <a:xfrm>
            <a:off x="3054096" y="1499616"/>
            <a:ext cx="1261872" cy="320040"/>
          </a:xfrm>
          <a:prstGeom prst="rect">
            <a:avLst/>
          </a:prstGeom>
          <a:noFill/>
          <a:ln/>
        </p:spPr>
        <p:txBody>
          <a:bodyPr wrap="square" lIns="0" tIns="0" rIns="0" bIns="0" rtlCol="0" anchor="ctr"/>
          <a:lstStyle/>
          <a:p>
            <a:pPr algn="ctr" indent="0" marL="0">
              <a:buNone/>
            </a:pPr>
            <a:r>
              <a:rPr lang="en-US" sz="1100" b="1" dirty="0">
                <a:solidFill>
                  <a:srgbClr val="00C8FF"/>
                </a:solidFill>
                <a:latin typeface="Arial" pitchFamily="34" charset="0"/>
                <a:ea typeface="Arial" pitchFamily="34" charset="-122"/>
                <a:cs typeface="Arial" pitchFamily="34" charset="-120"/>
              </a:rPr>
              <a:t>NumPy</a:t>
            </a:r>
            <a:endParaRPr lang="en-US" sz="1100" dirty="0"/>
          </a:p>
        </p:txBody>
      </p:sp>
      <p:sp>
        <p:nvSpPr>
          <p:cNvPr id="14" name="Text 12"/>
          <p:cNvSpPr/>
          <p:nvPr/>
        </p:nvSpPr>
        <p:spPr>
          <a:xfrm>
            <a:off x="3054096" y="1810512"/>
            <a:ext cx="1261872" cy="274320"/>
          </a:xfrm>
          <a:prstGeom prst="rect">
            <a:avLst/>
          </a:prstGeom>
          <a:noFill/>
          <a:ln/>
        </p:spPr>
        <p:txBody>
          <a:bodyPr wrap="square" lIns="0" tIns="0" rIns="0" bIns="0" rtlCol="0" anchor="ctr"/>
          <a:lstStyle/>
          <a:p>
            <a:pPr algn="ctr" indent="0" marL="0">
              <a:buNone/>
            </a:pPr>
            <a:r>
              <a:rPr lang="en-US" sz="800" dirty="0">
                <a:solidFill>
                  <a:srgbClr val="C8E6FF"/>
                </a:solidFill>
                <a:latin typeface="Calibri" pitchFamily="34" charset="0"/>
                <a:ea typeface="Calibri" pitchFamily="34" charset="-122"/>
                <a:cs typeface="Calibri" pitchFamily="34" charset="-120"/>
              </a:rPr>
              <a:t>Numerical operations</a:t>
            </a:r>
            <a:endParaRPr lang="en-US" sz="800" dirty="0"/>
          </a:p>
        </p:txBody>
      </p:sp>
      <p:sp>
        <p:nvSpPr>
          <p:cNvPr id="15" name="Shape 13"/>
          <p:cNvSpPr/>
          <p:nvPr/>
        </p:nvSpPr>
        <p:spPr>
          <a:xfrm>
            <a:off x="274320" y="2350008"/>
            <a:ext cx="1261872" cy="987552"/>
          </a:xfrm>
          <a:prstGeom prst="roundRect">
            <a:avLst>
              <a:gd name="adj" fmla="val 7407"/>
            </a:avLst>
          </a:prstGeom>
          <a:solidFill>
            <a:srgbClr val="0D1B5E"/>
          </a:solidFill>
          <a:ln w="12700">
            <a:solidFill>
              <a:srgbClr val="7B2FFF"/>
            </a:solidFill>
            <a:prstDash val="solid"/>
          </a:ln>
          <a:effectLst>
            <a:outerShdw sx="100000" sy="100000" kx="0" ky="0" algn="bl" rotWithShape="0" blurRad="101600" dist="38100" dir="2700000">
              <a:srgbClr val="000000">
                <a:alpha val="35000"/>
              </a:srgbClr>
            </a:outerShdw>
          </a:effectLst>
        </p:spPr>
      </p:sp>
      <p:sp>
        <p:nvSpPr>
          <p:cNvPr id="16" name="Text 14"/>
          <p:cNvSpPr/>
          <p:nvPr/>
        </p:nvSpPr>
        <p:spPr>
          <a:xfrm>
            <a:off x="274320" y="2642616"/>
            <a:ext cx="1261872" cy="320040"/>
          </a:xfrm>
          <a:prstGeom prst="rect">
            <a:avLst/>
          </a:prstGeom>
          <a:noFill/>
          <a:ln/>
        </p:spPr>
        <p:txBody>
          <a:bodyPr wrap="square" lIns="0" tIns="0" rIns="0" bIns="0" rtlCol="0" anchor="ctr"/>
          <a:lstStyle/>
          <a:p>
            <a:pPr algn="ctr" indent="0" marL="0">
              <a:buNone/>
            </a:pPr>
            <a:r>
              <a:rPr lang="en-US" sz="1100" b="1" dirty="0">
                <a:solidFill>
                  <a:srgbClr val="00C8FF"/>
                </a:solidFill>
                <a:latin typeface="Arial" pitchFamily="34" charset="0"/>
                <a:ea typeface="Arial" pitchFamily="34" charset="-122"/>
                <a:cs typeface="Arial" pitchFamily="34" charset="-120"/>
              </a:rPr>
              <a:t>Matplotlib</a:t>
            </a:r>
            <a:endParaRPr lang="en-US" sz="1100" dirty="0"/>
          </a:p>
        </p:txBody>
      </p:sp>
      <p:sp>
        <p:nvSpPr>
          <p:cNvPr id="17" name="Text 15"/>
          <p:cNvSpPr/>
          <p:nvPr/>
        </p:nvSpPr>
        <p:spPr>
          <a:xfrm>
            <a:off x="274320" y="2953512"/>
            <a:ext cx="1261872" cy="274320"/>
          </a:xfrm>
          <a:prstGeom prst="rect">
            <a:avLst/>
          </a:prstGeom>
          <a:noFill/>
          <a:ln/>
        </p:spPr>
        <p:txBody>
          <a:bodyPr wrap="square" lIns="0" tIns="0" rIns="0" bIns="0" rtlCol="0" anchor="ctr"/>
          <a:lstStyle/>
          <a:p>
            <a:pPr algn="ctr" indent="0" marL="0">
              <a:buNone/>
            </a:pPr>
            <a:r>
              <a:rPr lang="en-US" sz="800" dirty="0">
                <a:solidFill>
                  <a:srgbClr val="C8E6FF"/>
                </a:solidFill>
                <a:latin typeface="Calibri" pitchFamily="34" charset="0"/>
                <a:ea typeface="Calibri" pitchFamily="34" charset="-122"/>
                <a:cs typeface="Calibri" pitchFamily="34" charset="-120"/>
              </a:rPr>
              <a:t>Visualization</a:t>
            </a:r>
            <a:endParaRPr lang="en-US" sz="800" dirty="0"/>
          </a:p>
        </p:txBody>
      </p:sp>
      <p:sp>
        <p:nvSpPr>
          <p:cNvPr id="18" name="Shape 16"/>
          <p:cNvSpPr/>
          <p:nvPr/>
        </p:nvSpPr>
        <p:spPr>
          <a:xfrm>
            <a:off x="1664208" y="2350008"/>
            <a:ext cx="1261872" cy="987552"/>
          </a:xfrm>
          <a:prstGeom prst="roundRect">
            <a:avLst>
              <a:gd name="adj" fmla="val 7407"/>
            </a:avLst>
          </a:prstGeom>
          <a:solidFill>
            <a:srgbClr val="0D1B5E"/>
          </a:solidFill>
          <a:ln w="12700">
            <a:solidFill>
              <a:srgbClr val="7B2FFF"/>
            </a:solidFill>
            <a:prstDash val="solid"/>
          </a:ln>
          <a:effectLst>
            <a:outerShdw sx="100000" sy="100000" kx="0" ky="0" algn="bl" rotWithShape="0" blurRad="101600" dist="38100" dir="2700000">
              <a:srgbClr val="000000">
                <a:alpha val="35000"/>
              </a:srgbClr>
            </a:outerShdw>
          </a:effectLst>
        </p:spPr>
      </p:sp>
      <p:sp>
        <p:nvSpPr>
          <p:cNvPr id="19" name="Text 17"/>
          <p:cNvSpPr/>
          <p:nvPr/>
        </p:nvSpPr>
        <p:spPr>
          <a:xfrm>
            <a:off x="1664208" y="2642616"/>
            <a:ext cx="1261872" cy="320040"/>
          </a:xfrm>
          <a:prstGeom prst="rect">
            <a:avLst/>
          </a:prstGeom>
          <a:noFill/>
          <a:ln/>
        </p:spPr>
        <p:txBody>
          <a:bodyPr wrap="square" lIns="0" tIns="0" rIns="0" bIns="0" rtlCol="0" anchor="ctr"/>
          <a:lstStyle/>
          <a:p>
            <a:pPr algn="ctr" indent="0" marL="0">
              <a:buNone/>
            </a:pPr>
            <a:r>
              <a:rPr lang="en-US" sz="1100" b="1" dirty="0">
                <a:solidFill>
                  <a:srgbClr val="00C8FF"/>
                </a:solidFill>
                <a:latin typeface="Arial" pitchFamily="34" charset="0"/>
                <a:ea typeface="Arial" pitchFamily="34" charset="-122"/>
                <a:cs typeface="Arial" pitchFamily="34" charset="-120"/>
              </a:rPr>
              <a:t>Seaborn</a:t>
            </a:r>
            <a:endParaRPr lang="en-US" sz="1100" dirty="0"/>
          </a:p>
        </p:txBody>
      </p:sp>
      <p:sp>
        <p:nvSpPr>
          <p:cNvPr id="20" name="Text 18"/>
          <p:cNvSpPr/>
          <p:nvPr/>
        </p:nvSpPr>
        <p:spPr>
          <a:xfrm>
            <a:off x="1664208" y="2953512"/>
            <a:ext cx="1261872" cy="274320"/>
          </a:xfrm>
          <a:prstGeom prst="rect">
            <a:avLst/>
          </a:prstGeom>
          <a:noFill/>
          <a:ln/>
        </p:spPr>
        <p:txBody>
          <a:bodyPr wrap="square" lIns="0" tIns="0" rIns="0" bIns="0" rtlCol="0" anchor="ctr"/>
          <a:lstStyle/>
          <a:p>
            <a:pPr algn="ctr" indent="0" marL="0">
              <a:buNone/>
            </a:pPr>
            <a:r>
              <a:rPr lang="en-US" sz="800" dirty="0">
                <a:solidFill>
                  <a:srgbClr val="C8E6FF"/>
                </a:solidFill>
                <a:latin typeface="Calibri" pitchFamily="34" charset="0"/>
                <a:ea typeface="Calibri" pitchFamily="34" charset="-122"/>
                <a:cs typeface="Calibri" pitchFamily="34" charset="-120"/>
              </a:rPr>
              <a:t>Statistical plots</a:t>
            </a:r>
            <a:endParaRPr lang="en-US" sz="800" dirty="0"/>
          </a:p>
        </p:txBody>
      </p:sp>
      <p:sp>
        <p:nvSpPr>
          <p:cNvPr id="21" name="Shape 19"/>
          <p:cNvSpPr/>
          <p:nvPr/>
        </p:nvSpPr>
        <p:spPr>
          <a:xfrm>
            <a:off x="3054096" y="2350008"/>
            <a:ext cx="1261872" cy="987552"/>
          </a:xfrm>
          <a:prstGeom prst="roundRect">
            <a:avLst>
              <a:gd name="adj" fmla="val 7407"/>
            </a:avLst>
          </a:prstGeom>
          <a:solidFill>
            <a:srgbClr val="0D1B5E"/>
          </a:solidFill>
          <a:ln w="12700">
            <a:solidFill>
              <a:srgbClr val="7B2FFF"/>
            </a:solidFill>
            <a:prstDash val="solid"/>
          </a:ln>
          <a:effectLst>
            <a:outerShdw sx="100000" sy="100000" kx="0" ky="0" algn="bl" rotWithShape="0" blurRad="101600" dist="38100" dir="2700000">
              <a:srgbClr val="000000">
                <a:alpha val="35000"/>
              </a:srgbClr>
            </a:outerShdw>
          </a:effectLst>
        </p:spPr>
      </p:sp>
      <p:sp>
        <p:nvSpPr>
          <p:cNvPr id="22" name="Text 20"/>
          <p:cNvSpPr/>
          <p:nvPr/>
        </p:nvSpPr>
        <p:spPr>
          <a:xfrm>
            <a:off x="3054096" y="2642616"/>
            <a:ext cx="1261872" cy="320040"/>
          </a:xfrm>
          <a:prstGeom prst="rect">
            <a:avLst/>
          </a:prstGeom>
          <a:noFill/>
          <a:ln/>
        </p:spPr>
        <p:txBody>
          <a:bodyPr wrap="square" lIns="0" tIns="0" rIns="0" bIns="0" rtlCol="0" anchor="ctr"/>
          <a:lstStyle/>
          <a:p>
            <a:pPr algn="ctr" indent="0" marL="0">
              <a:buNone/>
            </a:pPr>
            <a:r>
              <a:rPr lang="en-US" sz="1100" b="1" dirty="0">
                <a:solidFill>
                  <a:srgbClr val="00C8FF"/>
                </a:solidFill>
                <a:latin typeface="Arial" pitchFamily="34" charset="0"/>
                <a:ea typeface="Arial" pitchFamily="34" charset="-122"/>
                <a:cs typeface="Arial" pitchFamily="34" charset="-120"/>
              </a:rPr>
              <a:t>Scikit-Learn</a:t>
            </a:r>
            <a:endParaRPr lang="en-US" sz="1100" dirty="0"/>
          </a:p>
        </p:txBody>
      </p:sp>
      <p:sp>
        <p:nvSpPr>
          <p:cNvPr id="23" name="Text 21"/>
          <p:cNvSpPr/>
          <p:nvPr/>
        </p:nvSpPr>
        <p:spPr>
          <a:xfrm>
            <a:off x="3054096" y="2953512"/>
            <a:ext cx="1261872" cy="274320"/>
          </a:xfrm>
          <a:prstGeom prst="rect">
            <a:avLst/>
          </a:prstGeom>
          <a:noFill/>
          <a:ln/>
        </p:spPr>
        <p:txBody>
          <a:bodyPr wrap="square" lIns="0" tIns="0" rIns="0" bIns="0" rtlCol="0" anchor="ctr"/>
          <a:lstStyle/>
          <a:p>
            <a:pPr algn="ctr" indent="0" marL="0">
              <a:buNone/>
            </a:pPr>
            <a:r>
              <a:rPr lang="en-US" sz="800" dirty="0">
                <a:solidFill>
                  <a:srgbClr val="C8E6FF"/>
                </a:solidFill>
                <a:latin typeface="Calibri" pitchFamily="34" charset="0"/>
                <a:ea typeface="Calibri" pitchFamily="34" charset="-122"/>
                <a:cs typeface="Calibri" pitchFamily="34" charset="-120"/>
              </a:rPr>
              <a:t>ML algorithms</a:t>
            </a:r>
            <a:endParaRPr lang="en-US" sz="800" dirty="0"/>
          </a:p>
        </p:txBody>
      </p:sp>
      <p:sp>
        <p:nvSpPr>
          <p:cNvPr id="24" name="Text 22"/>
          <p:cNvSpPr/>
          <p:nvPr/>
        </p:nvSpPr>
        <p:spPr>
          <a:xfrm>
            <a:off x="4572000" y="841248"/>
            <a:ext cx="4297680" cy="320040"/>
          </a:xfrm>
          <a:prstGeom prst="rect">
            <a:avLst/>
          </a:prstGeom>
          <a:noFill/>
          <a:ln/>
        </p:spPr>
        <p:txBody>
          <a:bodyPr wrap="square" lIns="0" tIns="0" rIns="0" bIns="0" rtlCol="0" anchor="ctr"/>
          <a:lstStyle/>
          <a:p>
            <a:pPr indent="0" marL="0">
              <a:buNone/>
            </a:pPr>
            <a:r>
              <a:rPr lang="en-US" sz="1200" b="1" dirty="0">
                <a:solidFill>
                  <a:srgbClr val="7B2FFF"/>
                </a:solidFill>
                <a:latin typeface="Arial" pitchFamily="34" charset="0"/>
                <a:ea typeface="Arial" pitchFamily="34" charset="-122"/>
                <a:cs typeface="Arial" pitchFamily="34" charset="-120"/>
              </a:rPr>
              <a:t>PROJECT WORKFLOW</a:t>
            </a:r>
            <a:endParaRPr lang="en-US" sz="1200" dirty="0"/>
          </a:p>
        </p:txBody>
      </p:sp>
      <p:sp>
        <p:nvSpPr>
          <p:cNvPr id="25" name="Shape 23"/>
          <p:cNvSpPr/>
          <p:nvPr/>
        </p:nvSpPr>
        <p:spPr>
          <a:xfrm>
            <a:off x="4572000" y="1280160"/>
            <a:ext cx="347472" cy="347472"/>
          </a:xfrm>
          <a:prstGeom prst="ellipse">
            <a:avLst/>
          </a:prstGeom>
          <a:solidFill>
            <a:srgbClr val="7B2FFF">
              <a:alpha val="70000"/>
            </a:srgbClr>
          </a:solidFill>
          <a:ln w="12700">
            <a:solidFill>
              <a:srgbClr val="7B2FFF"/>
            </a:solidFill>
            <a:prstDash val="solid"/>
          </a:ln>
        </p:spPr>
      </p:sp>
      <p:sp>
        <p:nvSpPr>
          <p:cNvPr id="26" name="Text 24"/>
          <p:cNvSpPr/>
          <p:nvPr/>
        </p:nvSpPr>
        <p:spPr>
          <a:xfrm>
            <a:off x="4572000" y="128016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1</a:t>
            </a:r>
            <a:endParaRPr lang="en-US" sz="1200" dirty="0"/>
          </a:p>
        </p:txBody>
      </p:sp>
      <p:sp>
        <p:nvSpPr>
          <p:cNvPr id="27" name="Text 25"/>
          <p:cNvSpPr/>
          <p:nvPr/>
        </p:nvSpPr>
        <p:spPr>
          <a:xfrm>
            <a:off x="5010912" y="1261872"/>
            <a:ext cx="3749040" cy="219456"/>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Data Collection</a:t>
            </a:r>
            <a:endParaRPr lang="en-US" sz="1000" dirty="0"/>
          </a:p>
        </p:txBody>
      </p:sp>
      <p:sp>
        <p:nvSpPr>
          <p:cNvPr id="28" name="Text 26"/>
          <p:cNvSpPr/>
          <p:nvPr/>
        </p:nvSpPr>
        <p:spPr>
          <a:xfrm>
            <a:off x="5010912" y="1481328"/>
            <a:ext cx="3749040" cy="228600"/>
          </a:xfrm>
          <a:prstGeom prst="rect">
            <a:avLst/>
          </a:prstGeom>
          <a:noFill/>
          <a:ln/>
        </p:spPr>
        <p:txBody>
          <a:bodyPr wrap="square" lIns="0" tIns="0" rIns="0" bIns="0" rtlCol="0" anchor="ctr"/>
          <a:lstStyle/>
          <a:p>
            <a:pPr indent="0" marL="0">
              <a:buNone/>
            </a:pPr>
            <a:r>
              <a:rPr lang="en-US" sz="850" dirty="0">
                <a:solidFill>
                  <a:srgbClr val="C8E6FF"/>
                </a:solidFill>
                <a:latin typeface="Calibri" pitchFamily="34" charset="0"/>
                <a:ea typeface="Calibri" pitchFamily="34" charset="-122"/>
                <a:cs typeface="Calibri" pitchFamily="34" charset="-120"/>
              </a:rPr>
              <a:t>UCI Repository – student-mat.csv / student-por.csv</a:t>
            </a:r>
            <a:endParaRPr lang="en-US" sz="850" dirty="0"/>
          </a:p>
        </p:txBody>
      </p:sp>
      <p:sp>
        <p:nvSpPr>
          <p:cNvPr id="29" name="Shape 27"/>
          <p:cNvSpPr/>
          <p:nvPr/>
        </p:nvSpPr>
        <p:spPr>
          <a:xfrm>
            <a:off x="4736592" y="1627632"/>
            <a:ext cx="0" cy="201168"/>
          </a:xfrm>
          <a:prstGeom prst="line">
            <a:avLst/>
          </a:prstGeom>
          <a:noFill/>
          <a:ln w="12700">
            <a:solidFill>
              <a:srgbClr val="7B2FFF"/>
            </a:solidFill>
            <a:prstDash val="dash"/>
          </a:ln>
        </p:spPr>
      </p:sp>
      <p:sp>
        <p:nvSpPr>
          <p:cNvPr id="30" name="Shape 28"/>
          <p:cNvSpPr/>
          <p:nvPr/>
        </p:nvSpPr>
        <p:spPr>
          <a:xfrm>
            <a:off x="4572000" y="1901952"/>
            <a:ext cx="347472" cy="347472"/>
          </a:xfrm>
          <a:prstGeom prst="ellipse">
            <a:avLst/>
          </a:prstGeom>
          <a:solidFill>
            <a:srgbClr val="7B2FFF">
              <a:alpha val="70000"/>
            </a:srgbClr>
          </a:solidFill>
          <a:ln w="12700">
            <a:solidFill>
              <a:srgbClr val="7B2FFF"/>
            </a:solidFill>
            <a:prstDash val="solid"/>
          </a:ln>
        </p:spPr>
      </p:sp>
      <p:sp>
        <p:nvSpPr>
          <p:cNvPr id="31" name="Text 29"/>
          <p:cNvSpPr/>
          <p:nvPr/>
        </p:nvSpPr>
        <p:spPr>
          <a:xfrm>
            <a:off x="4572000" y="190195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2</a:t>
            </a:r>
            <a:endParaRPr lang="en-US" sz="1200" dirty="0"/>
          </a:p>
        </p:txBody>
      </p:sp>
      <p:sp>
        <p:nvSpPr>
          <p:cNvPr id="32" name="Text 30"/>
          <p:cNvSpPr/>
          <p:nvPr/>
        </p:nvSpPr>
        <p:spPr>
          <a:xfrm>
            <a:off x="5010912" y="1883664"/>
            <a:ext cx="3749040" cy="219456"/>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Data Preprocessing</a:t>
            </a:r>
            <a:endParaRPr lang="en-US" sz="1000" dirty="0"/>
          </a:p>
        </p:txBody>
      </p:sp>
      <p:sp>
        <p:nvSpPr>
          <p:cNvPr id="33" name="Text 31"/>
          <p:cNvSpPr/>
          <p:nvPr/>
        </p:nvSpPr>
        <p:spPr>
          <a:xfrm>
            <a:off x="5010912" y="2103120"/>
            <a:ext cx="3749040" cy="228600"/>
          </a:xfrm>
          <a:prstGeom prst="rect">
            <a:avLst/>
          </a:prstGeom>
          <a:noFill/>
          <a:ln/>
        </p:spPr>
        <p:txBody>
          <a:bodyPr wrap="square" lIns="0" tIns="0" rIns="0" bIns="0" rtlCol="0" anchor="ctr"/>
          <a:lstStyle/>
          <a:p>
            <a:pPr indent="0" marL="0">
              <a:buNone/>
            </a:pPr>
            <a:r>
              <a:rPr lang="en-US" sz="850" dirty="0">
                <a:solidFill>
                  <a:srgbClr val="C8E6FF"/>
                </a:solidFill>
                <a:latin typeface="Calibri" pitchFamily="34" charset="0"/>
                <a:ea typeface="Calibri" pitchFamily="34" charset="-122"/>
                <a:cs typeface="Calibri" pitchFamily="34" charset="-120"/>
              </a:rPr>
              <a:t>Encoding categorical, normalization, feature selection</a:t>
            </a:r>
            <a:endParaRPr lang="en-US" sz="850" dirty="0"/>
          </a:p>
        </p:txBody>
      </p:sp>
      <p:sp>
        <p:nvSpPr>
          <p:cNvPr id="34" name="Shape 32"/>
          <p:cNvSpPr/>
          <p:nvPr/>
        </p:nvSpPr>
        <p:spPr>
          <a:xfrm>
            <a:off x="4736592" y="2249424"/>
            <a:ext cx="0" cy="201168"/>
          </a:xfrm>
          <a:prstGeom prst="line">
            <a:avLst/>
          </a:prstGeom>
          <a:noFill/>
          <a:ln w="12700">
            <a:solidFill>
              <a:srgbClr val="7B2FFF"/>
            </a:solidFill>
            <a:prstDash val="dash"/>
          </a:ln>
        </p:spPr>
      </p:sp>
      <p:sp>
        <p:nvSpPr>
          <p:cNvPr id="35" name="Shape 33"/>
          <p:cNvSpPr/>
          <p:nvPr/>
        </p:nvSpPr>
        <p:spPr>
          <a:xfrm>
            <a:off x="4572000" y="2523744"/>
            <a:ext cx="347472" cy="347472"/>
          </a:xfrm>
          <a:prstGeom prst="ellipse">
            <a:avLst/>
          </a:prstGeom>
          <a:solidFill>
            <a:srgbClr val="7B2FFF">
              <a:alpha val="70000"/>
            </a:srgbClr>
          </a:solidFill>
          <a:ln w="12700">
            <a:solidFill>
              <a:srgbClr val="7B2FFF"/>
            </a:solidFill>
            <a:prstDash val="solid"/>
          </a:ln>
        </p:spPr>
      </p:sp>
      <p:sp>
        <p:nvSpPr>
          <p:cNvPr id="36" name="Text 34"/>
          <p:cNvSpPr/>
          <p:nvPr/>
        </p:nvSpPr>
        <p:spPr>
          <a:xfrm>
            <a:off x="4572000" y="252374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3</a:t>
            </a:r>
            <a:endParaRPr lang="en-US" sz="1200" dirty="0"/>
          </a:p>
        </p:txBody>
      </p:sp>
      <p:sp>
        <p:nvSpPr>
          <p:cNvPr id="37" name="Text 35"/>
          <p:cNvSpPr/>
          <p:nvPr/>
        </p:nvSpPr>
        <p:spPr>
          <a:xfrm>
            <a:off x="5010912" y="2505456"/>
            <a:ext cx="3749040" cy="219456"/>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Exploratory Analysis</a:t>
            </a:r>
            <a:endParaRPr lang="en-US" sz="1000" dirty="0"/>
          </a:p>
        </p:txBody>
      </p:sp>
      <p:sp>
        <p:nvSpPr>
          <p:cNvPr id="38" name="Text 36"/>
          <p:cNvSpPr/>
          <p:nvPr/>
        </p:nvSpPr>
        <p:spPr>
          <a:xfrm>
            <a:off x="5010912" y="2724912"/>
            <a:ext cx="3749040" cy="228600"/>
          </a:xfrm>
          <a:prstGeom prst="rect">
            <a:avLst/>
          </a:prstGeom>
          <a:noFill/>
          <a:ln/>
        </p:spPr>
        <p:txBody>
          <a:bodyPr wrap="square" lIns="0" tIns="0" rIns="0" bIns="0" rtlCol="0" anchor="ctr"/>
          <a:lstStyle/>
          <a:p>
            <a:pPr indent="0" marL="0">
              <a:buNone/>
            </a:pPr>
            <a:r>
              <a:rPr lang="en-US" sz="850" dirty="0">
                <a:solidFill>
                  <a:srgbClr val="C8E6FF"/>
                </a:solidFill>
                <a:latin typeface="Calibri" pitchFamily="34" charset="0"/>
                <a:ea typeface="Calibri" pitchFamily="34" charset="-122"/>
                <a:cs typeface="Calibri" pitchFamily="34" charset="-120"/>
              </a:rPr>
              <a:t>Correlation heatmaps, grade distributions, outliers</a:t>
            </a:r>
            <a:endParaRPr lang="en-US" sz="850" dirty="0"/>
          </a:p>
        </p:txBody>
      </p:sp>
      <p:sp>
        <p:nvSpPr>
          <p:cNvPr id="39" name="Shape 37"/>
          <p:cNvSpPr/>
          <p:nvPr/>
        </p:nvSpPr>
        <p:spPr>
          <a:xfrm>
            <a:off x="4736592" y="2871216"/>
            <a:ext cx="0" cy="201168"/>
          </a:xfrm>
          <a:prstGeom prst="line">
            <a:avLst/>
          </a:prstGeom>
          <a:noFill/>
          <a:ln w="12700">
            <a:solidFill>
              <a:srgbClr val="7B2FFF"/>
            </a:solidFill>
            <a:prstDash val="dash"/>
          </a:ln>
        </p:spPr>
      </p:sp>
      <p:sp>
        <p:nvSpPr>
          <p:cNvPr id="40" name="Shape 38"/>
          <p:cNvSpPr/>
          <p:nvPr/>
        </p:nvSpPr>
        <p:spPr>
          <a:xfrm>
            <a:off x="4572000" y="3145536"/>
            <a:ext cx="347472" cy="347472"/>
          </a:xfrm>
          <a:prstGeom prst="ellipse">
            <a:avLst/>
          </a:prstGeom>
          <a:solidFill>
            <a:srgbClr val="7B2FFF">
              <a:alpha val="70000"/>
            </a:srgbClr>
          </a:solidFill>
          <a:ln w="12700">
            <a:solidFill>
              <a:srgbClr val="7B2FFF"/>
            </a:solidFill>
            <a:prstDash val="solid"/>
          </a:ln>
        </p:spPr>
      </p:sp>
      <p:sp>
        <p:nvSpPr>
          <p:cNvPr id="41" name="Text 39"/>
          <p:cNvSpPr/>
          <p:nvPr/>
        </p:nvSpPr>
        <p:spPr>
          <a:xfrm>
            <a:off x="4572000" y="3145536"/>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4</a:t>
            </a:r>
            <a:endParaRPr lang="en-US" sz="1200" dirty="0"/>
          </a:p>
        </p:txBody>
      </p:sp>
      <p:sp>
        <p:nvSpPr>
          <p:cNvPr id="42" name="Text 40"/>
          <p:cNvSpPr/>
          <p:nvPr/>
        </p:nvSpPr>
        <p:spPr>
          <a:xfrm>
            <a:off x="5010912" y="3127248"/>
            <a:ext cx="3749040" cy="219456"/>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Model Training</a:t>
            </a:r>
            <a:endParaRPr lang="en-US" sz="1000" dirty="0"/>
          </a:p>
        </p:txBody>
      </p:sp>
      <p:sp>
        <p:nvSpPr>
          <p:cNvPr id="43" name="Text 41"/>
          <p:cNvSpPr/>
          <p:nvPr/>
        </p:nvSpPr>
        <p:spPr>
          <a:xfrm>
            <a:off x="5010912" y="3346704"/>
            <a:ext cx="3749040" cy="228600"/>
          </a:xfrm>
          <a:prstGeom prst="rect">
            <a:avLst/>
          </a:prstGeom>
          <a:noFill/>
          <a:ln/>
        </p:spPr>
        <p:txBody>
          <a:bodyPr wrap="square" lIns="0" tIns="0" rIns="0" bIns="0" rtlCol="0" anchor="ctr"/>
          <a:lstStyle/>
          <a:p>
            <a:pPr indent="0" marL="0">
              <a:buNone/>
            </a:pPr>
            <a:r>
              <a:rPr lang="en-US" sz="850" dirty="0">
                <a:solidFill>
                  <a:srgbClr val="C8E6FF"/>
                </a:solidFill>
                <a:latin typeface="Calibri" pitchFamily="34" charset="0"/>
                <a:ea typeface="Calibri" pitchFamily="34" charset="-122"/>
                <a:cs typeface="Calibri" pitchFamily="34" charset="-120"/>
              </a:rPr>
              <a:t>Logistic Reg, Random Forest, SVM, KNN, Decision Tree</a:t>
            </a:r>
            <a:endParaRPr lang="en-US" sz="850" dirty="0"/>
          </a:p>
        </p:txBody>
      </p:sp>
      <p:sp>
        <p:nvSpPr>
          <p:cNvPr id="44" name="Shape 42"/>
          <p:cNvSpPr/>
          <p:nvPr/>
        </p:nvSpPr>
        <p:spPr>
          <a:xfrm>
            <a:off x="4736592" y="3493008"/>
            <a:ext cx="0" cy="201168"/>
          </a:xfrm>
          <a:prstGeom prst="line">
            <a:avLst/>
          </a:prstGeom>
          <a:noFill/>
          <a:ln w="12700">
            <a:solidFill>
              <a:srgbClr val="7B2FFF"/>
            </a:solidFill>
            <a:prstDash val="dash"/>
          </a:ln>
        </p:spPr>
      </p:sp>
      <p:sp>
        <p:nvSpPr>
          <p:cNvPr id="45" name="Shape 43"/>
          <p:cNvSpPr/>
          <p:nvPr/>
        </p:nvSpPr>
        <p:spPr>
          <a:xfrm>
            <a:off x="4572000" y="3767328"/>
            <a:ext cx="347472" cy="347472"/>
          </a:xfrm>
          <a:prstGeom prst="ellipse">
            <a:avLst/>
          </a:prstGeom>
          <a:solidFill>
            <a:srgbClr val="7B2FFF">
              <a:alpha val="70000"/>
            </a:srgbClr>
          </a:solidFill>
          <a:ln w="12700">
            <a:solidFill>
              <a:srgbClr val="7B2FFF"/>
            </a:solidFill>
            <a:prstDash val="solid"/>
          </a:ln>
        </p:spPr>
      </p:sp>
      <p:sp>
        <p:nvSpPr>
          <p:cNvPr id="46" name="Text 44"/>
          <p:cNvSpPr/>
          <p:nvPr/>
        </p:nvSpPr>
        <p:spPr>
          <a:xfrm>
            <a:off x="4572000" y="3767328"/>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5</a:t>
            </a:r>
            <a:endParaRPr lang="en-US" sz="1200" dirty="0"/>
          </a:p>
        </p:txBody>
      </p:sp>
      <p:sp>
        <p:nvSpPr>
          <p:cNvPr id="47" name="Text 45"/>
          <p:cNvSpPr/>
          <p:nvPr/>
        </p:nvSpPr>
        <p:spPr>
          <a:xfrm>
            <a:off x="5010912" y="3749040"/>
            <a:ext cx="3749040" cy="219456"/>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Model Evaluation</a:t>
            </a:r>
            <a:endParaRPr lang="en-US" sz="1000" dirty="0"/>
          </a:p>
        </p:txBody>
      </p:sp>
      <p:sp>
        <p:nvSpPr>
          <p:cNvPr id="48" name="Text 46"/>
          <p:cNvSpPr/>
          <p:nvPr/>
        </p:nvSpPr>
        <p:spPr>
          <a:xfrm>
            <a:off x="5010912" y="3968496"/>
            <a:ext cx="3749040" cy="228600"/>
          </a:xfrm>
          <a:prstGeom prst="rect">
            <a:avLst/>
          </a:prstGeom>
          <a:noFill/>
          <a:ln/>
        </p:spPr>
        <p:txBody>
          <a:bodyPr wrap="square" lIns="0" tIns="0" rIns="0" bIns="0" rtlCol="0" anchor="ctr"/>
          <a:lstStyle/>
          <a:p>
            <a:pPr indent="0" marL="0">
              <a:buNone/>
            </a:pPr>
            <a:r>
              <a:rPr lang="en-US" sz="850" dirty="0">
                <a:solidFill>
                  <a:srgbClr val="C8E6FF"/>
                </a:solidFill>
                <a:latin typeface="Calibri" pitchFamily="34" charset="0"/>
                <a:ea typeface="Calibri" pitchFamily="34" charset="-122"/>
                <a:cs typeface="Calibri" pitchFamily="34" charset="-120"/>
              </a:rPr>
              <a:t>Accuracy, Precision, Recall, F1 Score, Confusion Matrix</a:t>
            </a:r>
            <a:endParaRPr lang="en-US" sz="850" dirty="0"/>
          </a:p>
        </p:txBody>
      </p:sp>
      <p:sp>
        <p:nvSpPr>
          <p:cNvPr id="49" name="Shape 47"/>
          <p:cNvSpPr/>
          <p:nvPr/>
        </p:nvSpPr>
        <p:spPr>
          <a:xfrm>
            <a:off x="4736592" y="4114800"/>
            <a:ext cx="0" cy="201168"/>
          </a:xfrm>
          <a:prstGeom prst="line">
            <a:avLst/>
          </a:prstGeom>
          <a:noFill/>
          <a:ln w="12700">
            <a:solidFill>
              <a:srgbClr val="7B2FFF"/>
            </a:solidFill>
            <a:prstDash val="dash"/>
          </a:ln>
        </p:spPr>
      </p:sp>
      <p:sp>
        <p:nvSpPr>
          <p:cNvPr id="50" name="Shape 48"/>
          <p:cNvSpPr/>
          <p:nvPr/>
        </p:nvSpPr>
        <p:spPr>
          <a:xfrm>
            <a:off x="4572000" y="4389120"/>
            <a:ext cx="347472" cy="347472"/>
          </a:xfrm>
          <a:prstGeom prst="ellipse">
            <a:avLst/>
          </a:prstGeom>
          <a:solidFill>
            <a:srgbClr val="7B2FFF">
              <a:alpha val="70000"/>
            </a:srgbClr>
          </a:solidFill>
          <a:ln w="12700">
            <a:solidFill>
              <a:srgbClr val="7B2FFF"/>
            </a:solidFill>
            <a:prstDash val="solid"/>
          </a:ln>
        </p:spPr>
      </p:sp>
      <p:sp>
        <p:nvSpPr>
          <p:cNvPr id="51" name="Text 49"/>
          <p:cNvSpPr/>
          <p:nvPr/>
        </p:nvSpPr>
        <p:spPr>
          <a:xfrm>
            <a:off x="4572000" y="43891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rPr>
              <a:t>6</a:t>
            </a:r>
            <a:endParaRPr lang="en-US" sz="1200" dirty="0"/>
          </a:p>
        </p:txBody>
      </p:sp>
      <p:sp>
        <p:nvSpPr>
          <p:cNvPr id="52" name="Text 50"/>
          <p:cNvSpPr/>
          <p:nvPr/>
        </p:nvSpPr>
        <p:spPr>
          <a:xfrm>
            <a:off x="5010912" y="4370832"/>
            <a:ext cx="3749040" cy="219456"/>
          </a:xfrm>
          <a:prstGeom prst="rect">
            <a:avLst/>
          </a:prstGeom>
          <a:noFill/>
          <a:ln/>
        </p:spPr>
        <p:txBody>
          <a:bodyPr wrap="square" lIns="0" tIns="0" rIns="0" bIns="0" rtlCol="0" anchor="ctr"/>
          <a:lstStyle/>
          <a:p>
            <a:pPr indent="0" marL="0">
              <a:buNone/>
            </a:pPr>
            <a:r>
              <a:rPr lang="en-US" sz="1000" b="1" dirty="0">
                <a:solidFill>
                  <a:srgbClr val="FFFFFF"/>
                </a:solidFill>
                <a:latin typeface="Arial" pitchFamily="34" charset="0"/>
                <a:ea typeface="Arial" pitchFamily="34" charset="-122"/>
                <a:cs typeface="Arial" pitchFamily="34" charset="-120"/>
              </a:rPr>
              <a:t>Results &amp; Insights</a:t>
            </a:r>
            <a:endParaRPr lang="en-US" sz="1000" dirty="0"/>
          </a:p>
        </p:txBody>
      </p:sp>
      <p:sp>
        <p:nvSpPr>
          <p:cNvPr id="53" name="Text 51"/>
          <p:cNvSpPr/>
          <p:nvPr/>
        </p:nvSpPr>
        <p:spPr>
          <a:xfrm>
            <a:off x="5010912" y="4590288"/>
            <a:ext cx="3749040" cy="228600"/>
          </a:xfrm>
          <a:prstGeom prst="rect">
            <a:avLst/>
          </a:prstGeom>
          <a:noFill/>
          <a:ln/>
        </p:spPr>
        <p:txBody>
          <a:bodyPr wrap="square" lIns="0" tIns="0" rIns="0" bIns="0" rtlCol="0" anchor="ctr"/>
          <a:lstStyle/>
          <a:p>
            <a:pPr indent="0" marL="0">
              <a:buNone/>
            </a:pPr>
            <a:r>
              <a:rPr lang="en-US" sz="850" dirty="0">
                <a:solidFill>
                  <a:srgbClr val="C8E6FF"/>
                </a:solidFill>
                <a:latin typeface="Calibri" pitchFamily="34" charset="0"/>
                <a:ea typeface="Calibri" pitchFamily="34" charset="-122"/>
                <a:cs typeface="Calibri" pitchFamily="34" charset="-120"/>
              </a:rPr>
              <a:t>Feature importance, best model selection</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50A30"/>
        </a:solidFill>
      </p:bgPr>
    </p:bg>
    <p:spTree>
      <p:nvGrpSpPr>
        <p:cNvPr id="1" name=""/>
        <p:cNvGrpSpPr/>
        <p:nvPr/>
      </p:nvGrpSpPr>
      <p:grpSpPr>
        <a:xfrm>
          <a:off x="0" y="0"/>
          <a:ext cx="0" cy="0"/>
          <a:chOff x="0" y="0"/>
          <a:chExt cx="0" cy="0"/>
        </a:xfrm>
      </p:grpSpPr>
      <p:sp>
        <p:nvSpPr>
          <p:cNvPr id="2" name="Shape 0"/>
          <p:cNvSpPr/>
          <p:nvPr/>
        </p:nvSpPr>
        <p:spPr>
          <a:xfrm>
            <a:off x="-914400" y="-457200"/>
            <a:ext cx="3200400" cy="3200400"/>
          </a:xfrm>
          <a:prstGeom prst="ellipse">
            <a:avLst/>
          </a:prstGeom>
          <a:solidFill>
            <a:srgbClr val="7B2FFF">
              <a:alpha val="13000"/>
            </a:srgbClr>
          </a:solidFill>
          <a:ln w="12700">
            <a:solidFill>
              <a:srgbClr val="7B2FFF">
                <a:alpha val="13000"/>
              </a:srgbClr>
            </a:solidFill>
            <a:prstDash val="solid"/>
          </a:ln>
        </p:spPr>
      </p:sp>
      <p:sp>
        <p:nvSpPr>
          <p:cNvPr id="3" name="Text 1"/>
          <p:cNvSpPr/>
          <p:nvPr/>
        </p:nvSpPr>
        <p:spPr>
          <a:xfrm>
            <a:off x="274320" y="164592"/>
            <a:ext cx="859536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DATA PREPROCESSING &amp; STATISTICAL ANALYSIS</a:t>
            </a:r>
            <a:endParaRPr lang="en-US" sz="2000" dirty="0"/>
          </a:p>
        </p:txBody>
      </p:sp>
      <p:sp>
        <p:nvSpPr>
          <p:cNvPr id="4" name="Shape 2"/>
          <p:cNvSpPr/>
          <p:nvPr/>
        </p:nvSpPr>
        <p:spPr>
          <a:xfrm>
            <a:off x="1828800" y="713232"/>
            <a:ext cx="5486400" cy="0"/>
          </a:xfrm>
          <a:prstGeom prst="line">
            <a:avLst/>
          </a:prstGeom>
          <a:noFill/>
          <a:ln w="25400">
            <a:solidFill>
              <a:srgbClr val="00C8FF"/>
            </a:solidFill>
            <a:prstDash val="solid"/>
          </a:ln>
        </p:spPr>
      </p:sp>
      <p:sp>
        <p:nvSpPr>
          <p:cNvPr id="5" name="Text 3"/>
          <p:cNvSpPr/>
          <p:nvPr/>
        </p:nvSpPr>
        <p:spPr>
          <a:xfrm>
            <a:off x="274320" y="841248"/>
            <a:ext cx="4114800" cy="320040"/>
          </a:xfrm>
          <a:prstGeom prst="rect">
            <a:avLst/>
          </a:prstGeom>
          <a:noFill/>
          <a:ln/>
        </p:spPr>
        <p:txBody>
          <a:bodyPr wrap="square" lIns="0" tIns="0" rIns="0" bIns="0" rtlCol="0" anchor="ctr"/>
          <a:lstStyle/>
          <a:p>
            <a:pPr indent="0" marL="0">
              <a:buNone/>
            </a:pPr>
            <a:r>
              <a:rPr lang="en-US" sz="1100" b="1" dirty="0">
                <a:solidFill>
                  <a:srgbClr val="00C8FF"/>
                </a:solidFill>
                <a:latin typeface="Arial" pitchFamily="34" charset="0"/>
                <a:ea typeface="Arial" pitchFamily="34" charset="-122"/>
                <a:cs typeface="Arial" pitchFamily="34" charset="-120"/>
              </a:rPr>
              <a:t>DATA PREPROCESSING</a:t>
            </a:r>
            <a:endParaRPr lang="en-US" sz="1100" dirty="0"/>
          </a:p>
        </p:txBody>
      </p:sp>
      <p:sp>
        <p:nvSpPr>
          <p:cNvPr id="6" name="Shape 4"/>
          <p:cNvSpPr/>
          <p:nvPr/>
        </p:nvSpPr>
        <p:spPr>
          <a:xfrm>
            <a:off x="274320" y="1216152"/>
            <a:ext cx="4069080" cy="475488"/>
          </a:xfrm>
          <a:prstGeom prst="roundRect">
            <a:avLst>
              <a:gd name="adj" fmla="val 11538"/>
            </a:avLst>
          </a:prstGeom>
          <a:solidFill>
            <a:srgbClr val="0D1B5E"/>
          </a:solidFill>
          <a:ln w="12700">
            <a:solidFill>
              <a:srgbClr val="00C8FF"/>
            </a:solidFill>
            <a:prstDash val="solid"/>
          </a:ln>
          <a:effectLst>
            <a:outerShdw sx="100000" sy="100000" kx="0" ky="0" algn="bl" rotWithShape="0" blurRad="101600" dist="38100" dir="2700000">
              <a:srgbClr val="000000">
                <a:alpha val="35000"/>
              </a:srgbClr>
            </a:outerShdw>
          </a:effectLst>
        </p:spPr>
      </p:sp>
      <p:sp>
        <p:nvSpPr>
          <p:cNvPr id="7" name="Text 5"/>
          <p:cNvSpPr/>
          <p:nvPr/>
        </p:nvSpPr>
        <p:spPr>
          <a:xfrm>
            <a:off x="411480" y="1252728"/>
            <a:ext cx="3749040" cy="201168"/>
          </a:xfrm>
          <a:prstGeom prst="rect">
            <a:avLst/>
          </a:prstGeom>
          <a:noFill/>
          <a:ln/>
        </p:spPr>
        <p:txBody>
          <a:bodyPr wrap="square" lIns="0" tIns="0" rIns="0" bIns="0" rtlCol="0" anchor="ctr"/>
          <a:lstStyle/>
          <a:p>
            <a:pPr indent="0" marL="0">
              <a:buNone/>
            </a:pPr>
            <a:r>
              <a:rPr lang="en-US" sz="900" b="1" dirty="0">
                <a:solidFill>
                  <a:srgbClr val="00C8FF"/>
                </a:solidFill>
                <a:latin typeface="Arial" pitchFamily="34" charset="0"/>
                <a:ea typeface="Arial" pitchFamily="34" charset="-122"/>
                <a:cs typeface="Arial" pitchFamily="34" charset="-120"/>
              </a:rPr>
              <a:t>Missing Value Check</a:t>
            </a:r>
            <a:endParaRPr lang="en-US" sz="900" dirty="0"/>
          </a:p>
        </p:txBody>
      </p:sp>
      <p:sp>
        <p:nvSpPr>
          <p:cNvPr id="8" name="Text 6"/>
          <p:cNvSpPr/>
          <p:nvPr/>
        </p:nvSpPr>
        <p:spPr>
          <a:xfrm>
            <a:off x="411480" y="1463040"/>
            <a:ext cx="3749040" cy="182880"/>
          </a:xfrm>
          <a:prstGeom prst="rect">
            <a:avLst/>
          </a:prstGeom>
          <a:noFill/>
          <a:ln/>
        </p:spPr>
        <p:txBody>
          <a:bodyPr wrap="square" lIns="0" tIns="0" rIns="0" bIns="0" rtlCol="0" anchor="ctr"/>
          <a:lstStyle/>
          <a:p>
            <a:pPr indent="0" marL="0">
              <a:buNone/>
            </a:pPr>
            <a:r>
              <a:rPr lang="en-US" sz="800" dirty="0">
                <a:solidFill>
                  <a:srgbClr val="C8E6FF"/>
                </a:solidFill>
                <a:latin typeface="Calibri" pitchFamily="34" charset="0"/>
                <a:ea typeface="Calibri" pitchFamily="34" charset="-122"/>
                <a:cs typeface="Calibri" pitchFamily="34" charset="-120"/>
              </a:rPr>
              <a:t>No missing values in dataset</a:t>
            </a:r>
            <a:endParaRPr lang="en-US" sz="800" dirty="0"/>
          </a:p>
        </p:txBody>
      </p:sp>
      <p:sp>
        <p:nvSpPr>
          <p:cNvPr id="9" name="Shape 7"/>
          <p:cNvSpPr/>
          <p:nvPr/>
        </p:nvSpPr>
        <p:spPr>
          <a:xfrm>
            <a:off x="274320" y="1819656"/>
            <a:ext cx="4069080" cy="475488"/>
          </a:xfrm>
          <a:prstGeom prst="roundRect">
            <a:avLst>
              <a:gd name="adj" fmla="val 11538"/>
            </a:avLst>
          </a:prstGeom>
          <a:solidFill>
            <a:srgbClr val="0D1B5E"/>
          </a:solidFill>
          <a:ln w="12700">
            <a:solidFill>
              <a:srgbClr val="00C8FF"/>
            </a:solidFill>
            <a:prstDash val="solid"/>
          </a:ln>
          <a:effectLst>
            <a:outerShdw sx="100000" sy="100000" kx="0" ky="0" algn="bl" rotWithShape="0" blurRad="101600" dist="38100" dir="2700000">
              <a:srgbClr val="000000">
                <a:alpha val="35000"/>
              </a:srgbClr>
            </a:outerShdw>
          </a:effectLst>
        </p:spPr>
      </p:sp>
      <p:sp>
        <p:nvSpPr>
          <p:cNvPr id="10" name="Text 8"/>
          <p:cNvSpPr/>
          <p:nvPr/>
        </p:nvSpPr>
        <p:spPr>
          <a:xfrm>
            <a:off x="411480" y="1856232"/>
            <a:ext cx="3749040" cy="201168"/>
          </a:xfrm>
          <a:prstGeom prst="rect">
            <a:avLst/>
          </a:prstGeom>
          <a:noFill/>
          <a:ln/>
        </p:spPr>
        <p:txBody>
          <a:bodyPr wrap="square" lIns="0" tIns="0" rIns="0" bIns="0" rtlCol="0" anchor="ctr"/>
          <a:lstStyle/>
          <a:p>
            <a:pPr indent="0" marL="0">
              <a:buNone/>
            </a:pPr>
            <a:r>
              <a:rPr lang="en-US" sz="900" b="1" dirty="0">
                <a:solidFill>
                  <a:srgbClr val="00C8FF"/>
                </a:solidFill>
                <a:latin typeface="Arial" pitchFamily="34" charset="0"/>
                <a:ea typeface="Arial" pitchFamily="34" charset="-122"/>
                <a:cs typeface="Arial" pitchFamily="34" charset="-120"/>
              </a:rPr>
              <a:t>Duplicate Detection</a:t>
            </a:r>
            <a:endParaRPr lang="en-US" sz="900" dirty="0"/>
          </a:p>
        </p:txBody>
      </p:sp>
      <p:sp>
        <p:nvSpPr>
          <p:cNvPr id="11" name="Text 9"/>
          <p:cNvSpPr/>
          <p:nvPr/>
        </p:nvSpPr>
        <p:spPr>
          <a:xfrm>
            <a:off x="411480" y="2066544"/>
            <a:ext cx="3749040" cy="182880"/>
          </a:xfrm>
          <a:prstGeom prst="rect">
            <a:avLst/>
          </a:prstGeom>
          <a:noFill/>
          <a:ln/>
        </p:spPr>
        <p:txBody>
          <a:bodyPr wrap="square" lIns="0" tIns="0" rIns="0" bIns="0" rtlCol="0" anchor="ctr"/>
          <a:lstStyle/>
          <a:p>
            <a:pPr indent="0" marL="0">
              <a:buNone/>
            </a:pPr>
            <a:r>
              <a:rPr lang="en-US" sz="800" dirty="0">
                <a:solidFill>
                  <a:srgbClr val="C8E6FF"/>
                </a:solidFill>
                <a:latin typeface="Calibri" pitchFamily="34" charset="0"/>
                <a:ea typeface="Calibri" pitchFamily="34" charset="-122"/>
                <a:cs typeface="Calibri" pitchFamily="34" charset="-120"/>
              </a:rPr>
              <a:t>Removed duplicate entries if any</a:t>
            </a:r>
            <a:endParaRPr lang="en-US" sz="800" dirty="0"/>
          </a:p>
        </p:txBody>
      </p:sp>
      <p:sp>
        <p:nvSpPr>
          <p:cNvPr id="12" name="Shape 10"/>
          <p:cNvSpPr/>
          <p:nvPr/>
        </p:nvSpPr>
        <p:spPr>
          <a:xfrm>
            <a:off x="274320" y="2423160"/>
            <a:ext cx="4069080" cy="475488"/>
          </a:xfrm>
          <a:prstGeom prst="roundRect">
            <a:avLst>
              <a:gd name="adj" fmla="val 11538"/>
            </a:avLst>
          </a:prstGeom>
          <a:solidFill>
            <a:srgbClr val="0D1B5E"/>
          </a:solidFill>
          <a:ln w="12700">
            <a:solidFill>
              <a:srgbClr val="00C8FF"/>
            </a:solidFill>
            <a:prstDash val="solid"/>
          </a:ln>
          <a:effectLst>
            <a:outerShdw sx="100000" sy="100000" kx="0" ky="0" algn="bl" rotWithShape="0" blurRad="101600" dist="38100" dir="2700000">
              <a:srgbClr val="000000">
                <a:alpha val="35000"/>
              </a:srgbClr>
            </a:outerShdw>
          </a:effectLst>
        </p:spPr>
      </p:sp>
      <p:sp>
        <p:nvSpPr>
          <p:cNvPr id="13" name="Text 11"/>
          <p:cNvSpPr/>
          <p:nvPr/>
        </p:nvSpPr>
        <p:spPr>
          <a:xfrm>
            <a:off x="411480" y="2459736"/>
            <a:ext cx="3749040" cy="201168"/>
          </a:xfrm>
          <a:prstGeom prst="rect">
            <a:avLst/>
          </a:prstGeom>
          <a:noFill/>
          <a:ln/>
        </p:spPr>
        <p:txBody>
          <a:bodyPr wrap="square" lIns="0" tIns="0" rIns="0" bIns="0" rtlCol="0" anchor="ctr"/>
          <a:lstStyle/>
          <a:p>
            <a:pPr indent="0" marL="0">
              <a:buNone/>
            </a:pPr>
            <a:r>
              <a:rPr lang="en-US" sz="900" b="1" dirty="0">
                <a:solidFill>
                  <a:srgbClr val="00C8FF"/>
                </a:solidFill>
                <a:latin typeface="Arial" pitchFamily="34" charset="0"/>
                <a:ea typeface="Arial" pitchFamily="34" charset="-122"/>
                <a:cs typeface="Arial" pitchFamily="34" charset="-120"/>
              </a:rPr>
              <a:t>Outlier Extraction</a:t>
            </a:r>
            <a:endParaRPr lang="en-US" sz="900" dirty="0"/>
          </a:p>
        </p:txBody>
      </p:sp>
      <p:sp>
        <p:nvSpPr>
          <p:cNvPr id="14" name="Text 12"/>
          <p:cNvSpPr/>
          <p:nvPr/>
        </p:nvSpPr>
        <p:spPr>
          <a:xfrm>
            <a:off x="411480" y="2670048"/>
            <a:ext cx="3749040" cy="182880"/>
          </a:xfrm>
          <a:prstGeom prst="rect">
            <a:avLst/>
          </a:prstGeom>
          <a:noFill/>
          <a:ln/>
        </p:spPr>
        <p:txBody>
          <a:bodyPr wrap="square" lIns="0" tIns="0" rIns="0" bIns="0" rtlCol="0" anchor="ctr"/>
          <a:lstStyle/>
          <a:p>
            <a:pPr indent="0" marL="0">
              <a:buNone/>
            </a:pPr>
            <a:r>
              <a:rPr lang="en-US" sz="800" dirty="0">
                <a:solidFill>
                  <a:srgbClr val="C8E6FF"/>
                </a:solidFill>
                <a:latin typeface="Calibri" pitchFamily="34" charset="0"/>
                <a:ea typeface="Calibri" pitchFamily="34" charset="-122"/>
                <a:cs typeface="Calibri" pitchFamily="34" charset="-120"/>
              </a:rPr>
              <a:t>IQR method for grade outliers</a:t>
            </a:r>
            <a:endParaRPr lang="en-US" sz="800" dirty="0"/>
          </a:p>
        </p:txBody>
      </p:sp>
      <p:sp>
        <p:nvSpPr>
          <p:cNvPr id="15" name="Shape 13"/>
          <p:cNvSpPr/>
          <p:nvPr/>
        </p:nvSpPr>
        <p:spPr>
          <a:xfrm>
            <a:off x="274320" y="3026664"/>
            <a:ext cx="4069080" cy="475488"/>
          </a:xfrm>
          <a:prstGeom prst="roundRect">
            <a:avLst>
              <a:gd name="adj" fmla="val 11538"/>
            </a:avLst>
          </a:prstGeom>
          <a:solidFill>
            <a:srgbClr val="0D1B5E"/>
          </a:solidFill>
          <a:ln w="12700">
            <a:solidFill>
              <a:srgbClr val="00C8FF"/>
            </a:solidFill>
            <a:prstDash val="solid"/>
          </a:ln>
          <a:effectLst>
            <a:outerShdw sx="100000" sy="100000" kx="0" ky="0" algn="bl" rotWithShape="0" blurRad="101600" dist="38100" dir="2700000">
              <a:srgbClr val="000000">
                <a:alpha val="35000"/>
              </a:srgbClr>
            </a:outerShdw>
          </a:effectLst>
        </p:spPr>
      </p:sp>
      <p:sp>
        <p:nvSpPr>
          <p:cNvPr id="16" name="Text 14"/>
          <p:cNvSpPr/>
          <p:nvPr/>
        </p:nvSpPr>
        <p:spPr>
          <a:xfrm>
            <a:off x="411480" y="3063240"/>
            <a:ext cx="3749040" cy="201168"/>
          </a:xfrm>
          <a:prstGeom prst="rect">
            <a:avLst/>
          </a:prstGeom>
          <a:noFill/>
          <a:ln/>
        </p:spPr>
        <p:txBody>
          <a:bodyPr wrap="square" lIns="0" tIns="0" rIns="0" bIns="0" rtlCol="0" anchor="ctr"/>
          <a:lstStyle/>
          <a:p>
            <a:pPr indent="0" marL="0">
              <a:buNone/>
            </a:pPr>
            <a:r>
              <a:rPr lang="en-US" sz="900" b="1" dirty="0">
                <a:solidFill>
                  <a:srgbClr val="00C8FF"/>
                </a:solidFill>
                <a:latin typeface="Arial" pitchFamily="34" charset="0"/>
                <a:ea typeface="Arial" pitchFamily="34" charset="-122"/>
                <a:cs typeface="Arial" pitchFamily="34" charset="-120"/>
              </a:rPr>
              <a:t>Label Encoding</a:t>
            </a:r>
            <a:endParaRPr lang="en-US" sz="900" dirty="0"/>
          </a:p>
        </p:txBody>
      </p:sp>
      <p:sp>
        <p:nvSpPr>
          <p:cNvPr id="17" name="Text 15"/>
          <p:cNvSpPr/>
          <p:nvPr/>
        </p:nvSpPr>
        <p:spPr>
          <a:xfrm>
            <a:off x="411480" y="3273552"/>
            <a:ext cx="3749040" cy="182880"/>
          </a:xfrm>
          <a:prstGeom prst="rect">
            <a:avLst/>
          </a:prstGeom>
          <a:noFill/>
          <a:ln/>
        </p:spPr>
        <p:txBody>
          <a:bodyPr wrap="square" lIns="0" tIns="0" rIns="0" bIns="0" rtlCol="0" anchor="ctr"/>
          <a:lstStyle/>
          <a:p>
            <a:pPr indent="0" marL="0">
              <a:buNone/>
            </a:pPr>
            <a:r>
              <a:rPr lang="en-US" sz="800" dirty="0">
                <a:solidFill>
                  <a:srgbClr val="C8E6FF"/>
                </a:solidFill>
                <a:latin typeface="Calibri" pitchFamily="34" charset="0"/>
                <a:ea typeface="Calibri" pitchFamily="34" charset="-122"/>
                <a:cs typeface="Calibri" pitchFamily="34" charset="-120"/>
              </a:rPr>
              <a:t>Binary/Categorical → Numeric (0/1)</a:t>
            </a:r>
            <a:endParaRPr lang="en-US" sz="800" dirty="0"/>
          </a:p>
        </p:txBody>
      </p:sp>
      <p:sp>
        <p:nvSpPr>
          <p:cNvPr id="18" name="Shape 16"/>
          <p:cNvSpPr/>
          <p:nvPr/>
        </p:nvSpPr>
        <p:spPr>
          <a:xfrm>
            <a:off x="274320" y="3630168"/>
            <a:ext cx="4069080" cy="475488"/>
          </a:xfrm>
          <a:prstGeom prst="roundRect">
            <a:avLst>
              <a:gd name="adj" fmla="val 11538"/>
            </a:avLst>
          </a:prstGeom>
          <a:solidFill>
            <a:srgbClr val="0D1B5E"/>
          </a:solidFill>
          <a:ln w="12700">
            <a:solidFill>
              <a:srgbClr val="00C8FF"/>
            </a:solidFill>
            <a:prstDash val="solid"/>
          </a:ln>
          <a:effectLst>
            <a:outerShdw sx="100000" sy="100000" kx="0" ky="0" algn="bl" rotWithShape="0" blurRad="101600" dist="38100" dir="2700000">
              <a:srgbClr val="000000">
                <a:alpha val="35000"/>
              </a:srgbClr>
            </a:outerShdw>
          </a:effectLst>
        </p:spPr>
      </p:sp>
      <p:sp>
        <p:nvSpPr>
          <p:cNvPr id="19" name="Text 17"/>
          <p:cNvSpPr/>
          <p:nvPr/>
        </p:nvSpPr>
        <p:spPr>
          <a:xfrm>
            <a:off x="411480" y="3666744"/>
            <a:ext cx="3749040" cy="201168"/>
          </a:xfrm>
          <a:prstGeom prst="rect">
            <a:avLst/>
          </a:prstGeom>
          <a:noFill/>
          <a:ln/>
        </p:spPr>
        <p:txBody>
          <a:bodyPr wrap="square" lIns="0" tIns="0" rIns="0" bIns="0" rtlCol="0" anchor="ctr"/>
          <a:lstStyle/>
          <a:p>
            <a:pPr indent="0" marL="0">
              <a:buNone/>
            </a:pPr>
            <a:r>
              <a:rPr lang="en-US" sz="900" b="1" dirty="0">
                <a:solidFill>
                  <a:srgbClr val="00C8FF"/>
                </a:solidFill>
                <a:latin typeface="Arial" pitchFamily="34" charset="0"/>
                <a:ea typeface="Arial" pitchFamily="34" charset="-122"/>
                <a:cs typeface="Arial" pitchFamily="34" charset="-120"/>
              </a:rPr>
              <a:t>Feature Scaling</a:t>
            </a:r>
            <a:endParaRPr lang="en-US" sz="900" dirty="0"/>
          </a:p>
        </p:txBody>
      </p:sp>
      <p:sp>
        <p:nvSpPr>
          <p:cNvPr id="20" name="Text 18"/>
          <p:cNvSpPr/>
          <p:nvPr/>
        </p:nvSpPr>
        <p:spPr>
          <a:xfrm>
            <a:off x="411480" y="3877056"/>
            <a:ext cx="3749040" cy="182880"/>
          </a:xfrm>
          <a:prstGeom prst="rect">
            <a:avLst/>
          </a:prstGeom>
          <a:noFill/>
          <a:ln/>
        </p:spPr>
        <p:txBody>
          <a:bodyPr wrap="square" lIns="0" tIns="0" rIns="0" bIns="0" rtlCol="0" anchor="ctr"/>
          <a:lstStyle/>
          <a:p>
            <a:pPr indent="0" marL="0">
              <a:buNone/>
            </a:pPr>
            <a:r>
              <a:rPr lang="en-US" sz="800" dirty="0">
                <a:solidFill>
                  <a:srgbClr val="C8E6FF"/>
                </a:solidFill>
                <a:latin typeface="Calibri" pitchFamily="34" charset="0"/>
                <a:ea typeface="Calibri" pitchFamily="34" charset="-122"/>
                <a:cs typeface="Calibri" pitchFamily="34" charset="-120"/>
              </a:rPr>
              <a:t>Min-Max normalization applied</a:t>
            </a:r>
            <a:endParaRPr lang="en-US" sz="800" dirty="0"/>
          </a:p>
        </p:txBody>
      </p:sp>
      <p:sp>
        <p:nvSpPr>
          <p:cNvPr id="21" name="Shape 19"/>
          <p:cNvSpPr/>
          <p:nvPr/>
        </p:nvSpPr>
        <p:spPr>
          <a:xfrm>
            <a:off x="274320" y="4233672"/>
            <a:ext cx="4069080" cy="475488"/>
          </a:xfrm>
          <a:prstGeom prst="roundRect">
            <a:avLst>
              <a:gd name="adj" fmla="val 11538"/>
            </a:avLst>
          </a:prstGeom>
          <a:solidFill>
            <a:srgbClr val="0D1B5E"/>
          </a:solidFill>
          <a:ln w="12700">
            <a:solidFill>
              <a:srgbClr val="00C8FF"/>
            </a:solidFill>
            <a:prstDash val="solid"/>
          </a:ln>
          <a:effectLst>
            <a:outerShdw sx="100000" sy="100000" kx="0" ky="0" algn="bl" rotWithShape="0" blurRad="101600" dist="38100" dir="2700000">
              <a:srgbClr val="000000">
                <a:alpha val="35000"/>
              </a:srgbClr>
            </a:outerShdw>
          </a:effectLst>
        </p:spPr>
      </p:sp>
      <p:sp>
        <p:nvSpPr>
          <p:cNvPr id="22" name="Text 20"/>
          <p:cNvSpPr/>
          <p:nvPr/>
        </p:nvSpPr>
        <p:spPr>
          <a:xfrm>
            <a:off x="411480" y="4270248"/>
            <a:ext cx="3749040" cy="201168"/>
          </a:xfrm>
          <a:prstGeom prst="rect">
            <a:avLst/>
          </a:prstGeom>
          <a:noFill/>
          <a:ln/>
        </p:spPr>
        <p:txBody>
          <a:bodyPr wrap="square" lIns="0" tIns="0" rIns="0" bIns="0" rtlCol="0" anchor="ctr"/>
          <a:lstStyle/>
          <a:p>
            <a:pPr indent="0" marL="0">
              <a:buNone/>
            </a:pPr>
            <a:r>
              <a:rPr lang="en-US" sz="900" b="1" dirty="0">
                <a:solidFill>
                  <a:srgbClr val="00C8FF"/>
                </a:solidFill>
                <a:latin typeface="Arial" pitchFamily="34" charset="0"/>
                <a:ea typeface="Arial" pitchFamily="34" charset="-122"/>
                <a:cs typeface="Arial" pitchFamily="34" charset="-120"/>
              </a:rPr>
              <a:t>Combination-based Feature Selection</a:t>
            </a:r>
            <a:endParaRPr lang="en-US" sz="900" dirty="0"/>
          </a:p>
        </p:txBody>
      </p:sp>
      <p:sp>
        <p:nvSpPr>
          <p:cNvPr id="23" name="Text 21"/>
          <p:cNvSpPr/>
          <p:nvPr/>
        </p:nvSpPr>
        <p:spPr>
          <a:xfrm>
            <a:off x="411480" y="4480560"/>
            <a:ext cx="3749040" cy="182880"/>
          </a:xfrm>
          <a:prstGeom prst="rect">
            <a:avLst/>
          </a:prstGeom>
          <a:noFill/>
          <a:ln/>
        </p:spPr>
        <p:txBody>
          <a:bodyPr wrap="square" lIns="0" tIns="0" rIns="0" bIns="0" rtlCol="0" anchor="ctr"/>
          <a:lstStyle/>
          <a:p>
            <a:pPr indent="0" marL="0">
              <a:buNone/>
            </a:pPr>
            <a:r>
              <a:rPr lang="en-US" sz="800" dirty="0">
                <a:solidFill>
                  <a:srgbClr val="C8E6FF"/>
                </a:solidFill>
                <a:latin typeface="Calibri" pitchFamily="34" charset="0"/>
                <a:ea typeface="Calibri" pitchFamily="34" charset="-122"/>
                <a:cs typeface="Calibri" pitchFamily="34" charset="-120"/>
              </a:rPr>
              <a:t>Correlation &amp; ANOVA filter</a:t>
            </a:r>
            <a:endParaRPr lang="en-US" sz="800" dirty="0"/>
          </a:p>
        </p:txBody>
      </p:sp>
      <p:sp>
        <p:nvSpPr>
          <p:cNvPr id="24" name="Text 22"/>
          <p:cNvSpPr/>
          <p:nvPr/>
        </p:nvSpPr>
        <p:spPr>
          <a:xfrm>
            <a:off x="4572000" y="841248"/>
            <a:ext cx="4297680" cy="320040"/>
          </a:xfrm>
          <a:prstGeom prst="rect">
            <a:avLst/>
          </a:prstGeom>
          <a:noFill/>
          <a:ln/>
        </p:spPr>
        <p:txBody>
          <a:bodyPr wrap="square" lIns="0" tIns="0" rIns="0" bIns="0" rtlCol="0" anchor="ctr"/>
          <a:lstStyle/>
          <a:p>
            <a:pPr indent="0" marL="0">
              <a:buNone/>
            </a:pPr>
            <a:r>
              <a:rPr lang="en-US" sz="1100" b="1" dirty="0">
                <a:solidFill>
                  <a:srgbClr val="7B2FFF"/>
                </a:solidFill>
                <a:latin typeface="Arial" pitchFamily="34" charset="0"/>
                <a:ea typeface="Arial" pitchFamily="34" charset="-122"/>
                <a:cs typeface="Arial" pitchFamily="34" charset="-120"/>
              </a:rPr>
              <a:t>STATISTICAL ANALYSIS</a:t>
            </a:r>
            <a:endParaRPr lang="en-US" sz="1100" dirty="0"/>
          </a:p>
        </p:txBody>
      </p:sp>
      <p:sp>
        <p:nvSpPr>
          <p:cNvPr id="25" name="Shape 23"/>
          <p:cNvSpPr/>
          <p:nvPr/>
        </p:nvSpPr>
        <p:spPr>
          <a:xfrm>
            <a:off x="4572000" y="1216152"/>
            <a:ext cx="4251960" cy="1005840"/>
          </a:xfrm>
          <a:prstGeom prst="roundRect">
            <a:avLst>
              <a:gd name="adj" fmla="val 7273"/>
            </a:avLst>
          </a:prstGeom>
          <a:solidFill>
            <a:srgbClr val="0D1B5E"/>
          </a:solidFill>
          <a:ln w="12700">
            <a:solidFill>
              <a:srgbClr val="7B2FFF"/>
            </a:solidFill>
            <a:prstDash val="solid"/>
          </a:ln>
          <a:effectLst>
            <a:outerShdw sx="100000" sy="100000" kx="0" ky="0" algn="bl" rotWithShape="0" blurRad="101600" dist="38100" dir="2700000">
              <a:srgbClr val="000000">
                <a:alpha val="35000"/>
              </a:srgbClr>
            </a:outerShdw>
          </a:effectLst>
        </p:spPr>
      </p:sp>
      <p:sp>
        <p:nvSpPr>
          <p:cNvPr id="26" name="Text 24"/>
          <p:cNvSpPr/>
          <p:nvPr/>
        </p:nvSpPr>
        <p:spPr>
          <a:xfrm>
            <a:off x="4709160" y="1280160"/>
            <a:ext cx="3931920" cy="256032"/>
          </a:xfrm>
          <a:prstGeom prst="rect">
            <a:avLst/>
          </a:prstGeom>
          <a:noFill/>
          <a:ln/>
        </p:spPr>
        <p:txBody>
          <a:bodyPr wrap="square" lIns="0" tIns="0" rIns="0" bIns="0" rtlCol="0" anchor="ctr"/>
          <a:lstStyle/>
          <a:p>
            <a:pPr indent="0" marL="0">
              <a:buNone/>
            </a:pPr>
            <a:r>
              <a:rPr lang="en-US" sz="1000" b="1" dirty="0">
                <a:solidFill>
                  <a:srgbClr val="7B2FFF"/>
                </a:solidFill>
                <a:latin typeface="Arial" pitchFamily="34" charset="0"/>
                <a:ea typeface="Arial" pitchFamily="34" charset="-122"/>
                <a:cs typeface="Arial" pitchFamily="34" charset="-120"/>
              </a:rPr>
              <a:t>Confidence Interval (95%)</a:t>
            </a:r>
            <a:endParaRPr lang="en-US" sz="1000" dirty="0"/>
          </a:p>
        </p:txBody>
      </p:sp>
      <p:sp>
        <p:nvSpPr>
          <p:cNvPr id="27" name="Text 25"/>
          <p:cNvSpPr/>
          <p:nvPr/>
        </p:nvSpPr>
        <p:spPr>
          <a:xfrm>
            <a:off x="4709160" y="1572768"/>
            <a:ext cx="3931920" cy="228600"/>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G3 Mean Grade: 10.41 ± 0.32  |  CI: (10.09, 10.73)</a:t>
            </a:r>
            <a:endParaRPr lang="en-US" sz="850" dirty="0"/>
          </a:p>
        </p:txBody>
      </p:sp>
      <p:sp>
        <p:nvSpPr>
          <p:cNvPr id="28" name="Text 26"/>
          <p:cNvSpPr/>
          <p:nvPr/>
        </p:nvSpPr>
        <p:spPr>
          <a:xfrm>
            <a:off x="4709160" y="1810512"/>
            <a:ext cx="3931920" cy="274320"/>
          </a:xfrm>
          <a:prstGeom prst="rect">
            <a:avLst/>
          </a:prstGeom>
          <a:noFill/>
          <a:ln/>
        </p:spPr>
        <p:txBody>
          <a:bodyPr wrap="square" lIns="0" tIns="0" rIns="0" bIns="0" rtlCol="0" anchor="ctr"/>
          <a:lstStyle/>
          <a:p>
            <a:pPr indent="0" marL="0">
              <a:buNone/>
            </a:pPr>
            <a:r>
              <a:rPr lang="en-US" sz="750" dirty="0">
                <a:solidFill>
                  <a:srgbClr val="C8E6FF"/>
                </a:solidFill>
                <a:latin typeface="Calibri" pitchFamily="34" charset="0"/>
                <a:ea typeface="Calibri" pitchFamily="34" charset="-122"/>
                <a:cs typeface="Calibri" pitchFamily="34" charset="-120"/>
              </a:rPr>
              <a:t>The mean final grade is expected within this range at 95% confidence.</a:t>
            </a:r>
            <a:endParaRPr lang="en-US" sz="750" dirty="0"/>
          </a:p>
        </p:txBody>
      </p:sp>
      <p:graphicFrame>
        <p:nvGraphicFramePr>
          <p:cNvPr id="29" name="Chart 0" descr=""/>
          <p:cNvGraphicFramePr/>
          <p:nvPr/>
        </p:nvGraphicFramePr>
        <p:xfrm>
          <a:off x="4572000" y="2331720"/>
          <a:ext cx="4251960" cy="2286000"/>
        </p:xfrm>
        <a:graphic xmlns:a="http://schemas.openxmlformats.org/drawingml/2006/main">
          <a:graphicData uri="http://schemas.openxmlformats.org/drawingml/2006/chart">
            <c:chart xmlns:c="http://schemas.openxmlformats.org/drawingml/2006/chart" r:id="rId1"/>
          </a:graphicData>
        </a:graphic>
      </p:graphicFrame>
      <p:sp>
        <p:nvSpPr>
          <p:cNvPr id="30" name="Shape 27"/>
          <p:cNvSpPr/>
          <p:nvPr/>
        </p:nvSpPr>
        <p:spPr>
          <a:xfrm>
            <a:off x="274320" y="4645152"/>
            <a:ext cx="8595360" cy="384048"/>
          </a:xfrm>
          <a:prstGeom prst="roundRect">
            <a:avLst>
              <a:gd name="adj" fmla="val 14286"/>
            </a:avLst>
          </a:prstGeom>
          <a:solidFill>
            <a:srgbClr val="0D1B5E"/>
          </a:solidFill>
          <a:ln w="12700">
            <a:solidFill>
              <a:srgbClr val="FFD700"/>
            </a:solidFill>
            <a:prstDash val="solid"/>
          </a:ln>
        </p:spPr>
      </p:sp>
      <p:sp>
        <p:nvSpPr>
          <p:cNvPr id="31" name="Text 28"/>
          <p:cNvSpPr/>
          <p:nvPr/>
        </p:nvSpPr>
        <p:spPr>
          <a:xfrm>
            <a:off x="457200" y="4663440"/>
            <a:ext cx="8229600" cy="329184"/>
          </a:xfrm>
          <a:prstGeom prst="rect">
            <a:avLst/>
          </a:prstGeom>
          <a:noFill/>
          <a:ln/>
        </p:spPr>
        <p:txBody>
          <a:bodyPr wrap="square" lIns="0" tIns="0" rIns="0" bIns="0" rtlCol="0" anchor="ctr"/>
          <a:lstStyle/>
          <a:p>
            <a:pPr indent="0" marL="0">
              <a:buNone/>
            </a:pPr>
            <a:r>
              <a:rPr lang="en-US" sz="900" b="1" dirty="0">
                <a:solidFill>
                  <a:srgbClr val="FFD700"/>
                </a:solidFill>
                <a:latin typeface="Calibri" pitchFamily="34" charset="0"/>
                <a:ea typeface="Calibri" pitchFamily="34" charset="-122"/>
                <a:cs typeface="Calibri" pitchFamily="34" charset="-120"/>
              </a:rPr>
              <a:t>ANOVA Test: F = 174.069  |  P-Value = 0.0194  →  Significant difference across student groups (p &lt; 0.05)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50A30"/>
        </a:solidFill>
      </p:bgPr>
    </p:bg>
    <p:spTree>
      <p:nvGrpSpPr>
        <p:cNvPr id="1" name=""/>
        <p:cNvGrpSpPr/>
        <p:nvPr/>
      </p:nvGrpSpPr>
      <p:grpSpPr>
        <a:xfrm>
          <a:off x="0" y="0"/>
          <a:ext cx="0" cy="0"/>
          <a:chOff x="0" y="0"/>
          <a:chExt cx="0" cy="0"/>
        </a:xfrm>
      </p:grpSpPr>
      <p:sp>
        <p:nvSpPr>
          <p:cNvPr id="2" name="Shape 0"/>
          <p:cNvSpPr/>
          <p:nvPr/>
        </p:nvSpPr>
        <p:spPr>
          <a:xfrm>
            <a:off x="7315200" y="-457200"/>
            <a:ext cx="3200400" cy="3200400"/>
          </a:xfrm>
          <a:prstGeom prst="ellipse">
            <a:avLst/>
          </a:prstGeom>
          <a:solidFill>
            <a:srgbClr val="00C8FF">
              <a:alpha val="13000"/>
            </a:srgbClr>
          </a:solidFill>
          <a:ln w="12700">
            <a:solidFill>
              <a:srgbClr val="00C8FF">
                <a:alpha val="13000"/>
              </a:srgbClr>
            </a:solidFill>
            <a:prstDash val="solid"/>
          </a:ln>
        </p:spPr>
      </p:sp>
      <p:sp>
        <p:nvSpPr>
          <p:cNvPr id="3" name="Text 1"/>
          <p:cNvSpPr/>
          <p:nvPr/>
        </p:nvSpPr>
        <p:spPr>
          <a:xfrm>
            <a:off x="274320" y="164592"/>
            <a:ext cx="8595360" cy="50292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DATA VISUALIZATION</a:t>
            </a:r>
            <a:endParaRPr lang="en-US" sz="2400" dirty="0"/>
          </a:p>
        </p:txBody>
      </p:sp>
      <p:sp>
        <p:nvSpPr>
          <p:cNvPr id="4" name="Shape 2"/>
          <p:cNvSpPr/>
          <p:nvPr/>
        </p:nvSpPr>
        <p:spPr>
          <a:xfrm>
            <a:off x="2926080" y="713232"/>
            <a:ext cx="3291840" cy="0"/>
          </a:xfrm>
          <a:prstGeom prst="line">
            <a:avLst/>
          </a:prstGeom>
          <a:noFill/>
          <a:ln w="25400">
            <a:solidFill>
              <a:srgbClr val="00C8FF"/>
            </a:solidFill>
            <a:prstDash val="solid"/>
          </a:ln>
        </p:spPr>
      </p:sp>
      <p:graphicFrame>
        <p:nvGraphicFramePr>
          <p:cNvPr id="5" name="Chart 0" descr=""/>
          <p:cNvGraphicFramePr/>
          <p:nvPr/>
        </p:nvGraphicFramePr>
        <p:xfrm>
          <a:off x="274320" y="841248"/>
          <a:ext cx="4114800" cy="210312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Chart 1" descr=""/>
          <p:cNvGraphicFramePr/>
          <p:nvPr/>
        </p:nvGraphicFramePr>
        <p:xfrm>
          <a:off x="4572000" y="841248"/>
          <a:ext cx="4251960" cy="2103120"/>
        </p:xfrm>
        <a:graphic xmlns:a="http://schemas.openxmlformats.org/drawingml/2006/main">
          <a:graphicData uri="http://schemas.openxmlformats.org/drawingml/2006/chart">
            <c:chart xmlns:c="http://schemas.openxmlformats.org/drawingml/2006/chart" r:id="rId2"/>
          </a:graphicData>
        </a:graphic>
      </p:graphicFrame>
      <p:graphicFrame>
        <p:nvGraphicFramePr>
          <p:cNvPr id="7" name="Chart 2" descr=""/>
          <p:cNvGraphicFramePr/>
          <p:nvPr/>
        </p:nvGraphicFramePr>
        <p:xfrm>
          <a:off x="274320" y="3063240"/>
          <a:ext cx="4114800" cy="1965960"/>
        </p:xfrm>
        <a:graphic xmlns:a="http://schemas.openxmlformats.org/drawingml/2006/main">
          <a:graphicData uri="http://schemas.openxmlformats.org/drawingml/2006/chart">
            <c:chart xmlns:c="http://schemas.openxmlformats.org/drawingml/2006/chart" r:id="rId3"/>
          </a:graphicData>
        </a:graphic>
      </p:graphicFrame>
      <p:graphicFrame>
        <p:nvGraphicFramePr>
          <p:cNvPr id="8" name="Chart 3" descr=""/>
          <p:cNvGraphicFramePr/>
          <p:nvPr/>
        </p:nvGraphicFramePr>
        <p:xfrm>
          <a:off x="4572000" y="3063240"/>
          <a:ext cx="4251960" cy="1965960"/>
        </p:xfrm>
        <a:graphic xmlns:a="http://schemas.openxmlformats.org/drawingml/2006/main">
          <a:graphicData uri="http://schemas.openxmlformats.org/drawingml/2006/chart">
            <c:chart xmlns:c="http://schemas.openxmlformats.org/drawingml/2006/chart" r:id="rId4"/>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50A30"/>
        </a:solidFill>
      </p:bgPr>
    </p:bg>
    <p:spTree>
      <p:nvGrpSpPr>
        <p:cNvPr id="1" name=""/>
        <p:cNvGrpSpPr/>
        <p:nvPr/>
      </p:nvGrpSpPr>
      <p:grpSpPr>
        <a:xfrm>
          <a:off x="0" y="0"/>
          <a:ext cx="0" cy="0"/>
          <a:chOff x="0" y="0"/>
          <a:chExt cx="0" cy="0"/>
        </a:xfrm>
      </p:grpSpPr>
      <p:sp>
        <p:nvSpPr>
          <p:cNvPr id="2" name="Shape 0"/>
          <p:cNvSpPr/>
          <p:nvPr/>
        </p:nvSpPr>
        <p:spPr>
          <a:xfrm>
            <a:off x="-914400" y="2743200"/>
            <a:ext cx="3657600" cy="3657600"/>
          </a:xfrm>
          <a:prstGeom prst="ellipse">
            <a:avLst/>
          </a:prstGeom>
          <a:solidFill>
            <a:srgbClr val="7B2FFF">
              <a:alpha val="15000"/>
            </a:srgbClr>
          </a:solidFill>
          <a:ln w="12700">
            <a:solidFill>
              <a:srgbClr val="7B2FFF">
                <a:alpha val="15000"/>
              </a:srgbClr>
            </a:solidFill>
            <a:prstDash val="solid"/>
          </a:ln>
        </p:spPr>
      </p:sp>
      <p:sp>
        <p:nvSpPr>
          <p:cNvPr id="3" name="Text 1"/>
          <p:cNvSpPr/>
          <p:nvPr/>
        </p:nvSpPr>
        <p:spPr>
          <a:xfrm>
            <a:off x="274320" y="164592"/>
            <a:ext cx="8595360" cy="50292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MODEL PERFORMANCE</a:t>
            </a:r>
            <a:endParaRPr lang="en-US" sz="2400" dirty="0"/>
          </a:p>
        </p:txBody>
      </p:sp>
      <p:sp>
        <p:nvSpPr>
          <p:cNvPr id="4" name="Shape 2"/>
          <p:cNvSpPr/>
          <p:nvPr/>
        </p:nvSpPr>
        <p:spPr>
          <a:xfrm>
            <a:off x="2926080" y="713232"/>
            <a:ext cx="3291840" cy="0"/>
          </a:xfrm>
          <a:prstGeom prst="line">
            <a:avLst/>
          </a:prstGeom>
          <a:noFill/>
          <a:ln w="25400">
            <a:solidFill>
              <a:srgbClr val="00C8FF"/>
            </a:solidFill>
            <a:prstDash val="solid"/>
          </a:ln>
        </p:spPr>
      </p:sp>
      <p:sp>
        <p:nvSpPr>
          <p:cNvPr id="5" name="Shape 3"/>
          <p:cNvSpPr/>
          <p:nvPr/>
        </p:nvSpPr>
        <p:spPr>
          <a:xfrm>
            <a:off x="274320" y="868680"/>
            <a:ext cx="2103120" cy="2194560"/>
          </a:xfrm>
          <a:prstGeom prst="roundRect">
            <a:avLst>
              <a:gd name="adj" fmla="val 4348"/>
            </a:avLst>
          </a:prstGeom>
          <a:solidFill>
            <a:srgbClr val="0D1B5E"/>
          </a:solidFill>
          <a:ln w="25400">
            <a:solidFill>
              <a:srgbClr val="00C8FF"/>
            </a:solidFill>
            <a:prstDash val="solid"/>
          </a:ln>
          <a:effectLst>
            <a:outerShdw sx="100000" sy="100000" kx="0" ky="0" algn="bl" rotWithShape="0" blurRad="101600" dist="38100" dir="2700000">
              <a:srgbClr val="000000">
                <a:alpha val="35000"/>
              </a:srgbClr>
            </a:outerShdw>
          </a:effectLst>
        </p:spPr>
      </p:sp>
      <p:sp>
        <p:nvSpPr>
          <p:cNvPr id="6" name="Text 4"/>
          <p:cNvSpPr/>
          <p:nvPr/>
        </p:nvSpPr>
        <p:spPr>
          <a:xfrm>
            <a:off x="274320" y="1005840"/>
            <a:ext cx="2103120" cy="640080"/>
          </a:xfrm>
          <a:prstGeom prst="rect">
            <a:avLst/>
          </a:prstGeom>
          <a:noFill/>
          <a:ln/>
        </p:spPr>
        <p:txBody>
          <a:bodyPr wrap="square" lIns="0" tIns="0" rIns="0" bIns="0" rtlCol="0" anchor="ctr"/>
          <a:lstStyle/>
          <a:p>
            <a:pPr algn="ctr" indent="0" marL="0">
              <a:buNone/>
            </a:pPr>
            <a:r>
              <a:rPr lang="en-US" sz="1400" b="1" dirty="0">
                <a:solidFill>
                  <a:srgbClr val="C8E6FF"/>
                </a:solidFill>
                <a:latin typeface="Arial" pitchFamily="34" charset="0"/>
                <a:ea typeface="Arial" pitchFamily="34" charset="-122"/>
                <a:cs typeface="Arial" pitchFamily="34" charset="-120"/>
              </a:rPr>
              <a:t>MODEL</a:t>
            </a:r>
            <a:endParaRPr lang="en-US" sz="1400" dirty="0"/>
          </a:p>
          <a:p>
            <a:pPr algn="ctr" indent="0" marL="0">
              <a:buNone/>
            </a:pPr>
            <a:r>
              <a:rPr lang="en-US" sz="1400" b="1" dirty="0">
                <a:solidFill>
                  <a:srgbClr val="C8E6FF"/>
                </a:solidFill>
                <a:latin typeface="Arial" pitchFamily="34" charset="0"/>
                <a:ea typeface="Arial" pitchFamily="34" charset="-122"/>
                <a:cs typeface="Arial" pitchFamily="34" charset="-120"/>
              </a:rPr>
              <a:t>ACCURACY</a:t>
            </a:r>
            <a:endParaRPr lang="en-US" sz="1400" dirty="0"/>
          </a:p>
        </p:txBody>
      </p:sp>
      <p:sp>
        <p:nvSpPr>
          <p:cNvPr id="7" name="Text 5"/>
          <p:cNvSpPr/>
          <p:nvPr/>
        </p:nvSpPr>
        <p:spPr>
          <a:xfrm>
            <a:off x="274320" y="1664208"/>
            <a:ext cx="2103120" cy="713232"/>
          </a:xfrm>
          <a:prstGeom prst="rect">
            <a:avLst/>
          </a:prstGeom>
          <a:noFill/>
          <a:ln/>
        </p:spPr>
        <p:txBody>
          <a:bodyPr wrap="square" lIns="0" tIns="0" rIns="0" bIns="0" rtlCol="0" anchor="ctr"/>
          <a:lstStyle/>
          <a:p>
            <a:pPr algn="ctr" indent="0" marL="0">
              <a:buNone/>
            </a:pPr>
            <a:r>
              <a:rPr lang="en-US" sz="3600" b="1" dirty="0">
                <a:solidFill>
                  <a:srgbClr val="00C8FF"/>
                </a:solidFill>
                <a:latin typeface="Arial" pitchFamily="34" charset="0"/>
                <a:ea typeface="Arial" pitchFamily="34" charset="-122"/>
                <a:cs typeface="Arial" pitchFamily="34" charset="-120"/>
              </a:rPr>
              <a:t>~92%</a:t>
            </a:r>
            <a:endParaRPr lang="en-US" sz="3600" dirty="0"/>
          </a:p>
        </p:txBody>
      </p:sp>
      <p:sp>
        <p:nvSpPr>
          <p:cNvPr id="8" name="Text 6"/>
          <p:cNvSpPr/>
          <p:nvPr/>
        </p:nvSpPr>
        <p:spPr>
          <a:xfrm>
            <a:off x="274320" y="2414016"/>
            <a:ext cx="2103120" cy="502920"/>
          </a:xfrm>
          <a:prstGeom prst="rect">
            <a:avLst/>
          </a:prstGeom>
          <a:noFill/>
          <a:ln/>
        </p:spPr>
        <p:txBody>
          <a:bodyPr wrap="square" lIns="0" tIns="0" rIns="0" bIns="0" rtlCol="0" anchor="ctr"/>
          <a:lstStyle/>
          <a:p>
            <a:pPr algn="ctr" indent="0" marL="0">
              <a:buNone/>
            </a:pPr>
            <a:r>
              <a:rPr lang="en-US" sz="1000" dirty="0">
                <a:solidFill>
                  <a:srgbClr val="C8E6FF"/>
                </a:solidFill>
                <a:latin typeface="Calibri" pitchFamily="34" charset="0"/>
                <a:ea typeface="Calibri" pitchFamily="34" charset="-122"/>
                <a:cs typeface="Calibri" pitchFamily="34" charset="-120"/>
              </a:rPr>
              <a:t>Random Forest</a:t>
            </a:r>
            <a:endParaRPr lang="en-US" sz="1000" dirty="0"/>
          </a:p>
          <a:p>
            <a:pPr algn="ctr" indent="0" marL="0">
              <a:buNone/>
            </a:pPr>
            <a:r>
              <a:rPr lang="en-US" sz="1000" dirty="0">
                <a:solidFill>
                  <a:srgbClr val="C8E6FF"/>
                </a:solidFill>
                <a:latin typeface="Calibri" pitchFamily="34" charset="0"/>
                <a:ea typeface="Calibri" pitchFamily="34" charset="-122"/>
                <a:cs typeface="Calibri" pitchFamily="34" charset="-120"/>
              </a:rPr>
              <a:t>(Best Model)</a:t>
            </a:r>
            <a:endParaRPr lang="en-US" sz="1000" dirty="0"/>
          </a:p>
        </p:txBody>
      </p:sp>
      <p:sp>
        <p:nvSpPr>
          <p:cNvPr id="9" name="Shape 7"/>
          <p:cNvSpPr/>
          <p:nvPr/>
        </p:nvSpPr>
        <p:spPr>
          <a:xfrm>
            <a:off x="2560320" y="868680"/>
            <a:ext cx="2926080" cy="2194560"/>
          </a:xfrm>
          <a:prstGeom prst="roundRect">
            <a:avLst>
              <a:gd name="adj" fmla="val 3333"/>
            </a:avLst>
          </a:prstGeom>
          <a:solidFill>
            <a:srgbClr val="0D1B5E"/>
          </a:solidFill>
          <a:ln w="12700">
            <a:solidFill>
              <a:srgbClr val="7B2FFF"/>
            </a:solidFill>
            <a:prstDash val="solid"/>
          </a:ln>
          <a:effectLst>
            <a:outerShdw sx="100000" sy="100000" kx="0" ky="0" algn="bl" rotWithShape="0" blurRad="101600" dist="38100" dir="2700000">
              <a:srgbClr val="000000">
                <a:alpha val="35000"/>
              </a:srgbClr>
            </a:outerShdw>
          </a:effectLst>
        </p:spPr>
      </p:sp>
      <p:sp>
        <p:nvSpPr>
          <p:cNvPr id="10" name="Text 8"/>
          <p:cNvSpPr/>
          <p:nvPr/>
        </p:nvSpPr>
        <p:spPr>
          <a:xfrm>
            <a:off x="2697480" y="932688"/>
            <a:ext cx="2651760" cy="292608"/>
          </a:xfrm>
          <a:prstGeom prst="rect">
            <a:avLst/>
          </a:prstGeom>
          <a:noFill/>
          <a:ln/>
        </p:spPr>
        <p:txBody>
          <a:bodyPr wrap="square" lIns="0" tIns="0" rIns="0" bIns="0" rtlCol="0" anchor="ctr"/>
          <a:lstStyle/>
          <a:p>
            <a:pPr indent="0" marL="0">
              <a:buNone/>
            </a:pPr>
            <a:r>
              <a:rPr lang="en-US" sz="950" b="1" dirty="0">
                <a:solidFill>
                  <a:srgbClr val="7B2FFF"/>
                </a:solidFill>
                <a:latin typeface="Arial" pitchFamily="34" charset="0"/>
                <a:ea typeface="Arial" pitchFamily="34" charset="-122"/>
                <a:cs typeface="Arial" pitchFamily="34" charset="-120"/>
              </a:rPr>
              <a:t>PERFORMANCE METRICS</a:t>
            </a:r>
            <a:endParaRPr lang="en-US" sz="950" dirty="0"/>
          </a:p>
        </p:txBody>
      </p:sp>
      <p:sp>
        <p:nvSpPr>
          <p:cNvPr id="11" name="Text 9"/>
          <p:cNvSpPr/>
          <p:nvPr/>
        </p:nvSpPr>
        <p:spPr>
          <a:xfrm>
            <a:off x="2697480" y="1298448"/>
            <a:ext cx="1463040" cy="201168"/>
          </a:xfrm>
          <a:prstGeom prst="rect">
            <a:avLst/>
          </a:prstGeom>
          <a:noFill/>
          <a:ln/>
        </p:spPr>
        <p:txBody>
          <a:bodyPr wrap="square" lIns="0" tIns="0" rIns="0" bIns="0" rtlCol="0" anchor="ctr"/>
          <a:lstStyle/>
          <a:p>
            <a:pPr indent="0" marL="0">
              <a:buNone/>
            </a:pPr>
            <a:r>
              <a:rPr lang="en-US" sz="850" dirty="0">
                <a:solidFill>
                  <a:srgbClr val="C8E6FF"/>
                </a:solidFill>
                <a:latin typeface="Calibri" pitchFamily="34" charset="0"/>
                <a:ea typeface="Calibri" pitchFamily="34" charset="-122"/>
                <a:cs typeface="Calibri" pitchFamily="34" charset="-120"/>
              </a:rPr>
              <a:t>Accuracy</a:t>
            </a:r>
            <a:endParaRPr lang="en-US" sz="850" dirty="0"/>
          </a:p>
        </p:txBody>
      </p:sp>
      <p:sp>
        <p:nvSpPr>
          <p:cNvPr id="12" name="Text 10"/>
          <p:cNvSpPr/>
          <p:nvPr/>
        </p:nvSpPr>
        <p:spPr>
          <a:xfrm>
            <a:off x="4206240" y="1298448"/>
            <a:ext cx="1143000" cy="201168"/>
          </a:xfrm>
          <a:prstGeom prst="rect">
            <a:avLst/>
          </a:prstGeom>
          <a:noFill/>
          <a:ln/>
        </p:spPr>
        <p:txBody>
          <a:bodyPr wrap="square" lIns="0" tIns="0" rIns="0" bIns="0" rtlCol="0" anchor="ctr"/>
          <a:lstStyle/>
          <a:p>
            <a:pPr indent="0" marL="0">
              <a:buNone/>
            </a:pPr>
            <a:r>
              <a:rPr lang="en-US" sz="850" b="1" dirty="0">
                <a:solidFill>
                  <a:srgbClr val="00C8FF"/>
                </a:solidFill>
                <a:latin typeface="Calibri" pitchFamily="34" charset="0"/>
                <a:ea typeface="Calibri" pitchFamily="34" charset="-122"/>
                <a:cs typeface="Calibri" pitchFamily="34" charset="-120"/>
              </a:rPr>
              <a:t>91.77%</a:t>
            </a:r>
            <a:endParaRPr lang="en-US" sz="850" dirty="0"/>
          </a:p>
        </p:txBody>
      </p:sp>
      <p:sp>
        <p:nvSpPr>
          <p:cNvPr id="13" name="Text 11"/>
          <p:cNvSpPr/>
          <p:nvPr/>
        </p:nvSpPr>
        <p:spPr>
          <a:xfrm>
            <a:off x="2697480" y="1545336"/>
            <a:ext cx="1463040" cy="201168"/>
          </a:xfrm>
          <a:prstGeom prst="rect">
            <a:avLst/>
          </a:prstGeom>
          <a:noFill/>
          <a:ln/>
        </p:spPr>
        <p:txBody>
          <a:bodyPr wrap="square" lIns="0" tIns="0" rIns="0" bIns="0" rtlCol="0" anchor="ctr"/>
          <a:lstStyle/>
          <a:p>
            <a:pPr indent="0" marL="0">
              <a:buNone/>
            </a:pPr>
            <a:r>
              <a:rPr lang="en-US" sz="850" dirty="0">
                <a:solidFill>
                  <a:srgbClr val="C8E6FF"/>
                </a:solidFill>
                <a:latin typeface="Calibri" pitchFamily="34" charset="0"/>
                <a:ea typeface="Calibri" pitchFamily="34" charset="-122"/>
                <a:cs typeface="Calibri" pitchFamily="34" charset="-120"/>
              </a:rPr>
              <a:t>Precision</a:t>
            </a:r>
            <a:endParaRPr lang="en-US" sz="850" dirty="0"/>
          </a:p>
        </p:txBody>
      </p:sp>
      <p:sp>
        <p:nvSpPr>
          <p:cNvPr id="14" name="Text 12"/>
          <p:cNvSpPr/>
          <p:nvPr/>
        </p:nvSpPr>
        <p:spPr>
          <a:xfrm>
            <a:off x="4206240" y="1545336"/>
            <a:ext cx="1143000" cy="201168"/>
          </a:xfrm>
          <a:prstGeom prst="rect">
            <a:avLst/>
          </a:prstGeom>
          <a:noFill/>
          <a:ln/>
        </p:spPr>
        <p:txBody>
          <a:bodyPr wrap="square" lIns="0" tIns="0" rIns="0" bIns="0" rtlCol="0" anchor="ctr"/>
          <a:lstStyle/>
          <a:p>
            <a:pPr indent="0" marL="0">
              <a:buNone/>
            </a:pPr>
            <a:r>
              <a:rPr lang="en-US" sz="850" b="1" dirty="0">
                <a:solidFill>
                  <a:srgbClr val="00C8FF"/>
                </a:solidFill>
                <a:latin typeface="Calibri" pitchFamily="34" charset="0"/>
                <a:ea typeface="Calibri" pitchFamily="34" charset="-122"/>
                <a:cs typeface="Calibri" pitchFamily="34" charset="-120"/>
              </a:rPr>
              <a:t>90%</a:t>
            </a:r>
            <a:endParaRPr lang="en-US" sz="850" dirty="0"/>
          </a:p>
        </p:txBody>
      </p:sp>
      <p:sp>
        <p:nvSpPr>
          <p:cNvPr id="15" name="Text 13"/>
          <p:cNvSpPr/>
          <p:nvPr/>
        </p:nvSpPr>
        <p:spPr>
          <a:xfrm>
            <a:off x="2697480" y="1792224"/>
            <a:ext cx="1463040" cy="201168"/>
          </a:xfrm>
          <a:prstGeom prst="rect">
            <a:avLst/>
          </a:prstGeom>
          <a:noFill/>
          <a:ln/>
        </p:spPr>
        <p:txBody>
          <a:bodyPr wrap="square" lIns="0" tIns="0" rIns="0" bIns="0" rtlCol="0" anchor="ctr"/>
          <a:lstStyle/>
          <a:p>
            <a:pPr indent="0" marL="0">
              <a:buNone/>
            </a:pPr>
            <a:r>
              <a:rPr lang="en-US" sz="850" dirty="0">
                <a:solidFill>
                  <a:srgbClr val="C8E6FF"/>
                </a:solidFill>
                <a:latin typeface="Calibri" pitchFamily="34" charset="0"/>
                <a:ea typeface="Calibri" pitchFamily="34" charset="-122"/>
                <a:cs typeface="Calibri" pitchFamily="34" charset="-120"/>
              </a:rPr>
              <a:t>Recall</a:t>
            </a:r>
            <a:endParaRPr lang="en-US" sz="850" dirty="0"/>
          </a:p>
        </p:txBody>
      </p:sp>
      <p:sp>
        <p:nvSpPr>
          <p:cNvPr id="16" name="Text 14"/>
          <p:cNvSpPr/>
          <p:nvPr/>
        </p:nvSpPr>
        <p:spPr>
          <a:xfrm>
            <a:off x="4206240" y="1792224"/>
            <a:ext cx="1143000" cy="201168"/>
          </a:xfrm>
          <a:prstGeom prst="rect">
            <a:avLst/>
          </a:prstGeom>
          <a:noFill/>
          <a:ln/>
        </p:spPr>
        <p:txBody>
          <a:bodyPr wrap="square" lIns="0" tIns="0" rIns="0" bIns="0" rtlCol="0" anchor="ctr"/>
          <a:lstStyle/>
          <a:p>
            <a:pPr indent="0" marL="0">
              <a:buNone/>
            </a:pPr>
            <a:r>
              <a:rPr lang="en-US" sz="850" b="1" dirty="0">
                <a:solidFill>
                  <a:srgbClr val="00C8FF"/>
                </a:solidFill>
                <a:latin typeface="Calibri" pitchFamily="34" charset="0"/>
                <a:ea typeface="Calibri" pitchFamily="34" charset="-122"/>
                <a:cs typeface="Calibri" pitchFamily="34" charset="-120"/>
              </a:rPr>
              <a:t>91%</a:t>
            </a:r>
            <a:endParaRPr lang="en-US" sz="850" dirty="0"/>
          </a:p>
        </p:txBody>
      </p:sp>
      <p:sp>
        <p:nvSpPr>
          <p:cNvPr id="17" name="Text 15"/>
          <p:cNvSpPr/>
          <p:nvPr/>
        </p:nvSpPr>
        <p:spPr>
          <a:xfrm>
            <a:off x="2697480" y="2039112"/>
            <a:ext cx="1463040" cy="201168"/>
          </a:xfrm>
          <a:prstGeom prst="rect">
            <a:avLst/>
          </a:prstGeom>
          <a:noFill/>
          <a:ln/>
        </p:spPr>
        <p:txBody>
          <a:bodyPr wrap="square" lIns="0" tIns="0" rIns="0" bIns="0" rtlCol="0" anchor="ctr"/>
          <a:lstStyle/>
          <a:p>
            <a:pPr indent="0" marL="0">
              <a:buNone/>
            </a:pPr>
            <a:r>
              <a:rPr lang="en-US" sz="850" dirty="0">
                <a:solidFill>
                  <a:srgbClr val="C8E6FF"/>
                </a:solidFill>
                <a:latin typeface="Calibri" pitchFamily="34" charset="0"/>
                <a:ea typeface="Calibri" pitchFamily="34" charset="-122"/>
                <a:cs typeface="Calibri" pitchFamily="34" charset="-120"/>
              </a:rPr>
              <a:t>F1 Score</a:t>
            </a:r>
            <a:endParaRPr lang="en-US" sz="850" dirty="0"/>
          </a:p>
        </p:txBody>
      </p:sp>
      <p:sp>
        <p:nvSpPr>
          <p:cNvPr id="18" name="Text 16"/>
          <p:cNvSpPr/>
          <p:nvPr/>
        </p:nvSpPr>
        <p:spPr>
          <a:xfrm>
            <a:off x="4206240" y="2039112"/>
            <a:ext cx="1143000" cy="201168"/>
          </a:xfrm>
          <a:prstGeom prst="rect">
            <a:avLst/>
          </a:prstGeom>
          <a:noFill/>
          <a:ln/>
        </p:spPr>
        <p:txBody>
          <a:bodyPr wrap="square" lIns="0" tIns="0" rIns="0" bIns="0" rtlCol="0" anchor="ctr"/>
          <a:lstStyle/>
          <a:p>
            <a:pPr indent="0" marL="0">
              <a:buNone/>
            </a:pPr>
            <a:r>
              <a:rPr lang="en-US" sz="850" b="1" dirty="0">
                <a:solidFill>
                  <a:srgbClr val="00C8FF"/>
                </a:solidFill>
                <a:latin typeface="Calibri" pitchFamily="34" charset="0"/>
                <a:ea typeface="Calibri" pitchFamily="34" charset="-122"/>
                <a:cs typeface="Calibri" pitchFamily="34" charset="-120"/>
              </a:rPr>
              <a:t>90.49%</a:t>
            </a:r>
            <a:endParaRPr lang="en-US" sz="850" dirty="0"/>
          </a:p>
        </p:txBody>
      </p:sp>
      <p:sp>
        <p:nvSpPr>
          <p:cNvPr id="19" name="Text 17"/>
          <p:cNvSpPr/>
          <p:nvPr/>
        </p:nvSpPr>
        <p:spPr>
          <a:xfrm>
            <a:off x="2697480" y="2286000"/>
            <a:ext cx="1463040" cy="201168"/>
          </a:xfrm>
          <a:prstGeom prst="rect">
            <a:avLst/>
          </a:prstGeom>
          <a:noFill/>
          <a:ln/>
        </p:spPr>
        <p:txBody>
          <a:bodyPr wrap="square" lIns="0" tIns="0" rIns="0" bIns="0" rtlCol="0" anchor="ctr"/>
          <a:lstStyle/>
          <a:p>
            <a:pPr indent="0" marL="0">
              <a:buNone/>
            </a:pPr>
            <a:r>
              <a:rPr lang="en-US" sz="850" dirty="0">
                <a:solidFill>
                  <a:srgbClr val="C8E6FF"/>
                </a:solidFill>
                <a:latin typeface="Calibri" pitchFamily="34" charset="0"/>
                <a:ea typeface="Calibri" pitchFamily="34" charset="-122"/>
                <a:cs typeface="Calibri" pitchFamily="34" charset="-120"/>
              </a:rPr>
              <a:t>MCC</a:t>
            </a:r>
            <a:endParaRPr lang="en-US" sz="850" dirty="0"/>
          </a:p>
        </p:txBody>
      </p:sp>
      <p:sp>
        <p:nvSpPr>
          <p:cNvPr id="20" name="Text 18"/>
          <p:cNvSpPr/>
          <p:nvPr/>
        </p:nvSpPr>
        <p:spPr>
          <a:xfrm>
            <a:off x="4206240" y="2286000"/>
            <a:ext cx="1143000" cy="201168"/>
          </a:xfrm>
          <a:prstGeom prst="rect">
            <a:avLst/>
          </a:prstGeom>
          <a:noFill/>
          <a:ln/>
        </p:spPr>
        <p:txBody>
          <a:bodyPr wrap="square" lIns="0" tIns="0" rIns="0" bIns="0" rtlCol="0" anchor="ctr"/>
          <a:lstStyle/>
          <a:p>
            <a:pPr indent="0" marL="0">
              <a:buNone/>
            </a:pPr>
            <a:r>
              <a:rPr lang="en-US" sz="850" b="1" dirty="0">
                <a:solidFill>
                  <a:srgbClr val="00C8FF"/>
                </a:solidFill>
                <a:latin typeface="Calibri" pitchFamily="34" charset="0"/>
                <a:ea typeface="Calibri" pitchFamily="34" charset="-122"/>
                <a:cs typeface="Calibri" pitchFamily="34" charset="-120"/>
              </a:rPr>
              <a:t>0.8194</a:t>
            </a:r>
            <a:endParaRPr lang="en-US" sz="850" dirty="0"/>
          </a:p>
        </p:txBody>
      </p:sp>
      <p:sp>
        <p:nvSpPr>
          <p:cNvPr id="21" name="Text 19"/>
          <p:cNvSpPr/>
          <p:nvPr/>
        </p:nvSpPr>
        <p:spPr>
          <a:xfrm>
            <a:off x="2697480" y="2532888"/>
            <a:ext cx="1463040" cy="201168"/>
          </a:xfrm>
          <a:prstGeom prst="rect">
            <a:avLst/>
          </a:prstGeom>
          <a:noFill/>
          <a:ln/>
        </p:spPr>
        <p:txBody>
          <a:bodyPr wrap="square" lIns="0" tIns="0" rIns="0" bIns="0" rtlCol="0" anchor="ctr"/>
          <a:lstStyle/>
          <a:p>
            <a:pPr indent="0" marL="0">
              <a:buNone/>
            </a:pPr>
            <a:r>
              <a:rPr lang="en-US" sz="850" dirty="0">
                <a:solidFill>
                  <a:srgbClr val="C8E6FF"/>
                </a:solidFill>
                <a:latin typeface="Calibri" pitchFamily="34" charset="0"/>
                <a:ea typeface="Calibri" pitchFamily="34" charset="-122"/>
                <a:cs typeface="Calibri" pitchFamily="34" charset="-120"/>
              </a:rPr>
              <a:t>RMSE</a:t>
            </a:r>
            <a:endParaRPr lang="en-US" sz="850" dirty="0"/>
          </a:p>
        </p:txBody>
      </p:sp>
      <p:sp>
        <p:nvSpPr>
          <p:cNvPr id="22" name="Text 20"/>
          <p:cNvSpPr/>
          <p:nvPr/>
        </p:nvSpPr>
        <p:spPr>
          <a:xfrm>
            <a:off x="4206240" y="2532888"/>
            <a:ext cx="1143000" cy="201168"/>
          </a:xfrm>
          <a:prstGeom prst="rect">
            <a:avLst/>
          </a:prstGeom>
          <a:noFill/>
          <a:ln/>
        </p:spPr>
        <p:txBody>
          <a:bodyPr wrap="square" lIns="0" tIns="0" rIns="0" bIns="0" rtlCol="0" anchor="ctr"/>
          <a:lstStyle/>
          <a:p>
            <a:pPr indent="0" marL="0">
              <a:buNone/>
            </a:pPr>
            <a:r>
              <a:rPr lang="en-US" sz="850" b="1" dirty="0">
                <a:solidFill>
                  <a:srgbClr val="00C8FF"/>
                </a:solidFill>
                <a:latin typeface="Calibri" pitchFamily="34" charset="0"/>
                <a:ea typeface="Calibri" pitchFamily="34" charset="-122"/>
                <a:cs typeface="Calibri" pitchFamily="34" charset="-120"/>
              </a:rPr>
              <a:t>0.2437</a:t>
            </a:r>
            <a:endParaRPr lang="en-US" sz="850" dirty="0"/>
          </a:p>
        </p:txBody>
      </p:sp>
      <p:sp>
        <p:nvSpPr>
          <p:cNvPr id="23" name="Text 21"/>
          <p:cNvSpPr/>
          <p:nvPr/>
        </p:nvSpPr>
        <p:spPr>
          <a:xfrm>
            <a:off x="2697480" y="2779776"/>
            <a:ext cx="1463040" cy="201168"/>
          </a:xfrm>
          <a:prstGeom prst="rect">
            <a:avLst/>
          </a:prstGeom>
          <a:noFill/>
          <a:ln/>
        </p:spPr>
        <p:txBody>
          <a:bodyPr wrap="square" lIns="0" tIns="0" rIns="0" bIns="0" rtlCol="0" anchor="ctr"/>
          <a:lstStyle/>
          <a:p>
            <a:pPr indent="0" marL="0">
              <a:buNone/>
            </a:pPr>
            <a:r>
              <a:rPr lang="en-US" sz="850" dirty="0">
                <a:solidFill>
                  <a:srgbClr val="C8E6FF"/>
                </a:solidFill>
                <a:latin typeface="Calibri" pitchFamily="34" charset="0"/>
                <a:ea typeface="Calibri" pitchFamily="34" charset="-122"/>
                <a:cs typeface="Calibri" pitchFamily="34" charset="-120"/>
              </a:rPr>
              <a:t>R² Score</a:t>
            </a:r>
            <a:endParaRPr lang="en-US" sz="850" dirty="0"/>
          </a:p>
        </p:txBody>
      </p:sp>
      <p:sp>
        <p:nvSpPr>
          <p:cNvPr id="24" name="Text 22"/>
          <p:cNvSpPr/>
          <p:nvPr/>
        </p:nvSpPr>
        <p:spPr>
          <a:xfrm>
            <a:off x="4206240" y="2779776"/>
            <a:ext cx="1143000" cy="201168"/>
          </a:xfrm>
          <a:prstGeom prst="rect">
            <a:avLst/>
          </a:prstGeom>
          <a:noFill/>
          <a:ln/>
        </p:spPr>
        <p:txBody>
          <a:bodyPr wrap="square" lIns="0" tIns="0" rIns="0" bIns="0" rtlCol="0" anchor="ctr"/>
          <a:lstStyle/>
          <a:p>
            <a:pPr indent="0" marL="0">
              <a:buNone/>
            </a:pPr>
            <a:r>
              <a:rPr lang="en-US" sz="850" b="1" dirty="0">
                <a:solidFill>
                  <a:srgbClr val="00C8FF"/>
                </a:solidFill>
                <a:latin typeface="Calibri" pitchFamily="34" charset="0"/>
                <a:ea typeface="Calibri" pitchFamily="34" charset="-122"/>
                <a:cs typeface="Calibri" pitchFamily="34" charset="-120"/>
              </a:rPr>
              <a:t>0.8796</a:t>
            </a:r>
            <a:endParaRPr lang="en-US" sz="850" dirty="0"/>
          </a:p>
        </p:txBody>
      </p:sp>
      <p:graphicFrame>
        <p:nvGraphicFramePr>
          <p:cNvPr id="25" name="Chart 0" descr=""/>
          <p:cNvGraphicFramePr/>
          <p:nvPr/>
        </p:nvGraphicFramePr>
        <p:xfrm>
          <a:off x="5623560" y="868680"/>
          <a:ext cx="3200400" cy="2194560"/>
        </p:xfrm>
        <a:graphic xmlns:a="http://schemas.openxmlformats.org/drawingml/2006/main">
          <a:graphicData uri="http://schemas.openxmlformats.org/drawingml/2006/chart">
            <c:chart xmlns:c="http://schemas.openxmlformats.org/drawingml/2006/chart" r:id="rId1"/>
          </a:graphicData>
        </a:graphic>
      </p:graphicFrame>
      <p:sp>
        <p:nvSpPr>
          <p:cNvPr id="26" name="Shape 23"/>
          <p:cNvSpPr/>
          <p:nvPr/>
        </p:nvSpPr>
        <p:spPr>
          <a:xfrm>
            <a:off x="274320" y="3200400"/>
            <a:ext cx="4023360" cy="1810512"/>
          </a:xfrm>
          <a:prstGeom prst="roundRect">
            <a:avLst>
              <a:gd name="adj" fmla="val 4040"/>
            </a:avLst>
          </a:prstGeom>
          <a:solidFill>
            <a:srgbClr val="0D1B5E"/>
          </a:solidFill>
          <a:ln w="12700">
            <a:solidFill>
              <a:srgbClr val="00C8FF"/>
            </a:solidFill>
            <a:prstDash val="solid"/>
          </a:ln>
          <a:effectLst>
            <a:outerShdw sx="100000" sy="100000" kx="0" ky="0" algn="bl" rotWithShape="0" blurRad="101600" dist="38100" dir="2700000">
              <a:srgbClr val="000000">
                <a:alpha val="35000"/>
              </a:srgbClr>
            </a:outerShdw>
          </a:effectLst>
        </p:spPr>
      </p:sp>
      <p:sp>
        <p:nvSpPr>
          <p:cNvPr id="27" name="Text 24"/>
          <p:cNvSpPr/>
          <p:nvPr/>
        </p:nvSpPr>
        <p:spPr>
          <a:xfrm>
            <a:off x="411480" y="3273552"/>
            <a:ext cx="3749040" cy="274320"/>
          </a:xfrm>
          <a:prstGeom prst="rect">
            <a:avLst/>
          </a:prstGeom>
          <a:noFill/>
          <a:ln/>
        </p:spPr>
        <p:txBody>
          <a:bodyPr wrap="square" lIns="0" tIns="0" rIns="0" bIns="0" rtlCol="0" anchor="ctr"/>
          <a:lstStyle/>
          <a:p>
            <a:pPr indent="0" marL="0">
              <a:buNone/>
            </a:pPr>
            <a:r>
              <a:rPr lang="en-US" sz="950" b="1" dirty="0">
                <a:solidFill>
                  <a:srgbClr val="00C8FF"/>
                </a:solidFill>
                <a:latin typeface="Arial" pitchFamily="34" charset="0"/>
                <a:ea typeface="Arial" pitchFamily="34" charset="-122"/>
                <a:cs typeface="Arial" pitchFamily="34" charset="-120"/>
              </a:rPr>
              <a:t>Confusion Matrix (Random Forest)</a:t>
            </a:r>
            <a:endParaRPr lang="en-US" sz="950" dirty="0"/>
          </a:p>
        </p:txBody>
      </p:sp>
      <p:sp>
        <p:nvSpPr>
          <p:cNvPr id="28" name="Shape 25"/>
          <p:cNvSpPr/>
          <p:nvPr/>
        </p:nvSpPr>
        <p:spPr>
          <a:xfrm>
            <a:off x="365760" y="3584448"/>
            <a:ext cx="1234440" cy="347472"/>
          </a:xfrm>
          <a:prstGeom prst="rect">
            <a:avLst/>
          </a:prstGeom>
          <a:solidFill>
            <a:srgbClr val="0D1B5E"/>
          </a:solidFill>
          <a:ln w="6350">
            <a:solidFill>
              <a:srgbClr val="00C8FF"/>
            </a:solidFill>
            <a:prstDash val="solid"/>
          </a:ln>
        </p:spPr>
      </p:sp>
      <p:sp>
        <p:nvSpPr>
          <p:cNvPr id="29" name="Text 26"/>
          <p:cNvSpPr/>
          <p:nvPr/>
        </p:nvSpPr>
        <p:spPr>
          <a:xfrm>
            <a:off x="365760" y="3584448"/>
            <a:ext cx="1234440" cy="347472"/>
          </a:xfrm>
          <a:prstGeom prst="rect">
            <a:avLst/>
          </a:prstGeom>
          <a:noFill/>
          <a:ln/>
        </p:spPr>
        <p:txBody>
          <a:bodyPr wrap="square" lIns="0" tIns="0" rIns="0" bIns="0" rtlCol="0" anchor="ctr"/>
          <a:lstStyle/>
          <a:p>
            <a:pPr algn="ctr" indent="0" marL="0">
              <a:buNone/>
            </a:pPr>
            <a:endParaRPr lang="en-US" sz="800" dirty="0"/>
          </a:p>
        </p:txBody>
      </p:sp>
      <p:sp>
        <p:nvSpPr>
          <p:cNvPr id="30" name="Shape 27"/>
          <p:cNvSpPr/>
          <p:nvPr/>
        </p:nvSpPr>
        <p:spPr>
          <a:xfrm>
            <a:off x="1645920" y="3584448"/>
            <a:ext cx="1234440" cy="347472"/>
          </a:xfrm>
          <a:prstGeom prst="rect">
            <a:avLst/>
          </a:prstGeom>
          <a:solidFill>
            <a:srgbClr val="0D1B5E"/>
          </a:solidFill>
          <a:ln w="6350">
            <a:solidFill>
              <a:srgbClr val="00C8FF"/>
            </a:solidFill>
            <a:prstDash val="solid"/>
          </a:ln>
        </p:spPr>
      </p:sp>
      <p:sp>
        <p:nvSpPr>
          <p:cNvPr id="31" name="Text 28"/>
          <p:cNvSpPr/>
          <p:nvPr/>
        </p:nvSpPr>
        <p:spPr>
          <a:xfrm>
            <a:off x="1645920" y="3584448"/>
            <a:ext cx="1234440" cy="347472"/>
          </a:xfrm>
          <a:prstGeom prst="rect">
            <a:avLst/>
          </a:prstGeom>
          <a:noFill/>
          <a:ln/>
        </p:spPr>
        <p:txBody>
          <a:bodyPr wrap="square" lIns="0" tIns="0" rIns="0" bIns="0" rtlCol="0" anchor="ctr"/>
          <a:lstStyle/>
          <a:p>
            <a:pPr algn="ctr" indent="0" marL="0">
              <a:buNone/>
            </a:pPr>
            <a:r>
              <a:rPr lang="en-US" sz="800" b="1" dirty="0">
                <a:solidFill>
                  <a:srgbClr val="00C8FF"/>
                </a:solidFill>
                <a:latin typeface="Calibri" pitchFamily="34" charset="0"/>
                <a:ea typeface="Calibri" pitchFamily="34" charset="-122"/>
                <a:cs typeface="Calibri" pitchFamily="34" charset="-120"/>
              </a:rPr>
              <a:t>Pred: Fail</a:t>
            </a:r>
            <a:endParaRPr lang="en-US" sz="800" dirty="0"/>
          </a:p>
        </p:txBody>
      </p:sp>
      <p:sp>
        <p:nvSpPr>
          <p:cNvPr id="32" name="Shape 29"/>
          <p:cNvSpPr/>
          <p:nvPr/>
        </p:nvSpPr>
        <p:spPr>
          <a:xfrm>
            <a:off x="2926080" y="3584448"/>
            <a:ext cx="1234440" cy="347472"/>
          </a:xfrm>
          <a:prstGeom prst="rect">
            <a:avLst/>
          </a:prstGeom>
          <a:solidFill>
            <a:srgbClr val="0D1B5E"/>
          </a:solidFill>
          <a:ln w="6350">
            <a:solidFill>
              <a:srgbClr val="00C8FF"/>
            </a:solidFill>
            <a:prstDash val="solid"/>
          </a:ln>
        </p:spPr>
      </p:sp>
      <p:sp>
        <p:nvSpPr>
          <p:cNvPr id="33" name="Text 30"/>
          <p:cNvSpPr/>
          <p:nvPr/>
        </p:nvSpPr>
        <p:spPr>
          <a:xfrm>
            <a:off x="2926080" y="3584448"/>
            <a:ext cx="1234440" cy="347472"/>
          </a:xfrm>
          <a:prstGeom prst="rect">
            <a:avLst/>
          </a:prstGeom>
          <a:noFill/>
          <a:ln/>
        </p:spPr>
        <p:txBody>
          <a:bodyPr wrap="square" lIns="0" tIns="0" rIns="0" bIns="0" rtlCol="0" anchor="ctr"/>
          <a:lstStyle/>
          <a:p>
            <a:pPr algn="ctr" indent="0" marL="0">
              <a:buNone/>
            </a:pPr>
            <a:r>
              <a:rPr lang="en-US" sz="800" b="1" dirty="0">
                <a:solidFill>
                  <a:srgbClr val="00C8FF"/>
                </a:solidFill>
                <a:latin typeface="Calibri" pitchFamily="34" charset="0"/>
                <a:ea typeface="Calibri" pitchFamily="34" charset="-122"/>
                <a:cs typeface="Calibri" pitchFamily="34" charset="-120"/>
              </a:rPr>
              <a:t>Pred: Pass</a:t>
            </a:r>
            <a:endParaRPr lang="en-US" sz="800" dirty="0"/>
          </a:p>
        </p:txBody>
      </p:sp>
      <p:sp>
        <p:nvSpPr>
          <p:cNvPr id="34" name="Shape 31"/>
          <p:cNvSpPr/>
          <p:nvPr/>
        </p:nvSpPr>
        <p:spPr>
          <a:xfrm>
            <a:off x="365760" y="3986784"/>
            <a:ext cx="1234440" cy="347472"/>
          </a:xfrm>
          <a:prstGeom prst="rect">
            <a:avLst/>
          </a:prstGeom>
          <a:solidFill>
            <a:srgbClr val="0D1B5E"/>
          </a:solidFill>
          <a:ln w="6350">
            <a:solidFill>
              <a:srgbClr val="00C8FF"/>
            </a:solidFill>
            <a:prstDash val="solid"/>
          </a:ln>
        </p:spPr>
      </p:sp>
      <p:sp>
        <p:nvSpPr>
          <p:cNvPr id="35" name="Text 32"/>
          <p:cNvSpPr/>
          <p:nvPr/>
        </p:nvSpPr>
        <p:spPr>
          <a:xfrm>
            <a:off x="365760" y="3986784"/>
            <a:ext cx="1234440" cy="347472"/>
          </a:xfrm>
          <a:prstGeom prst="rect">
            <a:avLst/>
          </a:prstGeom>
          <a:noFill/>
          <a:ln/>
        </p:spPr>
        <p:txBody>
          <a:bodyPr wrap="square" lIns="0" tIns="0" rIns="0" bIns="0" rtlCol="0" anchor="ctr"/>
          <a:lstStyle/>
          <a:p>
            <a:pPr algn="ctr" indent="0" marL="0">
              <a:buNone/>
            </a:pPr>
            <a:r>
              <a:rPr lang="en-US" sz="800" b="1" dirty="0">
                <a:solidFill>
                  <a:srgbClr val="00C8FF"/>
                </a:solidFill>
                <a:latin typeface="Calibri" pitchFamily="34" charset="0"/>
                <a:ea typeface="Calibri" pitchFamily="34" charset="-122"/>
                <a:cs typeface="Calibri" pitchFamily="34" charset="-120"/>
              </a:rPr>
              <a:t>Actual: Fail</a:t>
            </a:r>
            <a:endParaRPr lang="en-US" sz="800" dirty="0"/>
          </a:p>
        </p:txBody>
      </p:sp>
      <p:sp>
        <p:nvSpPr>
          <p:cNvPr id="36" name="Shape 33"/>
          <p:cNvSpPr/>
          <p:nvPr/>
        </p:nvSpPr>
        <p:spPr>
          <a:xfrm>
            <a:off x="1645920" y="3986784"/>
            <a:ext cx="1234440" cy="347472"/>
          </a:xfrm>
          <a:prstGeom prst="rect">
            <a:avLst/>
          </a:prstGeom>
          <a:solidFill>
            <a:srgbClr val="0A3060"/>
          </a:solidFill>
          <a:ln w="6350">
            <a:solidFill>
              <a:srgbClr val="00C8FF"/>
            </a:solidFill>
            <a:prstDash val="solid"/>
          </a:ln>
        </p:spPr>
      </p:sp>
      <p:sp>
        <p:nvSpPr>
          <p:cNvPr id="37" name="Text 34"/>
          <p:cNvSpPr/>
          <p:nvPr/>
        </p:nvSpPr>
        <p:spPr>
          <a:xfrm>
            <a:off x="1645920" y="3986784"/>
            <a:ext cx="1234440" cy="347472"/>
          </a:xfrm>
          <a:prstGeom prst="rect">
            <a:avLst/>
          </a:prstGeom>
          <a:noFill/>
          <a:ln/>
        </p:spPr>
        <p:txBody>
          <a:bodyPr wrap="square" lIns="0" tIns="0" rIns="0" bIns="0" rtlCol="0" anchor="ctr"/>
          <a:lstStyle/>
          <a:p>
            <a:pPr algn="ctr" indent="0" marL="0">
              <a:buNone/>
            </a:pPr>
            <a:r>
              <a:rPr lang="en-US" sz="800" dirty="0">
                <a:solidFill>
                  <a:srgbClr val="00E676"/>
                </a:solidFill>
                <a:latin typeface="Calibri" pitchFamily="34" charset="0"/>
                <a:ea typeface="Calibri" pitchFamily="34" charset="-122"/>
                <a:cs typeface="Calibri" pitchFamily="34" charset="-120"/>
              </a:rPr>
              <a:t>42 (TN)</a:t>
            </a:r>
            <a:endParaRPr lang="en-US" sz="800" dirty="0"/>
          </a:p>
        </p:txBody>
      </p:sp>
      <p:sp>
        <p:nvSpPr>
          <p:cNvPr id="38" name="Shape 35"/>
          <p:cNvSpPr/>
          <p:nvPr/>
        </p:nvSpPr>
        <p:spPr>
          <a:xfrm>
            <a:off x="2926080" y="3986784"/>
            <a:ext cx="1234440" cy="347472"/>
          </a:xfrm>
          <a:prstGeom prst="rect">
            <a:avLst/>
          </a:prstGeom>
          <a:solidFill>
            <a:srgbClr val="0A1840"/>
          </a:solidFill>
          <a:ln w="6350">
            <a:solidFill>
              <a:srgbClr val="00C8FF"/>
            </a:solidFill>
            <a:prstDash val="solid"/>
          </a:ln>
        </p:spPr>
      </p:sp>
      <p:sp>
        <p:nvSpPr>
          <p:cNvPr id="39" name="Text 36"/>
          <p:cNvSpPr/>
          <p:nvPr/>
        </p:nvSpPr>
        <p:spPr>
          <a:xfrm>
            <a:off x="2926080" y="3986784"/>
            <a:ext cx="1234440" cy="347472"/>
          </a:xfrm>
          <a:prstGeom prst="rect">
            <a:avLst/>
          </a:prstGeom>
          <a:noFill/>
          <a:ln/>
        </p:spPr>
        <p:txBody>
          <a:bodyPr wrap="square" lIns="0" tIns="0" rIns="0" bIns="0" rtlCol="0" anchor="ctr"/>
          <a:lstStyle/>
          <a:p>
            <a:pPr algn="ctr" indent="0" marL="0">
              <a:buNone/>
            </a:pPr>
            <a:r>
              <a:rPr lang="en-US" sz="800" dirty="0">
                <a:solidFill>
                  <a:srgbClr val="C8E6FF"/>
                </a:solidFill>
                <a:latin typeface="Calibri" pitchFamily="34" charset="0"/>
                <a:ea typeface="Calibri" pitchFamily="34" charset="-122"/>
                <a:cs typeface="Calibri" pitchFamily="34" charset="-120"/>
              </a:rPr>
              <a:t>8 (FP)</a:t>
            </a:r>
            <a:endParaRPr lang="en-US" sz="800" dirty="0"/>
          </a:p>
        </p:txBody>
      </p:sp>
      <p:sp>
        <p:nvSpPr>
          <p:cNvPr id="40" name="Shape 37"/>
          <p:cNvSpPr/>
          <p:nvPr/>
        </p:nvSpPr>
        <p:spPr>
          <a:xfrm>
            <a:off x="365760" y="4389120"/>
            <a:ext cx="1234440" cy="347472"/>
          </a:xfrm>
          <a:prstGeom prst="rect">
            <a:avLst/>
          </a:prstGeom>
          <a:solidFill>
            <a:srgbClr val="0D1B5E"/>
          </a:solidFill>
          <a:ln w="6350">
            <a:solidFill>
              <a:srgbClr val="00C8FF"/>
            </a:solidFill>
            <a:prstDash val="solid"/>
          </a:ln>
        </p:spPr>
      </p:sp>
      <p:sp>
        <p:nvSpPr>
          <p:cNvPr id="41" name="Text 38"/>
          <p:cNvSpPr/>
          <p:nvPr/>
        </p:nvSpPr>
        <p:spPr>
          <a:xfrm>
            <a:off x="365760" y="4389120"/>
            <a:ext cx="1234440" cy="347472"/>
          </a:xfrm>
          <a:prstGeom prst="rect">
            <a:avLst/>
          </a:prstGeom>
          <a:noFill/>
          <a:ln/>
        </p:spPr>
        <p:txBody>
          <a:bodyPr wrap="square" lIns="0" tIns="0" rIns="0" bIns="0" rtlCol="0" anchor="ctr"/>
          <a:lstStyle/>
          <a:p>
            <a:pPr algn="ctr" indent="0" marL="0">
              <a:buNone/>
            </a:pPr>
            <a:r>
              <a:rPr lang="en-US" sz="800" b="1" dirty="0">
                <a:solidFill>
                  <a:srgbClr val="00C8FF"/>
                </a:solidFill>
                <a:latin typeface="Calibri" pitchFamily="34" charset="0"/>
                <a:ea typeface="Calibri" pitchFamily="34" charset="-122"/>
                <a:cs typeface="Calibri" pitchFamily="34" charset="-120"/>
              </a:rPr>
              <a:t>Actual: Pass</a:t>
            </a:r>
            <a:endParaRPr lang="en-US" sz="800" dirty="0"/>
          </a:p>
        </p:txBody>
      </p:sp>
      <p:sp>
        <p:nvSpPr>
          <p:cNvPr id="42" name="Shape 39"/>
          <p:cNvSpPr/>
          <p:nvPr/>
        </p:nvSpPr>
        <p:spPr>
          <a:xfrm>
            <a:off x="1645920" y="4389120"/>
            <a:ext cx="1234440" cy="347472"/>
          </a:xfrm>
          <a:prstGeom prst="rect">
            <a:avLst/>
          </a:prstGeom>
          <a:solidFill>
            <a:srgbClr val="0A1840"/>
          </a:solidFill>
          <a:ln w="6350">
            <a:solidFill>
              <a:srgbClr val="00C8FF"/>
            </a:solidFill>
            <a:prstDash val="solid"/>
          </a:ln>
        </p:spPr>
      </p:sp>
      <p:sp>
        <p:nvSpPr>
          <p:cNvPr id="43" name="Text 40"/>
          <p:cNvSpPr/>
          <p:nvPr/>
        </p:nvSpPr>
        <p:spPr>
          <a:xfrm>
            <a:off x="1645920" y="4389120"/>
            <a:ext cx="1234440" cy="347472"/>
          </a:xfrm>
          <a:prstGeom prst="rect">
            <a:avLst/>
          </a:prstGeom>
          <a:noFill/>
          <a:ln/>
        </p:spPr>
        <p:txBody>
          <a:bodyPr wrap="square" lIns="0" tIns="0" rIns="0" bIns="0" rtlCol="0" anchor="ctr"/>
          <a:lstStyle/>
          <a:p>
            <a:pPr algn="ctr" indent="0" marL="0">
              <a:buNone/>
            </a:pPr>
            <a:r>
              <a:rPr lang="en-US" sz="800" dirty="0">
                <a:solidFill>
                  <a:srgbClr val="C8E6FF"/>
                </a:solidFill>
                <a:latin typeface="Calibri" pitchFamily="34" charset="0"/>
                <a:ea typeface="Calibri" pitchFamily="34" charset="-122"/>
                <a:cs typeface="Calibri" pitchFamily="34" charset="-120"/>
              </a:rPr>
              <a:t>5 (FN)</a:t>
            </a:r>
            <a:endParaRPr lang="en-US" sz="800" dirty="0"/>
          </a:p>
        </p:txBody>
      </p:sp>
      <p:sp>
        <p:nvSpPr>
          <p:cNvPr id="44" name="Shape 41"/>
          <p:cNvSpPr/>
          <p:nvPr/>
        </p:nvSpPr>
        <p:spPr>
          <a:xfrm>
            <a:off x="2926080" y="4389120"/>
            <a:ext cx="1234440" cy="347472"/>
          </a:xfrm>
          <a:prstGeom prst="rect">
            <a:avLst/>
          </a:prstGeom>
          <a:solidFill>
            <a:srgbClr val="0A3060"/>
          </a:solidFill>
          <a:ln w="6350">
            <a:solidFill>
              <a:srgbClr val="00C8FF"/>
            </a:solidFill>
            <a:prstDash val="solid"/>
          </a:ln>
        </p:spPr>
      </p:sp>
      <p:sp>
        <p:nvSpPr>
          <p:cNvPr id="45" name="Text 42"/>
          <p:cNvSpPr/>
          <p:nvPr/>
        </p:nvSpPr>
        <p:spPr>
          <a:xfrm>
            <a:off x="2926080" y="4389120"/>
            <a:ext cx="1234440" cy="347472"/>
          </a:xfrm>
          <a:prstGeom prst="rect">
            <a:avLst/>
          </a:prstGeom>
          <a:noFill/>
          <a:ln/>
        </p:spPr>
        <p:txBody>
          <a:bodyPr wrap="square" lIns="0" tIns="0" rIns="0" bIns="0" rtlCol="0" anchor="ctr"/>
          <a:lstStyle/>
          <a:p>
            <a:pPr algn="ctr" indent="0" marL="0">
              <a:buNone/>
            </a:pPr>
            <a:r>
              <a:rPr lang="en-US" sz="800" dirty="0">
                <a:solidFill>
                  <a:srgbClr val="00E676"/>
                </a:solidFill>
                <a:latin typeface="Calibri" pitchFamily="34" charset="0"/>
                <a:ea typeface="Calibri" pitchFamily="34" charset="-122"/>
                <a:cs typeface="Calibri" pitchFamily="34" charset="-120"/>
              </a:rPr>
              <a:t>75 (TP)</a:t>
            </a:r>
            <a:endParaRPr lang="en-US" sz="800" dirty="0"/>
          </a:p>
        </p:txBody>
      </p:sp>
      <p:sp>
        <p:nvSpPr>
          <p:cNvPr id="46" name="Shape 43"/>
          <p:cNvSpPr/>
          <p:nvPr/>
        </p:nvSpPr>
        <p:spPr>
          <a:xfrm>
            <a:off x="4434840" y="3200400"/>
            <a:ext cx="4389120" cy="1810512"/>
          </a:xfrm>
          <a:prstGeom prst="roundRect">
            <a:avLst>
              <a:gd name="adj" fmla="val 4040"/>
            </a:avLst>
          </a:prstGeom>
          <a:solidFill>
            <a:srgbClr val="0D1B5E"/>
          </a:solidFill>
          <a:ln w="12700">
            <a:solidFill>
              <a:srgbClr val="FFD700"/>
            </a:solidFill>
            <a:prstDash val="solid"/>
          </a:ln>
          <a:effectLst>
            <a:outerShdw sx="100000" sy="100000" kx="0" ky="0" algn="bl" rotWithShape="0" blurRad="101600" dist="38100" dir="2700000">
              <a:srgbClr val="000000">
                <a:alpha val="35000"/>
              </a:srgbClr>
            </a:outerShdw>
          </a:effectLst>
        </p:spPr>
      </p:sp>
      <p:sp>
        <p:nvSpPr>
          <p:cNvPr id="47" name="Text 44"/>
          <p:cNvSpPr/>
          <p:nvPr/>
        </p:nvSpPr>
        <p:spPr>
          <a:xfrm>
            <a:off x="4572000" y="3273552"/>
            <a:ext cx="4114800" cy="292608"/>
          </a:xfrm>
          <a:prstGeom prst="rect">
            <a:avLst/>
          </a:prstGeom>
          <a:noFill/>
          <a:ln/>
        </p:spPr>
        <p:txBody>
          <a:bodyPr wrap="square" lIns="0" tIns="0" rIns="0" bIns="0" rtlCol="0" anchor="ctr"/>
          <a:lstStyle/>
          <a:p>
            <a:pPr indent="0" marL="0">
              <a:buNone/>
            </a:pPr>
            <a:r>
              <a:rPr lang="en-US" sz="1000" b="1" dirty="0">
                <a:solidFill>
                  <a:srgbClr val="FFD700"/>
                </a:solidFill>
                <a:latin typeface="Arial" pitchFamily="34" charset="0"/>
                <a:ea typeface="Arial" pitchFamily="34" charset="-122"/>
                <a:cs typeface="Arial" pitchFamily="34" charset="-120"/>
              </a:rPr>
              <a:t>KEY TAKEAWAYS</a:t>
            </a:r>
            <a:endParaRPr lang="en-US" sz="1000" dirty="0"/>
          </a:p>
        </p:txBody>
      </p:sp>
      <p:sp>
        <p:nvSpPr>
          <p:cNvPr id="48" name="Shape 45"/>
          <p:cNvSpPr/>
          <p:nvPr/>
        </p:nvSpPr>
        <p:spPr>
          <a:xfrm>
            <a:off x="4572000" y="3639312"/>
            <a:ext cx="109728" cy="109728"/>
          </a:xfrm>
          <a:prstGeom prst="ellipse">
            <a:avLst/>
          </a:prstGeom>
          <a:solidFill>
            <a:srgbClr val="FFD700"/>
          </a:solidFill>
          <a:ln w="12700">
            <a:solidFill>
              <a:srgbClr val="FFD700"/>
            </a:solidFill>
            <a:prstDash val="solid"/>
          </a:ln>
        </p:spPr>
      </p:sp>
      <p:sp>
        <p:nvSpPr>
          <p:cNvPr id="49" name="Text 46"/>
          <p:cNvSpPr/>
          <p:nvPr/>
        </p:nvSpPr>
        <p:spPr>
          <a:xfrm>
            <a:off x="4736592" y="3584448"/>
            <a:ext cx="3977640" cy="228600"/>
          </a:xfrm>
          <a:prstGeom prst="rect">
            <a:avLst/>
          </a:prstGeom>
          <a:noFill/>
          <a:ln/>
        </p:spPr>
        <p:txBody>
          <a:bodyPr wrap="square" lIns="0" tIns="0" rIns="0" bIns="0" rtlCol="0" anchor="ctr"/>
          <a:lstStyle/>
          <a:p>
            <a:pPr indent="0" marL="0">
              <a:buNone/>
            </a:pPr>
            <a:r>
              <a:rPr lang="en-US" sz="850" dirty="0">
                <a:solidFill>
                  <a:srgbClr val="C8E6FF"/>
                </a:solidFill>
                <a:latin typeface="Calibri" pitchFamily="34" charset="0"/>
                <a:ea typeface="Calibri" pitchFamily="34" charset="-122"/>
                <a:cs typeface="Calibri" pitchFamily="34" charset="-120"/>
              </a:rPr>
              <a:t>Random Forest achieves 91.77% accuracy</a:t>
            </a:r>
            <a:endParaRPr lang="en-US" sz="850" dirty="0"/>
          </a:p>
        </p:txBody>
      </p:sp>
      <p:sp>
        <p:nvSpPr>
          <p:cNvPr id="50" name="Shape 47"/>
          <p:cNvSpPr/>
          <p:nvPr/>
        </p:nvSpPr>
        <p:spPr>
          <a:xfrm>
            <a:off x="4572000" y="3913632"/>
            <a:ext cx="109728" cy="109728"/>
          </a:xfrm>
          <a:prstGeom prst="ellipse">
            <a:avLst/>
          </a:prstGeom>
          <a:solidFill>
            <a:srgbClr val="FFD700"/>
          </a:solidFill>
          <a:ln w="12700">
            <a:solidFill>
              <a:srgbClr val="FFD700"/>
            </a:solidFill>
            <a:prstDash val="solid"/>
          </a:ln>
        </p:spPr>
      </p:sp>
      <p:sp>
        <p:nvSpPr>
          <p:cNvPr id="51" name="Text 48"/>
          <p:cNvSpPr/>
          <p:nvPr/>
        </p:nvSpPr>
        <p:spPr>
          <a:xfrm>
            <a:off x="4736592" y="3858768"/>
            <a:ext cx="3977640" cy="228600"/>
          </a:xfrm>
          <a:prstGeom prst="rect">
            <a:avLst/>
          </a:prstGeom>
          <a:noFill/>
          <a:ln/>
        </p:spPr>
        <p:txBody>
          <a:bodyPr wrap="square" lIns="0" tIns="0" rIns="0" bIns="0" rtlCol="0" anchor="ctr"/>
          <a:lstStyle/>
          <a:p>
            <a:pPr indent="0" marL="0">
              <a:buNone/>
            </a:pPr>
            <a:r>
              <a:rPr lang="en-US" sz="850" dirty="0">
                <a:solidFill>
                  <a:srgbClr val="C8E6FF"/>
                </a:solidFill>
                <a:latin typeface="Calibri" pitchFamily="34" charset="0"/>
                <a:ea typeface="Calibri" pitchFamily="34" charset="-122"/>
                <a:cs typeface="Calibri" pitchFamily="34" charset="-120"/>
              </a:rPr>
              <a:t>Study time is the most predictive feature</a:t>
            </a:r>
            <a:endParaRPr lang="en-US" sz="850" dirty="0"/>
          </a:p>
        </p:txBody>
      </p:sp>
      <p:sp>
        <p:nvSpPr>
          <p:cNvPr id="52" name="Shape 49"/>
          <p:cNvSpPr/>
          <p:nvPr/>
        </p:nvSpPr>
        <p:spPr>
          <a:xfrm>
            <a:off x="4572000" y="4187952"/>
            <a:ext cx="109728" cy="109728"/>
          </a:xfrm>
          <a:prstGeom prst="ellipse">
            <a:avLst/>
          </a:prstGeom>
          <a:solidFill>
            <a:srgbClr val="FFD700"/>
          </a:solidFill>
          <a:ln w="12700">
            <a:solidFill>
              <a:srgbClr val="FFD700"/>
            </a:solidFill>
            <a:prstDash val="solid"/>
          </a:ln>
        </p:spPr>
      </p:sp>
      <p:sp>
        <p:nvSpPr>
          <p:cNvPr id="53" name="Text 50"/>
          <p:cNvSpPr/>
          <p:nvPr/>
        </p:nvSpPr>
        <p:spPr>
          <a:xfrm>
            <a:off x="4736592" y="4133088"/>
            <a:ext cx="3977640" cy="228600"/>
          </a:xfrm>
          <a:prstGeom prst="rect">
            <a:avLst/>
          </a:prstGeom>
          <a:noFill/>
          <a:ln/>
        </p:spPr>
        <p:txBody>
          <a:bodyPr wrap="square" lIns="0" tIns="0" rIns="0" bIns="0" rtlCol="0" anchor="ctr"/>
          <a:lstStyle/>
          <a:p>
            <a:pPr indent="0" marL="0">
              <a:buNone/>
            </a:pPr>
            <a:r>
              <a:rPr lang="en-US" sz="850" dirty="0">
                <a:solidFill>
                  <a:srgbClr val="C8E6FF"/>
                </a:solidFill>
                <a:latin typeface="Calibri" pitchFamily="34" charset="0"/>
                <a:ea typeface="Calibri" pitchFamily="34" charset="-122"/>
                <a:cs typeface="Calibri" pitchFamily="34" charset="-120"/>
              </a:rPr>
              <a:t>Past failures strongly predict low G3</a:t>
            </a:r>
            <a:endParaRPr lang="en-US" sz="850" dirty="0"/>
          </a:p>
        </p:txBody>
      </p:sp>
      <p:sp>
        <p:nvSpPr>
          <p:cNvPr id="54" name="Shape 51"/>
          <p:cNvSpPr/>
          <p:nvPr/>
        </p:nvSpPr>
        <p:spPr>
          <a:xfrm>
            <a:off x="4572000" y="4462272"/>
            <a:ext cx="109728" cy="109728"/>
          </a:xfrm>
          <a:prstGeom prst="ellipse">
            <a:avLst/>
          </a:prstGeom>
          <a:solidFill>
            <a:srgbClr val="FFD700"/>
          </a:solidFill>
          <a:ln w="12700">
            <a:solidFill>
              <a:srgbClr val="FFD700"/>
            </a:solidFill>
            <a:prstDash val="solid"/>
          </a:ln>
        </p:spPr>
      </p:sp>
      <p:sp>
        <p:nvSpPr>
          <p:cNvPr id="55" name="Text 52"/>
          <p:cNvSpPr/>
          <p:nvPr/>
        </p:nvSpPr>
        <p:spPr>
          <a:xfrm>
            <a:off x="4736592" y="4407408"/>
            <a:ext cx="3977640" cy="228600"/>
          </a:xfrm>
          <a:prstGeom prst="rect">
            <a:avLst/>
          </a:prstGeom>
          <a:noFill/>
          <a:ln/>
        </p:spPr>
        <p:txBody>
          <a:bodyPr wrap="square" lIns="0" tIns="0" rIns="0" bIns="0" rtlCol="0" anchor="ctr"/>
          <a:lstStyle/>
          <a:p>
            <a:pPr indent="0" marL="0">
              <a:buNone/>
            </a:pPr>
            <a:r>
              <a:rPr lang="en-US" sz="850" dirty="0">
                <a:solidFill>
                  <a:srgbClr val="C8E6FF"/>
                </a:solidFill>
                <a:latin typeface="Calibri" pitchFamily="34" charset="0"/>
                <a:ea typeface="Calibri" pitchFamily="34" charset="-122"/>
                <a:cs typeface="Calibri" pitchFamily="34" charset="-120"/>
              </a:rPr>
              <a:t>Higher parental education → better grades</a:t>
            </a:r>
            <a:endParaRPr lang="en-US" sz="850" dirty="0"/>
          </a:p>
        </p:txBody>
      </p:sp>
      <p:sp>
        <p:nvSpPr>
          <p:cNvPr id="56" name="Shape 53"/>
          <p:cNvSpPr/>
          <p:nvPr/>
        </p:nvSpPr>
        <p:spPr>
          <a:xfrm>
            <a:off x="4572000" y="4736592"/>
            <a:ext cx="109728" cy="109728"/>
          </a:xfrm>
          <a:prstGeom prst="ellipse">
            <a:avLst/>
          </a:prstGeom>
          <a:solidFill>
            <a:srgbClr val="FFD700"/>
          </a:solidFill>
          <a:ln w="12700">
            <a:solidFill>
              <a:srgbClr val="FFD700"/>
            </a:solidFill>
            <a:prstDash val="solid"/>
          </a:ln>
        </p:spPr>
      </p:sp>
      <p:sp>
        <p:nvSpPr>
          <p:cNvPr id="57" name="Text 54"/>
          <p:cNvSpPr/>
          <p:nvPr/>
        </p:nvSpPr>
        <p:spPr>
          <a:xfrm>
            <a:off x="4736592" y="4681728"/>
            <a:ext cx="3977640" cy="228600"/>
          </a:xfrm>
          <a:prstGeom prst="rect">
            <a:avLst/>
          </a:prstGeom>
          <a:noFill/>
          <a:ln/>
        </p:spPr>
        <p:txBody>
          <a:bodyPr wrap="square" lIns="0" tIns="0" rIns="0" bIns="0" rtlCol="0" anchor="ctr"/>
          <a:lstStyle/>
          <a:p>
            <a:pPr indent="0" marL="0">
              <a:buNone/>
            </a:pPr>
            <a:r>
              <a:rPr lang="en-US" sz="850" dirty="0">
                <a:solidFill>
                  <a:srgbClr val="C8E6FF"/>
                </a:solidFill>
                <a:latin typeface="Calibri" pitchFamily="34" charset="0"/>
                <a:ea typeface="Calibri" pitchFamily="34" charset="-122"/>
                <a:cs typeface="Calibri" pitchFamily="34" charset="-120"/>
              </a:rPr>
              <a:t>Weekend alcohol use negatively correlates</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50A30"/>
        </a:solidFill>
      </p:bgPr>
    </p:bg>
    <p:spTree>
      <p:nvGrpSpPr>
        <p:cNvPr id="1" name=""/>
        <p:cNvGrpSpPr/>
        <p:nvPr/>
      </p:nvGrpSpPr>
      <p:grpSpPr>
        <a:xfrm>
          <a:off x="0" y="0"/>
          <a:ext cx="0" cy="0"/>
          <a:chOff x="0" y="0"/>
          <a:chExt cx="0" cy="0"/>
        </a:xfrm>
      </p:grpSpPr>
      <p:sp>
        <p:nvSpPr>
          <p:cNvPr id="2" name="Shape 0"/>
          <p:cNvSpPr/>
          <p:nvPr/>
        </p:nvSpPr>
        <p:spPr>
          <a:xfrm>
            <a:off x="-914400" y="-914400"/>
            <a:ext cx="4572000" cy="4572000"/>
          </a:xfrm>
          <a:prstGeom prst="ellipse">
            <a:avLst/>
          </a:prstGeom>
          <a:solidFill>
            <a:srgbClr val="7B2FFF">
              <a:alpha val="18000"/>
            </a:srgbClr>
          </a:solidFill>
          <a:ln w="12700">
            <a:solidFill>
              <a:srgbClr val="7B2FFF">
                <a:alpha val="18000"/>
              </a:srgbClr>
            </a:solidFill>
            <a:prstDash val="solid"/>
          </a:ln>
        </p:spPr>
      </p:sp>
      <p:sp>
        <p:nvSpPr>
          <p:cNvPr id="3" name="Shape 1"/>
          <p:cNvSpPr/>
          <p:nvPr/>
        </p:nvSpPr>
        <p:spPr>
          <a:xfrm>
            <a:off x="6858000" y="2286000"/>
            <a:ext cx="3657600" cy="3657600"/>
          </a:xfrm>
          <a:prstGeom prst="ellipse">
            <a:avLst/>
          </a:prstGeom>
          <a:solidFill>
            <a:srgbClr val="00C8FF">
              <a:alpha val="13000"/>
            </a:srgbClr>
          </a:solidFill>
          <a:ln w="12700">
            <a:solidFill>
              <a:srgbClr val="00C8FF">
                <a:alpha val="13000"/>
              </a:srgbClr>
            </a:solidFill>
            <a:prstDash val="solid"/>
          </a:ln>
        </p:spPr>
      </p:sp>
      <p:sp>
        <p:nvSpPr>
          <p:cNvPr id="4" name="Text 2"/>
          <p:cNvSpPr/>
          <p:nvPr/>
        </p:nvSpPr>
        <p:spPr>
          <a:xfrm>
            <a:off x="457200" y="822960"/>
            <a:ext cx="4572000" cy="822960"/>
          </a:xfrm>
          <a:prstGeom prst="rect">
            <a:avLst/>
          </a:prstGeom>
          <a:noFill/>
          <a:ln/>
        </p:spPr>
        <p:txBody>
          <a:bodyPr wrap="square" lIns="0" tIns="0" rIns="0" bIns="0" rtlCol="0" anchor="ctr"/>
          <a:lstStyle/>
          <a:p>
            <a:pPr indent="0" marL="0">
              <a:buNone/>
            </a:pPr>
            <a:r>
              <a:rPr lang="en-US" sz="6200" b="1" dirty="0">
                <a:solidFill>
                  <a:srgbClr val="00C8FF"/>
                </a:solidFill>
                <a:latin typeface="Arial" pitchFamily="34" charset="0"/>
                <a:ea typeface="Arial" pitchFamily="34" charset="-122"/>
                <a:cs typeface="Arial" pitchFamily="34" charset="-120"/>
              </a:rPr>
              <a:t>THANK</a:t>
            </a:r>
            <a:endParaRPr lang="en-US" sz="6200" dirty="0"/>
          </a:p>
        </p:txBody>
      </p:sp>
      <p:sp>
        <p:nvSpPr>
          <p:cNvPr id="5" name="Text 3"/>
          <p:cNvSpPr/>
          <p:nvPr/>
        </p:nvSpPr>
        <p:spPr>
          <a:xfrm>
            <a:off x="457200" y="1572768"/>
            <a:ext cx="4572000" cy="822960"/>
          </a:xfrm>
          <a:prstGeom prst="rect">
            <a:avLst/>
          </a:prstGeom>
          <a:noFill/>
          <a:ln/>
        </p:spPr>
        <p:txBody>
          <a:bodyPr wrap="square" lIns="0" tIns="0" rIns="0" bIns="0" rtlCol="0" anchor="ctr"/>
          <a:lstStyle/>
          <a:p>
            <a:pPr indent="0" marL="0">
              <a:buNone/>
            </a:pPr>
            <a:r>
              <a:rPr lang="en-US" sz="6200" b="1" dirty="0">
                <a:solidFill>
                  <a:srgbClr val="FFFFFF"/>
                </a:solidFill>
                <a:latin typeface="Arial" pitchFamily="34" charset="0"/>
                <a:ea typeface="Arial" pitchFamily="34" charset="-122"/>
                <a:cs typeface="Arial" pitchFamily="34" charset="-120"/>
              </a:rPr>
              <a:t>YOU!</a:t>
            </a:r>
            <a:endParaRPr lang="en-US" sz="6200" dirty="0"/>
          </a:p>
        </p:txBody>
      </p:sp>
      <p:sp>
        <p:nvSpPr>
          <p:cNvPr id="6" name="Text 4"/>
          <p:cNvSpPr/>
          <p:nvPr/>
        </p:nvSpPr>
        <p:spPr>
          <a:xfrm>
            <a:off x="457200" y="2514600"/>
            <a:ext cx="4754880" cy="1188720"/>
          </a:xfrm>
          <a:prstGeom prst="rect">
            <a:avLst/>
          </a:prstGeom>
          <a:noFill/>
          <a:ln/>
        </p:spPr>
        <p:txBody>
          <a:bodyPr wrap="square" lIns="0" tIns="0" rIns="0" bIns="0" rtlCol="0" anchor="ctr"/>
          <a:lstStyle/>
          <a:p>
            <a:pPr indent="0" marL="0">
              <a:buNone/>
            </a:pPr>
            <a:r>
              <a:rPr lang="en-US" sz="1200" dirty="0">
                <a:solidFill>
                  <a:srgbClr val="C8E6FF"/>
                </a:solidFill>
                <a:latin typeface="Calibri" pitchFamily="34" charset="0"/>
                <a:ea typeface="Calibri" pitchFamily="34" charset="-122"/>
                <a:cs typeface="Calibri" pitchFamily="34" charset="-120"/>
              </a:rPr>
              <a:t>We appreciate your time and attention.</a:t>
            </a:r>
            <a:endParaRPr lang="en-US" sz="1200" dirty="0"/>
          </a:p>
          <a:p>
            <a:pPr indent="0" marL="0">
              <a:buNone/>
            </a:pPr>
            <a:r>
              <a:rPr lang="en-US" sz="1200" dirty="0">
                <a:solidFill>
                  <a:srgbClr val="C8E6FF"/>
                </a:solidFill>
                <a:latin typeface="Calibri" pitchFamily="34" charset="0"/>
                <a:ea typeface="Calibri" pitchFamily="34" charset="-122"/>
                <a:cs typeface="Calibri" pitchFamily="34" charset="-120"/>
              </a:rPr>
              <a:t>Thank you for evaluating our work on</a:t>
            </a:r>
            <a:endParaRPr lang="en-US" sz="1200" dirty="0"/>
          </a:p>
          <a:p>
            <a:pPr indent="0" marL="0">
              <a:buNone/>
            </a:pPr>
            <a:r>
              <a:rPr lang="en-US" sz="1200" dirty="0">
                <a:solidFill>
                  <a:srgbClr val="C8E6FF"/>
                </a:solidFill>
                <a:latin typeface="Calibri" pitchFamily="34" charset="0"/>
                <a:ea typeface="Calibri" pitchFamily="34" charset="-122"/>
                <a:cs typeface="Calibri" pitchFamily="34" charset="-120"/>
              </a:rPr>
              <a:t>Student Performance Prediction using</a:t>
            </a:r>
            <a:endParaRPr lang="en-US" sz="1200" dirty="0"/>
          </a:p>
          <a:p>
            <a:pPr indent="0" marL="0">
              <a:buNone/>
            </a:pPr>
            <a:r>
              <a:rPr lang="en-US" sz="1200" dirty="0">
                <a:solidFill>
                  <a:srgbClr val="C8E6FF"/>
                </a:solidFill>
                <a:latin typeface="Calibri" pitchFamily="34" charset="0"/>
                <a:ea typeface="Calibri" pitchFamily="34" charset="-122"/>
                <a:cs typeface="Calibri" pitchFamily="34" charset="-120"/>
              </a:rPr>
              <a:t>Machine Learning.</a:t>
            </a:r>
            <a:endParaRPr lang="en-US" sz="1200" dirty="0"/>
          </a:p>
        </p:txBody>
      </p:sp>
      <p:sp>
        <p:nvSpPr>
          <p:cNvPr id="7" name="Text 5"/>
          <p:cNvSpPr/>
          <p:nvPr/>
        </p:nvSpPr>
        <p:spPr>
          <a:xfrm>
            <a:off x="457200" y="3840480"/>
            <a:ext cx="5943600" cy="320040"/>
          </a:xfrm>
          <a:prstGeom prst="rect">
            <a:avLst/>
          </a:prstGeom>
          <a:noFill/>
          <a:ln/>
        </p:spPr>
        <p:txBody>
          <a:bodyPr wrap="square" lIns="0" tIns="0" rIns="0" bIns="0" rtlCol="0" anchor="ctr"/>
          <a:lstStyle/>
          <a:p>
            <a:pPr indent="0" marL="0">
              <a:buNone/>
            </a:pPr>
            <a:r>
              <a:rPr lang="en-US" sz="850" i="1" dirty="0">
                <a:solidFill>
                  <a:srgbClr val="00C8FF"/>
                </a:solidFill>
                <a:latin typeface="Calibri" pitchFamily="34" charset="0"/>
                <a:ea typeface="Calibri" pitchFamily="34" charset="-122"/>
                <a:cs typeface="Calibri" pitchFamily="34" charset="-120"/>
              </a:rPr>
              <a:t>Dataset: https://archive.ics.uci.edu/ml/datasets/student+performance</a:t>
            </a:r>
            <a:endParaRPr lang="en-US" sz="850" dirty="0"/>
          </a:p>
        </p:txBody>
      </p:sp>
      <p:sp>
        <p:nvSpPr>
          <p:cNvPr id="8" name="Shape 6"/>
          <p:cNvSpPr/>
          <p:nvPr/>
        </p:nvSpPr>
        <p:spPr>
          <a:xfrm>
            <a:off x="5303520" y="640080"/>
            <a:ext cx="3566160" cy="4297680"/>
          </a:xfrm>
          <a:prstGeom prst="roundRect">
            <a:avLst>
              <a:gd name="adj" fmla="val 2564"/>
            </a:avLst>
          </a:prstGeom>
          <a:solidFill>
            <a:srgbClr val="0D1B5E"/>
          </a:solidFill>
          <a:ln w="12700">
            <a:solidFill>
              <a:srgbClr val="7B2FFF"/>
            </a:solidFill>
            <a:prstDash val="solid"/>
          </a:ln>
          <a:effectLst>
            <a:outerShdw sx="100000" sy="100000" kx="0" ky="0" algn="bl" rotWithShape="0" blurRad="101600" dist="38100" dir="2700000">
              <a:srgbClr val="000000">
                <a:alpha val="35000"/>
              </a:srgbClr>
            </a:outerShdw>
          </a:effectLst>
        </p:spPr>
      </p:sp>
      <p:sp>
        <p:nvSpPr>
          <p:cNvPr id="9" name="Text 7"/>
          <p:cNvSpPr/>
          <p:nvPr/>
        </p:nvSpPr>
        <p:spPr>
          <a:xfrm>
            <a:off x="5440680" y="749808"/>
            <a:ext cx="3291840" cy="320040"/>
          </a:xfrm>
          <a:prstGeom prst="rect">
            <a:avLst/>
          </a:prstGeom>
          <a:noFill/>
          <a:ln/>
        </p:spPr>
        <p:txBody>
          <a:bodyPr wrap="square" lIns="0" tIns="0" rIns="0" bIns="0" rtlCol="0" anchor="ctr"/>
          <a:lstStyle/>
          <a:p>
            <a:pPr indent="0" marL="0">
              <a:buNone/>
            </a:pPr>
            <a:r>
              <a:rPr lang="en-US" sz="1100" b="1" dirty="0">
                <a:solidFill>
                  <a:srgbClr val="7B2FFF"/>
                </a:solidFill>
                <a:latin typeface="Arial" pitchFamily="34" charset="0"/>
                <a:ea typeface="Arial" pitchFamily="34" charset="-122"/>
                <a:cs typeface="Arial" pitchFamily="34" charset="-120"/>
              </a:rPr>
              <a:t>KEY LEARNINGS</a:t>
            </a:r>
            <a:endParaRPr lang="en-US" sz="1100" dirty="0"/>
          </a:p>
        </p:txBody>
      </p:sp>
      <p:sp>
        <p:nvSpPr>
          <p:cNvPr id="10" name="Shape 8"/>
          <p:cNvSpPr/>
          <p:nvPr/>
        </p:nvSpPr>
        <p:spPr>
          <a:xfrm>
            <a:off x="5440680" y="1170432"/>
            <a:ext cx="109728" cy="109728"/>
          </a:xfrm>
          <a:prstGeom prst="ellipse">
            <a:avLst/>
          </a:prstGeom>
          <a:solidFill>
            <a:srgbClr val="00C8FF"/>
          </a:solidFill>
          <a:ln w="12700">
            <a:solidFill>
              <a:srgbClr val="00C8FF"/>
            </a:solidFill>
            <a:prstDash val="solid"/>
          </a:ln>
        </p:spPr>
      </p:sp>
      <p:sp>
        <p:nvSpPr>
          <p:cNvPr id="11" name="Text 9"/>
          <p:cNvSpPr/>
          <p:nvPr/>
        </p:nvSpPr>
        <p:spPr>
          <a:xfrm>
            <a:off x="5605272" y="1115568"/>
            <a:ext cx="3154680" cy="228600"/>
          </a:xfrm>
          <a:prstGeom prst="rect">
            <a:avLst/>
          </a:prstGeom>
          <a:noFill/>
          <a:ln/>
        </p:spPr>
        <p:txBody>
          <a:bodyPr wrap="square" lIns="0" tIns="0" rIns="0" bIns="0" rtlCol="0" anchor="ctr"/>
          <a:lstStyle/>
          <a:p>
            <a:pPr indent="0" marL="0">
              <a:buNone/>
            </a:pPr>
            <a:r>
              <a:rPr lang="en-US" sz="850" dirty="0">
                <a:solidFill>
                  <a:srgbClr val="C8E6FF"/>
                </a:solidFill>
                <a:latin typeface="Calibri" pitchFamily="34" charset="0"/>
                <a:ea typeface="Calibri" pitchFamily="34" charset="-122"/>
                <a:cs typeface="Calibri" pitchFamily="34" charset="-120"/>
              </a:rPr>
              <a:t>Data Collection and Preprocessing</a:t>
            </a:r>
            <a:endParaRPr lang="en-US" sz="850" dirty="0"/>
          </a:p>
        </p:txBody>
      </p:sp>
      <p:sp>
        <p:nvSpPr>
          <p:cNvPr id="12" name="Shape 10"/>
          <p:cNvSpPr/>
          <p:nvPr/>
        </p:nvSpPr>
        <p:spPr>
          <a:xfrm>
            <a:off x="5440680" y="1463040"/>
            <a:ext cx="109728" cy="109728"/>
          </a:xfrm>
          <a:prstGeom prst="ellipse">
            <a:avLst/>
          </a:prstGeom>
          <a:solidFill>
            <a:srgbClr val="00C8FF"/>
          </a:solidFill>
          <a:ln w="12700">
            <a:solidFill>
              <a:srgbClr val="00C8FF"/>
            </a:solidFill>
            <a:prstDash val="solid"/>
          </a:ln>
        </p:spPr>
      </p:sp>
      <p:sp>
        <p:nvSpPr>
          <p:cNvPr id="13" name="Text 11"/>
          <p:cNvSpPr/>
          <p:nvPr/>
        </p:nvSpPr>
        <p:spPr>
          <a:xfrm>
            <a:off x="5605272" y="1408176"/>
            <a:ext cx="3154680" cy="228600"/>
          </a:xfrm>
          <a:prstGeom prst="rect">
            <a:avLst/>
          </a:prstGeom>
          <a:noFill/>
          <a:ln/>
        </p:spPr>
        <p:txBody>
          <a:bodyPr wrap="square" lIns="0" tIns="0" rIns="0" bIns="0" rtlCol="0" anchor="ctr"/>
          <a:lstStyle/>
          <a:p>
            <a:pPr indent="0" marL="0">
              <a:buNone/>
            </a:pPr>
            <a:r>
              <a:rPr lang="en-US" sz="850" dirty="0">
                <a:solidFill>
                  <a:srgbClr val="C8E6FF"/>
                </a:solidFill>
                <a:latin typeface="Calibri" pitchFamily="34" charset="0"/>
                <a:ea typeface="Calibri" pitchFamily="34" charset="-122"/>
                <a:cs typeface="Calibri" pitchFamily="34" charset="-120"/>
              </a:rPr>
              <a:t>Feature Engineering</a:t>
            </a:r>
            <a:endParaRPr lang="en-US" sz="850" dirty="0"/>
          </a:p>
        </p:txBody>
      </p:sp>
      <p:sp>
        <p:nvSpPr>
          <p:cNvPr id="14" name="Shape 12"/>
          <p:cNvSpPr/>
          <p:nvPr/>
        </p:nvSpPr>
        <p:spPr>
          <a:xfrm>
            <a:off x="5440680" y="1755648"/>
            <a:ext cx="109728" cy="109728"/>
          </a:xfrm>
          <a:prstGeom prst="ellipse">
            <a:avLst/>
          </a:prstGeom>
          <a:solidFill>
            <a:srgbClr val="00C8FF"/>
          </a:solidFill>
          <a:ln w="12700">
            <a:solidFill>
              <a:srgbClr val="00C8FF"/>
            </a:solidFill>
            <a:prstDash val="solid"/>
          </a:ln>
        </p:spPr>
      </p:sp>
      <p:sp>
        <p:nvSpPr>
          <p:cNvPr id="15" name="Text 13"/>
          <p:cNvSpPr/>
          <p:nvPr/>
        </p:nvSpPr>
        <p:spPr>
          <a:xfrm>
            <a:off x="5605272" y="1700784"/>
            <a:ext cx="3154680" cy="228600"/>
          </a:xfrm>
          <a:prstGeom prst="rect">
            <a:avLst/>
          </a:prstGeom>
          <a:noFill/>
          <a:ln/>
        </p:spPr>
        <p:txBody>
          <a:bodyPr wrap="square" lIns="0" tIns="0" rIns="0" bIns="0" rtlCol="0" anchor="ctr"/>
          <a:lstStyle/>
          <a:p>
            <a:pPr indent="0" marL="0">
              <a:buNone/>
            </a:pPr>
            <a:r>
              <a:rPr lang="en-US" sz="850" dirty="0">
                <a:solidFill>
                  <a:srgbClr val="C8E6FF"/>
                </a:solidFill>
                <a:latin typeface="Calibri" pitchFamily="34" charset="0"/>
                <a:ea typeface="Calibri" pitchFamily="34" charset="-122"/>
                <a:cs typeface="Calibri" pitchFamily="34" charset="-120"/>
              </a:rPr>
              <a:t>Correlation-Based Feature Selection</a:t>
            </a:r>
            <a:endParaRPr lang="en-US" sz="850" dirty="0"/>
          </a:p>
        </p:txBody>
      </p:sp>
      <p:sp>
        <p:nvSpPr>
          <p:cNvPr id="16" name="Shape 14"/>
          <p:cNvSpPr/>
          <p:nvPr/>
        </p:nvSpPr>
        <p:spPr>
          <a:xfrm>
            <a:off x="5440680" y="2048256"/>
            <a:ext cx="109728" cy="109728"/>
          </a:xfrm>
          <a:prstGeom prst="ellipse">
            <a:avLst/>
          </a:prstGeom>
          <a:solidFill>
            <a:srgbClr val="00C8FF"/>
          </a:solidFill>
          <a:ln w="12700">
            <a:solidFill>
              <a:srgbClr val="00C8FF"/>
            </a:solidFill>
            <a:prstDash val="solid"/>
          </a:ln>
        </p:spPr>
      </p:sp>
      <p:sp>
        <p:nvSpPr>
          <p:cNvPr id="17" name="Text 15"/>
          <p:cNvSpPr/>
          <p:nvPr/>
        </p:nvSpPr>
        <p:spPr>
          <a:xfrm>
            <a:off x="5605272" y="1993392"/>
            <a:ext cx="3154680" cy="228600"/>
          </a:xfrm>
          <a:prstGeom prst="rect">
            <a:avLst/>
          </a:prstGeom>
          <a:noFill/>
          <a:ln/>
        </p:spPr>
        <p:txBody>
          <a:bodyPr wrap="square" lIns="0" tIns="0" rIns="0" bIns="0" rtlCol="0" anchor="ctr"/>
          <a:lstStyle/>
          <a:p>
            <a:pPr indent="0" marL="0">
              <a:buNone/>
            </a:pPr>
            <a:r>
              <a:rPr lang="en-US" sz="850" dirty="0">
                <a:solidFill>
                  <a:srgbClr val="C8E6FF"/>
                </a:solidFill>
                <a:latin typeface="Calibri" pitchFamily="34" charset="0"/>
                <a:ea typeface="Calibri" pitchFamily="34" charset="-122"/>
                <a:cs typeface="Calibri" pitchFamily="34" charset="-120"/>
              </a:rPr>
              <a:t>Hypothesis Testing using ANOVA</a:t>
            </a:r>
            <a:endParaRPr lang="en-US" sz="850" dirty="0"/>
          </a:p>
        </p:txBody>
      </p:sp>
      <p:sp>
        <p:nvSpPr>
          <p:cNvPr id="18" name="Shape 16"/>
          <p:cNvSpPr/>
          <p:nvPr/>
        </p:nvSpPr>
        <p:spPr>
          <a:xfrm>
            <a:off x="5440680" y="2340864"/>
            <a:ext cx="109728" cy="109728"/>
          </a:xfrm>
          <a:prstGeom prst="ellipse">
            <a:avLst/>
          </a:prstGeom>
          <a:solidFill>
            <a:srgbClr val="00C8FF"/>
          </a:solidFill>
          <a:ln w="12700">
            <a:solidFill>
              <a:srgbClr val="00C8FF"/>
            </a:solidFill>
            <a:prstDash val="solid"/>
          </a:ln>
        </p:spPr>
      </p:sp>
      <p:sp>
        <p:nvSpPr>
          <p:cNvPr id="19" name="Text 17"/>
          <p:cNvSpPr/>
          <p:nvPr/>
        </p:nvSpPr>
        <p:spPr>
          <a:xfrm>
            <a:off x="5605272" y="2286000"/>
            <a:ext cx="3154680" cy="228600"/>
          </a:xfrm>
          <a:prstGeom prst="rect">
            <a:avLst/>
          </a:prstGeom>
          <a:noFill/>
          <a:ln/>
        </p:spPr>
        <p:txBody>
          <a:bodyPr wrap="square" lIns="0" tIns="0" rIns="0" bIns="0" rtlCol="0" anchor="ctr"/>
          <a:lstStyle/>
          <a:p>
            <a:pPr indent="0" marL="0">
              <a:buNone/>
            </a:pPr>
            <a:r>
              <a:rPr lang="en-US" sz="850" dirty="0">
                <a:solidFill>
                  <a:srgbClr val="C8E6FF"/>
                </a:solidFill>
                <a:latin typeface="Calibri" pitchFamily="34" charset="0"/>
                <a:ea typeface="Calibri" pitchFamily="34" charset="-122"/>
                <a:cs typeface="Calibri" pitchFamily="34" charset="-120"/>
              </a:rPr>
              <a:t>Principal Component Analysis (PCA)</a:t>
            </a:r>
            <a:endParaRPr lang="en-US" sz="850" dirty="0"/>
          </a:p>
        </p:txBody>
      </p:sp>
      <p:sp>
        <p:nvSpPr>
          <p:cNvPr id="20" name="Shape 18"/>
          <p:cNvSpPr/>
          <p:nvPr/>
        </p:nvSpPr>
        <p:spPr>
          <a:xfrm>
            <a:off x="5440680" y="2633472"/>
            <a:ext cx="109728" cy="109728"/>
          </a:xfrm>
          <a:prstGeom prst="ellipse">
            <a:avLst/>
          </a:prstGeom>
          <a:solidFill>
            <a:srgbClr val="00C8FF"/>
          </a:solidFill>
          <a:ln w="12700">
            <a:solidFill>
              <a:srgbClr val="00C8FF"/>
            </a:solidFill>
            <a:prstDash val="solid"/>
          </a:ln>
        </p:spPr>
      </p:sp>
      <p:sp>
        <p:nvSpPr>
          <p:cNvPr id="21" name="Text 19"/>
          <p:cNvSpPr/>
          <p:nvPr/>
        </p:nvSpPr>
        <p:spPr>
          <a:xfrm>
            <a:off x="5605272" y="2578608"/>
            <a:ext cx="3154680" cy="228600"/>
          </a:xfrm>
          <a:prstGeom prst="rect">
            <a:avLst/>
          </a:prstGeom>
          <a:noFill/>
          <a:ln/>
        </p:spPr>
        <p:txBody>
          <a:bodyPr wrap="square" lIns="0" tIns="0" rIns="0" bIns="0" rtlCol="0" anchor="ctr"/>
          <a:lstStyle/>
          <a:p>
            <a:pPr indent="0" marL="0">
              <a:buNone/>
            </a:pPr>
            <a:r>
              <a:rPr lang="en-US" sz="850" dirty="0">
                <a:solidFill>
                  <a:srgbClr val="C8E6FF"/>
                </a:solidFill>
                <a:latin typeface="Calibri" pitchFamily="34" charset="0"/>
                <a:ea typeface="Calibri" pitchFamily="34" charset="-122"/>
                <a:cs typeface="Calibri" pitchFamily="34" charset="-120"/>
              </a:rPr>
              <a:t>Logistic Regression Classification</a:t>
            </a:r>
            <a:endParaRPr lang="en-US" sz="850" dirty="0"/>
          </a:p>
        </p:txBody>
      </p:sp>
      <p:sp>
        <p:nvSpPr>
          <p:cNvPr id="22" name="Shape 20"/>
          <p:cNvSpPr/>
          <p:nvPr/>
        </p:nvSpPr>
        <p:spPr>
          <a:xfrm>
            <a:off x="5440680" y="2926080"/>
            <a:ext cx="109728" cy="109728"/>
          </a:xfrm>
          <a:prstGeom prst="ellipse">
            <a:avLst/>
          </a:prstGeom>
          <a:solidFill>
            <a:srgbClr val="00C8FF"/>
          </a:solidFill>
          <a:ln w="12700">
            <a:solidFill>
              <a:srgbClr val="00C8FF"/>
            </a:solidFill>
            <a:prstDash val="solid"/>
          </a:ln>
        </p:spPr>
      </p:sp>
      <p:sp>
        <p:nvSpPr>
          <p:cNvPr id="23" name="Text 21"/>
          <p:cNvSpPr/>
          <p:nvPr/>
        </p:nvSpPr>
        <p:spPr>
          <a:xfrm>
            <a:off x="5605272" y="2871216"/>
            <a:ext cx="3154680" cy="228600"/>
          </a:xfrm>
          <a:prstGeom prst="rect">
            <a:avLst/>
          </a:prstGeom>
          <a:noFill/>
          <a:ln/>
        </p:spPr>
        <p:txBody>
          <a:bodyPr wrap="square" lIns="0" tIns="0" rIns="0" bIns="0" rtlCol="0" anchor="ctr"/>
          <a:lstStyle/>
          <a:p>
            <a:pPr indent="0" marL="0">
              <a:buNone/>
            </a:pPr>
            <a:r>
              <a:rPr lang="en-US" sz="850" dirty="0">
                <a:solidFill>
                  <a:srgbClr val="C8E6FF"/>
                </a:solidFill>
                <a:latin typeface="Calibri" pitchFamily="34" charset="0"/>
                <a:ea typeface="Calibri" pitchFamily="34" charset="-122"/>
                <a:cs typeface="Calibri" pitchFamily="34" charset="-120"/>
              </a:rPr>
              <a:t>Confusion Matrix Interpretation</a:t>
            </a:r>
            <a:endParaRPr lang="en-US" sz="850" dirty="0"/>
          </a:p>
        </p:txBody>
      </p:sp>
      <p:sp>
        <p:nvSpPr>
          <p:cNvPr id="24" name="Shape 22"/>
          <p:cNvSpPr/>
          <p:nvPr/>
        </p:nvSpPr>
        <p:spPr>
          <a:xfrm>
            <a:off x="5440680" y="3218688"/>
            <a:ext cx="109728" cy="109728"/>
          </a:xfrm>
          <a:prstGeom prst="ellipse">
            <a:avLst/>
          </a:prstGeom>
          <a:solidFill>
            <a:srgbClr val="00C8FF"/>
          </a:solidFill>
          <a:ln w="12700">
            <a:solidFill>
              <a:srgbClr val="00C8FF"/>
            </a:solidFill>
            <a:prstDash val="solid"/>
          </a:ln>
        </p:spPr>
      </p:sp>
      <p:sp>
        <p:nvSpPr>
          <p:cNvPr id="25" name="Text 23"/>
          <p:cNvSpPr/>
          <p:nvPr/>
        </p:nvSpPr>
        <p:spPr>
          <a:xfrm>
            <a:off x="5605272" y="3163824"/>
            <a:ext cx="3154680" cy="228600"/>
          </a:xfrm>
          <a:prstGeom prst="rect">
            <a:avLst/>
          </a:prstGeom>
          <a:noFill/>
          <a:ln/>
        </p:spPr>
        <p:txBody>
          <a:bodyPr wrap="square" lIns="0" tIns="0" rIns="0" bIns="0" rtlCol="0" anchor="ctr"/>
          <a:lstStyle/>
          <a:p>
            <a:pPr indent="0" marL="0">
              <a:buNone/>
            </a:pPr>
            <a:r>
              <a:rPr lang="en-US" sz="850" dirty="0">
                <a:solidFill>
                  <a:srgbClr val="C8E6FF"/>
                </a:solidFill>
                <a:latin typeface="Calibri" pitchFamily="34" charset="0"/>
                <a:ea typeface="Calibri" pitchFamily="34" charset="-122"/>
                <a:cs typeface="Calibri" pitchFamily="34" charset="-120"/>
              </a:rPr>
              <a:t>Model Evaluation Metrics</a:t>
            </a:r>
            <a:endParaRPr lang="en-US" sz="850" dirty="0"/>
          </a:p>
        </p:txBody>
      </p:sp>
      <p:sp>
        <p:nvSpPr>
          <p:cNvPr id="26" name="Shape 24"/>
          <p:cNvSpPr/>
          <p:nvPr/>
        </p:nvSpPr>
        <p:spPr>
          <a:xfrm>
            <a:off x="5440680" y="3511296"/>
            <a:ext cx="109728" cy="109728"/>
          </a:xfrm>
          <a:prstGeom prst="ellipse">
            <a:avLst/>
          </a:prstGeom>
          <a:solidFill>
            <a:srgbClr val="00C8FF"/>
          </a:solidFill>
          <a:ln w="12700">
            <a:solidFill>
              <a:srgbClr val="00C8FF"/>
            </a:solidFill>
            <a:prstDash val="solid"/>
          </a:ln>
        </p:spPr>
      </p:sp>
      <p:sp>
        <p:nvSpPr>
          <p:cNvPr id="27" name="Text 25"/>
          <p:cNvSpPr/>
          <p:nvPr/>
        </p:nvSpPr>
        <p:spPr>
          <a:xfrm>
            <a:off x="5605272" y="3456432"/>
            <a:ext cx="3154680" cy="228600"/>
          </a:xfrm>
          <a:prstGeom prst="rect">
            <a:avLst/>
          </a:prstGeom>
          <a:noFill/>
          <a:ln/>
        </p:spPr>
        <p:txBody>
          <a:bodyPr wrap="square" lIns="0" tIns="0" rIns="0" bIns="0" rtlCol="0" anchor="ctr"/>
          <a:lstStyle/>
          <a:p>
            <a:pPr indent="0" marL="0">
              <a:buNone/>
            </a:pPr>
            <a:r>
              <a:rPr lang="en-US" sz="850" dirty="0">
                <a:solidFill>
                  <a:srgbClr val="C8E6FF"/>
                </a:solidFill>
                <a:latin typeface="Calibri" pitchFamily="34" charset="0"/>
                <a:ea typeface="Calibri" pitchFamily="34" charset="-122"/>
                <a:cs typeface="Calibri" pitchFamily="34" charset="-120"/>
              </a:rPr>
              <a:t>Data Visualization Techniques</a:t>
            </a:r>
            <a:endParaRPr lang="en-US" sz="850" dirty="0"/>
          </a:p>
        </p:txBody>
      </p:sp>
      <p:sp>
        <p:nvSpPr>
          <p:cNvPr id="28" name="Shape 26"/>
          <p:cNvSpPr/>
          <p:nvPr/>
        </p:nvSpPr>
        <p:spPr>
          <a:xfrm>
            <a:off x="5440680" y="3803904"/>
            <a:ext cx="109728" cy="109728"/>
          </a:xfrm>
          <a:prstGeom prst="ellipse">
            <a:avLst/>
          </a:prstGeom>
          <a:solidFill>
            <a:srgbClr val="00C8FF"/>
          </a:solidFill>
          <a:ln w="12700">
            <a:solidFill>
              <a:srgbClr val="00C8FF"/>
            </a:solidFill>
            <a:prstDash val="solid"/>
          </a:ln>
        </p:spPr>
      </p:sp>
      <p:sp>
        <p:nvSpPr>
          <p:cNvPr id="29" name="Text 27"/>
          <p:cNvSpPr/>
          <p:nvPr/>
        </p:nvSpPr>
        <p:spPr>
          <a:xfrm>
            <a:off x="5605272" y="3749040"/>
            <a:ext cx="3154680" cy="228600"/>
          </a:xfrm>
          <a:prstGeom prst="rect">
            <a:avLst/>
          </a:prstGeom>
          <a:noFill/>
          <a:ln/>
        </p:spPr>
        <p:txBody>
          <a:bodyPr wrap="square" lIns="0" tIns="0" rIns="0" bIns="0" rtlCol="0" anchor="ctr"/>
          <a:lstStyle/>
          <a:p>
            <a:pPr indent="0" marL="0">
              <a:buNone/>
            </a:pPr>
            <a:r>
              <a:rPr lang="en-US" sz="850" dirty="0">
                <a:solidFill>
                  <a:srgbClr val="C8E6FF"/>
                </a:solidFill>
                <a:latin typeface="Calibri" pitchFamily="34" charset="0"/>
                <a:ea typeface="Calibri" pitchFamily="34" charset="-122"/>
                <a:cs typeface="Calibri" pitchFamily="34" charset="-120"/>
              </a:rPr>
              <a:t>End-to-End ML Pipeline for Student Performance</a:t>
            </a:r>
            <a:endParaRPr lang="en-US" sz="850" dirty="0"/>
          </a:p>
        </p:txBody>
      </p:sp>
      <p:sp>
        <p:nvSpPr>
          <p:cNvPr id="30" name="Text 28"/>
          <p:cNvSpPr/>
          <p:nvPr/>
        </p:nvSpPr>
        <p:spPr>
          <a:xfrm>
            <a:off x="457200" y="4251960"/>
            <a:ext cx="4754880" cy="640080"/>
          </a:xfrm>
          <a:prstGeom prst="rect">
            <a:avLst/>
          </a:prstGeom>
          <a:noFill/>
          <a:ln/>
        </p:spPr>
        <p:txBody>
          <a:bodyPr wrap="square" lIns="0" tIns="0" rIns="0" bIns="0" rtlCol="0" anchor="ctr"/>
          <a:lstStyle/>
          <a:p>
            <a:pPr indent="0" marL="0">
              <a:buNone/>
            </a:pPr>
            <a:r>
              <a:rPr lang="en-US" sz="850" i="1" dirty="0">
                <a:solidFill>
                  <a:srgbClr val="C8E6FF"/>
                </a:solidFill>
                <a:latin typeface="Calibri" pitchFamily="34" charset="0"/>
                <a:ea typeface="Calibri" pitchFamily="34" charset="-122"/>
                <a:cs typeface="Calibri" pitchFamily="34" charset="-120"/>
              </a:rPr>
              <a:t>This project demonstrates the effectiveness of machine learning techniques in accurately predicting student performance, contributing to better educational interventions.</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 Performance Prediction</dc:title>
  <dc:subject>PptxGenJS Presentation</dc:subject>
  <dc:creator>Data Science Project</dc:creator>
  <cp:lastModifiedBy>Data Science Project</cp:lastModifiedBy>
  <cp:revision>1</cp:revision>
  <dcterms:created xsi:type="dcterms:W3CDTF">2026-06-12T01:26:51Z</dcterms:created>
  <dcterms:modified xsi:type="dcterms:W3CDTF">2026-06-12T01:26:51Z</dcterms:modified>
</cp:coreProperties>
</file>